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Tests</c:v>
                </c:pt>
              </c:strCache>
            </c:strRef>
          </c:tx>
          <c:spPr>
            <a:solidFill>
              <a:schemeClr val="accent1"/>
            </a:solidFill>
            <a:ln w="9525" cap="flat">
              <a:solidFill>
                <a:srgbClr val="F9F9F9"/>
              </a:solidFill>
              <a:prstDash val="solid"/>
              <a:round/>
            </a:ln>
            <a:effectLst/>
          </c:spPr>
          <c:dPt>
            <c:idx val="0"/>
            <c:bubble3D val="0"/>
            <c:spPr>
              <a:solidFill>
                <a:srgbClr val="D4A937"/>
              </a:solidFill>
              <a:effectLst/>
            </c:spPr>
          </c:dPt>
          <c:dPt>
            <c:idx val="1"/>
            <c:bubble3D val="0"/>
            <c:spPr>
              <a:solidFill>
                <a:srgbClr val="C2683A"/>
              </a:solidFill>
              <a:effectLst/>
            </c:spPr>
          </c:dPt>
          <c:dLbls>
            <c:dLbl>
              <c:idx val="0"/>
              <c:numFmt formatCode="General" sourceLinked="0"/>
              <c:spPr/>
              <c:txPr>
                <a:bodyPr/>
                <a:lstStyle/>
                <a:p>
                  <a:pPr>
                    <a:defRPr sz="1300" b="1" i="0" u="none" strike="noStrike">
                      <a:solidFill>
                        <a:srgbClr val="071310"/>
                      </a:solidFill>
                      <a:latin typeface="Arial"/>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071310"/>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Booking rules</c:v>
                </c:pt>
                <c:pt idx="1">
                  <c:v>Whole API</c:v>
                </c:pt>
              </c:strCache>
            </c:strRef>
          </c:cat>
          <c:val>
            <c:numRef>
              <c:f>Sheet1!$B$2:$B$3</c:f>
              <c:numCache>
                <c:ptCount val="2"/>
                <c:pt idx="0">
                  <c:v>35</c:v>
                </c:pt>
                <c:pt idx="1">
                  <c:v>30</c:v>
                </c:pt>
              </c:numCache>
            </c:numRef>
          </c:val>
        </c:ser>
        <c:firstSliceAng val="0"/>
        <c:holeSize val="52"/>
      </c:doughnutChart>
      <c:spPr>
        <a:noFill/>
        <a:ln>
          <a:noFill/>
        </a:ln>
        <a:effectLst/>
      </c:spPr>
    </c:plotArea>
    <c:legend>
      <c:legendPos val="b"/>
      <c:overlay val="0"/>
      <c:txPr>
        <a:bodyPr/>
        <a:lstStyle/>
        <a:p>
          <a:pPr>
            <a:defRPr sz="1100">
              <a:solidFill>
                <a:srgbClr val="F5F0E6"/>
              </a:solidFill>
            </a:defRPr>
          </a:pPr>
          <a:endParaRPr lang="en-US"/>
        </a:p>
      </c:txPr>
    </c:legend>
    <c:plotVisOnly val="1"/>
    <c:dispBlanksAs val="span"/>
  </c:chart>
  <c:spPr>
    <a:solidFill>
      <a:srgbClr val="07131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Do not read the slide.
Something like: "I built a table booking system for independent restaurants. I want to spend most of the time showing it working rather than talking about it, so I will do about ten minutes of context and then demo."
Say it in your own words. If you memorise this you will sound like you are reciting.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The honest version: I picked it because the availability problem looked interesting, not because I like restaurants. That is a fine thing to say — it shows you chose for the engineering.
Reason 1 is the one to lean on. It sets up the slide about conflict detection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This is the slide that answers "what is it?"
Assume the person opposite has never seen the app. Walk the four boxes left to right as a story: "I say Friday at half seven for four people, it checks every table in every restaurant, and it only shows me the places that can actually seat four."
The bottom card is the one-sentence pitch. If you only get one idea across in the whole talk, make it this one: other sites tell you a place exists, this one tells you whether you can sit down.
The Spanish detail is a small thing but it shows the name was a choice, not a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The bottom card is the most useful thing on this slide. Admitting the first version was wrong is stronger than pretending you designed it perfectly — it shows you understood WHY it was wrong.
You will demonstrate this live later, so plant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Go down the boxes once, then explain the right-hand card. The layering is not for its own sake — it is what made the booking rules testable.
If asked: yes, one Express process serves both the API and the built React app. npm start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This is your best slide — take your time.
Each of these is a real mistake you fixed, framed as a question. That is much more convincing than presenting the final answer as if it were obvious.
Question 3 sets up the concurrency test in the demo. Say "I will show you a test for this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The right-hand card is worth saying out loud — a lot of student projects hide a button and call it access control.
Likely question: "what is in the JWT?" Answer: the user id and their role, plus issued and expiry times. Nothing secret, because anyone holding it can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Be straightforward about the Django point. Do not be smug about it — just explain the reasoning and that you documented it.
If they say you should have used Python: fair, but the same brief also says Node.js, so the two requirements conflict.
Mentioning the week 7 lab code twice on this deck is deliberate — it shows what you learned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AROUND 12 MINUTES. THIS IS 75% OF THE MARK.
BEFORE THE SESSION:
  - npm run db:seed so the dashboard has fresh data
  - npm start, check localhost:4000 loads
  - Have both manager logins open in separate windows
  - Have a terminal ready for npm test
Step 5 is the security point from earlier — do it slowly and narrate it.
Step 6 is the strongest moment. Say plainly: "these two requests go at the same time, and only one of them gets the table. That is the transaction working, not luck."
If the 3D plan is slow on the projector, turn on Reduce Motion in System Settings and it falls back to a flat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The number is not the point — say that. The point is that the booking rules are separated out from the database and the web server, which is what makes them testable at all.
If asked what you would add: tests for the React side. I did not write any, and I should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Do not skip this slide.
Volunteering your own gaps is the single easiest way to sound like you understand your own project. It also takes the sting out of the obvious questions, because you asked them first.
Deliver it matter-of-factly, not apologetically. These are scoping decisions, not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then questions.
PUT YOUR REAL GITHUB LINK ON THIS SLIDE BEFORE YOU PRESENT.
Questions you should expect:
  - Why SQLite? (runs anywhere, no server to install, schema moves to Postgres unchanged)
  - Why not Django? (Django is Python, the brief also says Node — they conflict)
  - How does the concurrency test work? (two requests fired together, one 201, one 409)
  - Why 404 and not 403? (403 confirms the record exists)
  - What would you do next? (deploy it, and write front-end tests)
If you do not know an answer, say so and say how you would find out. That is a better answer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0907"/>
        </a:solidFill>
      </p:bgPr>
    </p:bg>
    <p:spTree>
      <p:nvGrpSpPr>
        <p:cNvPr id="1" name=""/>
        <p:cNvGrpSpPr/>
        <p:nvPr/>
      </p:nvGrpSpPr>
      <p:grpSpPr>
        <a:xfrm>
          <a:off x="0" y="0"/>
          <a:ext cx="0" cy="0"/>
          <a:chOff x="0" y="0"/>
          <a:chExt cx="0" cy="0"/>
        </a:xfrm>
      </p:grpSpPr>
      <p:sp>
        <p:nvSpPr>
          <p:cNvPr id="2" name="Text 0"/>
          <p:cNvSpPr/>
          <p:nvPr/>
        </p:nvSpPr>
        <p:spPr>
          <a:xfrm>
            <a:off x="822960" y="1920240"/>
            <a:ext cx="7315200" cy="1280160"/>
          </a:xfrm>
          <a:prstGeom prst="rect">
            <a:avLst/>
          </a:prstGeom>
          <a:noFill/>
          <a:ln/>
        </p:spPr>
        <p:txBody>
          <a:bodyPr wrap="square" lIns="0" tIns="0" rIns="0" bIns="0" rtlCol="0" anchor="ctr"/>
          <a:lstStyle/>
          <a:p>
            <a:pPr indent="0" marL="0">
              <a:buNone/>
            </a:pPr>
            <a:r>
              <a:rPr lang="en-US" sz="8200" b="1" dirty="0">
                <a:solidFill>
                  <a:srgbClr val="D4A937"/>
                </a:solidFill>
                <a:latin typeface="Cambria" pitchFamily="34" charset="0"/>
                <a:ea typeface="Cambria" pitchFamily="34" charset="-122"/>
                <a:cs typeface="Cambria" pitchFamily="34" charset="-120"/>
              </a:rPr>
              <a:t>Mesa</a:t>
            </a:r>
            <a:endParaRPr lang="en-US" sz="8200" dirty="0"/>
          </a:p>
        </p:txBody>
      </p:sp>
      <p:sp>
        <p:nvSpPr>
          <p:cNvPr id="3" name="Text 1"/>
          <p:cNvSpPr/>
          <p:nvPr/>
        </p:nvSpPr>
        <p:spPr>
          <a:xfrm>
            <a:off x="868680" y="3200400"/>
            <a:ext cx="8229600" cy="457200"/>
          </a:xfrm>
          <a:prstGeom prst="rect">
            <a:avLst/>
          </a:prstGeom>
          <a:noFill/>
          <a:ln/>
        </p:spPr>
        <p:txBody>
          <a:bodyPr wrap="square" lIns="0" tIns="0" rIns="0" bIns="0" rtlCol="0" anchor="ctr"/>
          <a:lstStyle/>
          <a:p>
            <a:pPr indent="0" marL="0">
              <a:buNone/>
            </a:pPr>
            <a:r>
              <a:rPr lang="en-US" sz="1900" dirty="0">
                <a:solidFill>
                  <a:srgbClr val="F5F0E6"/>
                </a:solidFill>
                <a:latin typeface="Calibri" pitchFamily="34" charset="0"/>
                <a:ea typeface="Calibri" pitchFamily="34" charset="-122"/>
                <a:cs typeface="Calibri" pitchFamily="34" charset="-120"/>
              </a:rPr>
              <a:t>A table booking system for independent restaurants</a:t>
            </a:r>
            <a:endParaRPr lang="en-US" sz="1900" dirty="0"/>
          </a:p>
        </p:txBody>
      </p:sp>
      <p:sp>
        <p:nvSpPr>
          <p:cNvPr id="4" name="Shape 2"/>
          <p:cNvSpPr/>
          <p:nvPr/>
        </p:nvSpPr>
        <p:spPr>
          <a:xfrm>
            <a:off x="868680" y="4114800"/>
            <a:ext cx="2743200" cy="0"/>
          </a:xfrm>
          <a:prstGeom prst="line">
            <a:avLst/>
          </a:prstGeom>
          <a:noFill/>
          <a:ln w="25400">
            <a:solidFill>
              <a:srgbClr val="D4A937"/>
            </a:solidFill>
            <a:prstDash val="solid"/>
          </a:ln>
        </p:spPr>
      </p:sp>
      <p:sp>
        <p:nvSpPr>
          <p:cNvPr id="5" name="Text 3"/>
          <p:cNvSpPr/>
          <p:nvPr/>
        </p:nvSpPr>
        <p:spPr>
          <a:xfrm>
            <a:off x="868680" y="4389120"/>
            <a:ext cx="7315200" cy="1005840"/>
          </a:xfrm>
          <a:prstGeom prst="rect">
            <a:avLst/>
          </a:prstGeom>
          <a:noFill/>
          <a:ln/>
        </p:spPr>
        <p:txBody>
          <a:bodyPr wrap="square" lIns="0" tIns="0" rIns="0" bIns="0" rtlCol="0" anchor="ctr"/>
          <a:lstStyle/>
          <a:p>
            <a:pPr indent="0" marL="0">
              <a:lnSpc>
                <a:spcPts val="2200"/>
              </a:lnSpc>
              <a:buNone/>
            </a:pPr>
            <a:r>
              <a:rPr lang="en-US" sz="1400" b="1" dirty="0">
                <a:solidFill>
                  <a:srgbClr val="F5F0E6"/>
                </a:solidFill>
                <a:latin typeface="Calibri" pitchFamily="34" charset="0"/>
                <a:ea typeface="Calibri" pitchFamily="34" charset="-122"/>
                <a:cs typeface="Calibri" pitchFamily="34" charset="-120"/>
              </a:rPr>
              <a:t>Asan Limbu</a:t>
            </a:r>
            <a:endParaRPr lang="en-US" sz="1400" dirty="0"/>
          </a:p>
          <a:p>
            <a:pPr indent="0" marL="0">
              <a:lnSpc>
                <a:spcPts val="2200"/>
              </a:lnSpc>
              <a:buNone/>
            </a:pPr>
            <a:r>
              <a:rPr lang="en-US" sz="1400" dirty="0">
                <a:solidFill>
                  <a:srgbClr val="F5F0E6"/>
                </a:solidFill>
                <a:latin typeface="Calibri" pitchFamily="34" charset="0"/>
                <a:ea typeface="Calibri" pitchFamily="34" charset="-122"/>
                <a:cs typeface="Calibri" pitchFamily="34" charset="-120"/>
              </a:rPr>
              <a:t>CMS22204 Full Stack Application Development</a:t>
            </a:r>
            <a:endParaRPr lang="en-US" sz="1400" dirty="0"/>
          </a:p>
          <a:p>
            <a:pPr indent="0" marL="0">
              <a:lnSpc>
                <a:spcPts val="2200"/>
              </a:lnSpc>
              <a:buNone/>
            </a:pPr>
            <a:r>
              <a:rPr lang="en-US" sz="1400" dirty="0">
                <a:solidFill>
                  <a:srgbClr val="F5F0E6"/>
                </a:solidFill>
                <a:latin typeface="Calibri" pitchFamily="34" charset="0"/>
                <a:ea typeface="Calibri" pitchFamily="34" charset="-122"/>
                <a:cs typeface="Calibri" pitchFamily="34" charset="-120"/>
              </a:rPr>
              <a:t>Level 5 · Ravensbourne University London</a:t>
            </a:r>
            <a:endParaRPr lang="en-US" sz="1400" dirty="0"/>
          </a:p>
        </p:txBody>
      </p:sp>
      <p:sp>
        <p:nvSpPr>
          <p:cNvPr id="6" name="Shape 4"/>
          <p:cNvSpPr/>
          <p:nvPr/>
        </p:nvSpPr>
        <p:spPr>
          <a:xfrm>
            <a:off x="9509760" y="1463040"/>
            <a:ext cx="777240" cy="777240"/>
          </a:xfrm>
          <a:prstGeom prst="roundRect">
            <a:avLst>
              <a:gd name="adj" fmla="val 14118"/>
            </a:avLst>
          </a:prstGeom>
          <a:solidFill>
            <a:srgbClr val="102B23"/>
          </a:solidFill>
          <a:ln w="19050">
            <a:solidFill>
              <a:srgbClr val="62796E"/>
            </a:solidFill>
            <a:prstDash val="solid"/>
          </a:ln>
        </p:spPr>
      </p:sp>
      <p:sp>
        <p:nvSpPr>
          <p:cNvPr id="7" name="Shape 5"/>
          <p:cNvSpPr/>
          <p:nvPr/>
        </p:nvSpPr>
        <p:spPr>
          <a:xfrm>
            <a:off x="10515600" y="1463040"/>
            <a:ext cx="777240" cy="777240"/>
          </a:xfrm>
          <a:prstGeom prst="roundRect">
            <a:avLst>
              <a:gd name="adj" fmla="val 14118"/>
            </a:avLst>
          </a:prstGeom>
          <a:solidFill>
            <a:srgbClr val="102B23"/>
          </a:solidFill>
          <a:ln w="19050">
            <a:solidFill>
              <a:srgbClr val="62796E"/>
            </a:solidFill>
            <a:prstDash val="solid"/>
          </a:ln>
        </p:spPr>
      </p:sp>
      <p:sp>
        <p:nvSpPr>
          <p:cNvPr id="8" name="Shape 6"/>
          <p:cNvSpPr/>
          <p:nvPr/>
        </p:nvSpPr>
        <p:spPr>
          <a:xfrm>
            <a:off x="9509760" y="2468880"/>
            <a:ext cx="777240" cy="777240"/>
          </a:xfrm>
          <a:prstGeom prst="roundRect">
            <a:avLst>
              <a:gd name="adj" fmla="val 14118"/>
            </a:avLst>
          </a:prstGeom>
          <a:solidFill>
            <a:srgbClr val="102B23"/>
          </a:solidFill>
          <a:ln w="19050">
            <a:solidFill>
              <a:srgbClr val="62796E"/>
            </a:solidFill>
            <a:prstDash val="solid"/>
          </a:ln>
        </p:spPr>
      </p:sp>
      <p:sp>
        <p:nvSpPr>
          <p:cNvPr id="9" name="Shape 7"/>
          <p:cNvSpPr/>
          <p:nvPr/>
        </p:nvSpPr>
        <p:spPr>
          <a:xfrm>
            <a:off x="10515600" y="2468880"/>
            <a:ext cx="777240" cy="777240"/>
          </a:xfrm>
          <a:prstGeom prst="roundRect">
            <a:avLst>
              <a:gd name="adj" fmla="val 14118"/>
            </a:avLst>
          </a:prstGeom>
          <a:solidFill>
            <a:srgbClr val="102B23"/>
          </a:solidFill>
          <a:ln w="19050">
            <a:solidFill>
              <a:srgbClr val="62796E"/>
            </a:solidFill>
            <a:prstDash val="solid"/>
          </a:ln>
        </p:spPr>
      </p:sp>
      <p:sp>
        <p:nvSpPr>
          <p:cNvPr id="10" name="Shape 8"/>
          <p:cNvSpPr/>
          <p:nvPr/>
        </p:nvSpPr>
        <p:spPr>
          <a:xfrm>
            <a:off x="10012680" y="3474720"/>
            <a:ext cx="777240" cy="777240"/>
          </a:xfrm>
          <a:prstGeom prst="roundRect">
            <a:avLst>
              <a:gd name="adj" fmla="val 14118"/>
            </a:avLst>
          </a:prstGeom>
          <a:solidFill>
            <a:srgbClr val="D4A937"/>
          </a:solidFill>
          <a:ln w="19050">
            <a:solidFill>
              <a:srgbClr val="F5D7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310"/>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5F0E6"/>
                </a:solidFill>
                <a:latin typeface="Cambria" pitchFamily="34" charset="0"/>
                <a:ea typeface="Cambria" pitchFamily="34" charset="-122"/>
                <a:cs typeface="Cambria" pitchFamily="34" charset="-120"/>
              </a:rPr>
              <a:t>Why I chose this</a:t>
            </a:r>
            <a:endParaRPr lang="en-US" sz="36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indent="0" marL="0">
              <a:buNone/>
            </a:pPr>
            <a:r>
              <a:rPr lang="en-US" sz="1400" dirty="0">
                <a:solidFill>
                  <a:srgbClr val="97B0A2"/>
                </a:solidFill>
                <a:latin typeface="Calibri" pitchFamily="34" charset="0"/>
                <a:ea typeface="Calibri" pitchFamily="34" charset="-122"/>
                <a:cs typeface="Calibri" pitchFamily="34" charset="-120"/>
              </a:rPr>
              <a:t>The brief let us pick any real-world problem</a:t>
            </a:r>
            <a:endParaRPr lang="en-US" sz="1400" dirty="0"/>
          </a:p>
        </p:txBody>
      </p:sp>
      <p:sp>
        <p:nvSpPr>
          <p:cNvPr id="4" name="Shape 2"/>
          <p:cNvSpPr/>
          <p:nvPr/>
        </p:nvSpPr>
        <p:spPr>
          <a:xfrm>
            <a:off x="640080" y="1828800"/>
            <a:ext cx="10881360" cy="1463040"/>
          </a:xfrm>
          <a:prstGeom prst="roundRect">
            <a:avLst>
              <a:gd name="adj" fmla="val 5625"/>
            </a:avLst>
          </a:prstGeom>
          <a:solidFill>
            <a:srgbClr val="17392E"/>
          </a:solidFill>
          <a:ln w="12700">
            <a:solidFill>
              <a:srgbClr val="17392E"/>
            </a:solidFill>
            <a:prstDash val="solid"/>
          </a:ln>
        </p:spPr>
      </p:sp>
      <p:sp>
        <p:nvSpPr>
          <p:cNvPr id="5" name="Text 3"/>
          <p:cNvSpPr/>
          <p:nvPr/>
        </p:nvSpPr>
        <p:spPr>
          <a:xfrm>
            <a:off x="960120" y="2103120"/>
            <a:ext cx="10241280" cy="1005840"/>
          </a:xfrm>
          <a:prstGeom prst="rect">
            <a:avLst/>
          </a:prstGeom>
          <a:noFill/>
          <a:ln/>
        </p:spPr>
        <p:txBody>
          <a:bodyPr wrap="square" lIns="0" tIns="0" rIns="0" bIns="0" rtlCol="0" anchor="ctr"/>
          <a:lstStyle/>
          <a:p>
            <a:pPr indent="0" marL="0">
              <a:buNone/>
            </a:pPr>
            <a:r>
              <a:rPr lang="en-US" sz="1500" dirty="0">
                <a:solidFill>
                  <a:srgbClr val="F5F0E6"/>
                </a:solidFill>
                <a:latin typeface="Calibri" pitchFamily="34" charset="0"/>
                <a:ea typeface="Calibri" pitchFamily="34" charset="-122"/>
                <a:cs typeface="Calibri" pitchFamily="34" charset="-120"/>
              </a:rPr>
              <a:t>Most independent restaurants still take bookings on the phone, into a paper diary. That causes double-bookings, parties seated at tables too small for them, and no-shows nobody wrote down. And as a customer you cannot find out what is actually free without ringing up during service.</a:t>
            </a:r>
            <a:endParaRPr lang="en-US" sz="1500" dirty="0"/>
          </a:p>
        </p:txBody>
      </p:sp>
      <p:sp>
        <p:nvSpPr>
          <p:cNvPr id="6" name="Text 4"/>
          <p:cNvSpPr/>
          <p:nvPr/>
        </p:nvSpPr>
        <p:spPr>
          <a:xfrm>
            <a:off x="640080" y="3611880"/>
            <a:ext cx="10881360" cy="365760"/>
          </a:xfrm>
          <a:prstGeom prst="rect">
            <a:avLst/>
          </a:prstGeom>
          <a:noFill/>
          <a:ln/>
        </p:spPr>
        <p:txBody>
          <a:bodyPr wrap="square" lIns="0" tIns="0" rIns="0" bIns="0" rtlCol="0" anchor="ctr"/>
          <a:lstStyle/>
          <a:p>
            <a:pPr indent="0" marL="0">
              <a:buNone/>
            </a:pPr>
            <a:r>
              <a:rPr lang="en-US" sz="2000" b="1" dirty="0">
                <a:solidFill>
                  <a:srgbClr val="D4A937"/>
                </a:solidFill>
                <a:latin typeface="Cambria" pitchFamily="34" charset="0"/>
                <a:ea typeface="Cambria" pitchFamily="34" charset="-122"/>
                <a:cs typeface="Cambria" pitchFamily="34" charset="-120"/>
              </a:rPr>
              <a:t>What made it worth building</a:t>
            </a:r>
            <a:endParaRPr lang="en-US" sz="2000" dirty="0"/>
          </a:p>
        </p:txBody>
      </p:sp>
      <p:sp>
        <p:nvSpPr>
          <p:cNvPr id="7" name="Shape 5"/>
          <p:cNvSpPr/>
          <p:nvPr/>
        </p:nvSpPr>
        <p:spPr>
          <a:xfrm>
            <a:off x="640080" y="4114800"/>
            <a:ext cx="420624" cy="420624"/>
          </a:xfrm>
          <a:prstGeom prst="ellipse">
            <a:avLst/>
          </a:prstGeom>
          <a:solidFill>
            <a:srgbClr val="D4A937"/>
          </a:solidFill>
          <a:ln/>
        </p:spPr>
      </p:sp>
      <p:sp>
        <p:nvSpPr>
          <p:cNvPr id="8" name="Text 6"/>
          <p:cNvSpPr/>
          <p:nvPr/>
        </p:nvSpPr>
        <p:spPr>
          <a:xfrm>
            <a:off x="640080" y="4114800"/>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188720" y="4087368"/>
            <a:ext cx="3291840" cy="365760"/>
          </a:xfrm>
          <a:prstGeom prst="rect">
            <a:avLst/>
          </a:prstGeom>
          <a:noFill/>
          <a:ln/>
        </p:spPr>
        <p:txBody>
          <a:bodyPr wrap="square" lIns="0" tIns="0" rIns="0" bIns="0" rtlCol="0" anchor="t"/>
          <a:lstStyle/>
          <a:p>
            <a:pPr indent="0" marL="0">
              <a:buNone/>
            </a:pPr>
            <a:r>
              <a:rPr lang="en-US" sz="1400" b="1" dirty="0">
                <a:solidFill>
                  <a:srgbClr val="F5F0E6"/>
                </a:solidFill>
                <a:latin typeface="Calibri" pitchFamily="34" charset="0"/>
                <a:ea typeface="Calibri" pitchFamily="34" charset="-122"/>
                <a:cs typeface="Calibri" pitchFamily="34" charset="-120"/>
              </a:rPr>
              <a:t>It has a genuinely hard bit</a:t>
            </a:r>
            <a:endParaRPr lang="en-US" sz="1400" dirty="0"/>
          </a:p>
        </p:txBody>
      </p:sp>
      <p:sp>
        <p:nvSpPr>
          <p:cNvPr id="10" name="Text 8"/>
          <p:cNvSpPr/>
          <p:nvPr/>
        </p:nvSpPr>
        <p:spPr>
          <a:xfrm>
            <a:off x="4572000" y="4087368"/>
            <a:ext cx="6949440" cy="658368"/>
          </a:xfrm>
          <a:prstGeom prst="rect">
            <a:avLst/>
          </a:prstGeom>
          <a:noFill/>
          <a:ln/>
        </p:spPr>
        <p:txBody>
          <a:bodyPr wrap="square" lIns="0" tIns="0" rIns="0" bIns="0" rtlCol="0" anchor="ctr"/>
          <a:lstStyle/>
          <a:p>
            <a:pPr indent="0" marL="0">
              <a:buNone/>
            </a:pPr>
            <a:r>
              <a:rPr lang="en-US" sz="1250" dirty="0">
                <a:solidFill>
                  <a:srgbClr val="97B0A2"/>
                </a:solidFill>
                <a:latin typeface="Calibri" pitchFamily="34" charset="0"/>
                <a:ea typeface="Calibri" pitchFamily="34" charset="-122"/>
                <a:cs typeface="Calibri" pitchFamily="34" charset="-120"/>
              </a:rPr>
              <a:t>Working out whether a table is free is not a lookup. It is an overlap problem, and getting it wrong is invisible until two people turn up for the same table.</a:t>
            </a:r>
            <a:endParaRPr lang="en-US" sz="1250" dirty="0"/>
          </a:p>
        </p:txBody>
      </p:sp>
      <p:sp>
        <p:nvSpPr>
          <p:cNvPr id="11" name="Shape 9"/>
          <p:cNvSpPr/>
          <p:nvPr/>
        </p:nvSpPr>
        <p:spPr>
          <a:xfrm>
            <a:off x="640080" y="4892040"/>
            <a:ext cx="420624" cy="420624"/>
          </a:xfrm>
          <a:prstGeom prst="ellipse">
            <a:avLst/>
          </a:prstGeom>
          <a:solidFill>
            <a:srgbClr val="D4A937"/>
          </a:solidFill>
          <a:ln/>
        </p:spPr>
      </p:sp>
      <p:sp>
        <p:nvSpPr>
          <p:cNvPr id="12" name="Text 10"/>
          <p:cNvSpPr/>
          <p:nvPr/>
        </p:nvSpPr>
        <p:spPr>
          <a:xfrm>
            <a:off x="640080" y="4892040"/>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188720" y="4864608"/>
            <a:ext cx="3291840" cy="365760"/>
          </a:xfrm>
          <a:prstGeom prst="rect">
            <a:avLst/>
          </a:prstGeom>
          <a:noFill/>
          <a:ln/>
        </p:spPr>
        <p:txBody>
          <a:bodyPr wrap="square" lIns="0" tIns="0" rIns="0" bIns="0" rtlCol="0" anchor="t"/>
          <a:lstStyle/>
          <a:p>
            <a:pPr indent="0" marL="0">
              <a:buNone/>
            </a:pPr>
            <a:r>
              <a:rPr lang="en-US" sz="1400" b="1" dirty="0">
                <a:solidFill>
                  <a:srgbClr val="F5F0E6"/>
                </a:solidFill>
                <a:latin typeface="Calibri" pitchFamily="34" charset="0"/>
                <a:ea typeface="Calibri" pitchFamily="34" charset="-122"/>
                <a:cs typeface="Calibri" pitchFamily="34" charset="-120"/>
              </a:rPr>
              <a:t>It needs all three advanced features naturally</a:t>
            </a:r>
            <a:endParaRPr lang="en-US" sz="1400" dirty="0"/>
          </a:p>
        </p:txBody>
      </p:sp>
      <p:sp>
        <p:nvSpPr>
          <p:cNvPr id="14" name="Text 12"/>
          <p:cNvSpPr/>
          <p:nvPr/>
        </p:nvSpPr>
        <p:spPr>
          <a:xfrm>
            <a:off x="4572000" y="4864608"/>
            <a:ext cx="6949440" cy="658368"/>
          </a:xfrm>
          <a:prstGeom prst="rect">
            <a:avLst/>
          </a:prstGeom>
          <a:noFill/>
          <a:ln/>
        </p:spPr>
        <p:txBody>
          <a:bodyPr wrap="square" lIns="0" tIns="0" rIns="0" bIns="0" rtlCol="0" anchor="ctr"/>
          <a:lstStyle/>
          <a:p>
            <a:pPr indent="0" marL="0">
              <a:buNone/>
            </a:pPr>
            <a:r>
              <a:rPr lang="en-US" sz="1250" dirty="0">
                <a:solidFill>
                  <a:srgbClr val="97B0A2"/>
                </a:solidFill>
                <a:latin typeface="Calibri" pitchFamily="34" charset="0"/>
                <a:ea typeface="Calibri" pitchFamily="34" charset="-122"/>
                <a:cs typeface="Calibri" pitchFamily="34" charset="-120"/>
              </a:rPr>
              <a:t>Roles, search and a dashboard all fall out of the problem rather than being bolted on to satisfy the brief.</a:t>
            </a:r>
            <a:endParaRPr lang="en-US" sz="1250" dirty="0"/>
          </a:p>
        </p:txBody>
      </p:sp>
      <p:sp>
        <p:nvSpPr>
          <p:cNvPr id="15" name="Shape 13"/>
          <p:cNvSpPr/>
          <p:nvPr/>
        </p:nvSpPr>
        <p:spPr>
          <a:xfrm>
            <a:off x="640080" y="5669280"/>
            <a:ext cx="420624" cy="420624"/>
          </a:xfrm>
          <a:prstGeom prst="ellipse">
            <a:avLst/>
          </a:prstGeom>
          <a:solidFill>
            <a:srgbClr val="D4A937"/>
          </a:solidFill>
          <a:ln/>
        </p:spPr>
      </p:sp>
      <p:sp>
        <p:nvSpPr>
          <p:cNvPr id="16" name="Text 14"/>
          <p:cNvSpPr/>
          <p:nvPr/>
        </p:nvSpPr>
        <p:spPr>
          <a:xfrm>
            <a:off x="640080" y="5669280"/>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188720" y="5641848"/>
            <a:ext cx="3291840" cy="365760"/>
          </a:xfrm>
          <a:prstGeom prst="rect">
            <a:avLst/>
          </a:prstGeom>
          <a:noFill/>
          <a:ln/>
        </p:spPr>
        <p:txBody>
          <a:bodyPr wrap="square" lIns="0" tIns="0" rIns="0" bIns="0" rtlCol="0" anchor="t"/>
          <a:lstStyle/>
          <a:p>
            <a:pPr indent="0" marL="0">
              <a:buNone/>
            </a:pPr>
            <a:r>
              <a:rPr lang="en-US" sz="1400" b="1" dirty="0">
                <a:solidFill>
                  <a:srgbClr val="F5F0E6"/>
                </a:solidFill>
                <a:latin typeface="Calibri" pitchFamily="34" charset="0"/>
                <a:ea typeface="Calibri" pitchFamily="34" charset="-122"/>
                <a:cs typeface="Calibri" pitchFamily="34" charset="-120"/>
              </a:rPr>
              <a:t>Multiple restaurants, not one</a:t>
            </a:r>
            <a:endParaRPr lang="en-US" sz="1400" dirty="0"/>
          </a:p>
        </p:txBody>
      </p:sp>
      <p:sp>
        <p:nvSpPr>
          <p:cNvPr id="18" name="Text 16"/>
          <p:cNvSpPr/>
          <p:nvPr/>
        </p:nvSpPr>
        <p:spPr>
          <a:xfrm>
            <a:off x="4572000" y="5641848"/>
            <a:ext cx="6949440" cy="658368"/>
          </a:xfrm>
          <a:prstGeom prst="rect">
            <a:avLst/>
          </a:prstGeom>
          <a:noFill/>
          <a:ln/>
        </p:spPr>
        <p:txBody>
          <a:bodyPr wrap="square" lIns="0" tIns="0" rIns="0" bIns="0" rtlCol="0" anchor="ctr"/>
          <a:lstStyle/>
          <a:p>
            <a:pPr indent="0" marL="0">
              <a:buNone/>
            </a:pPr>
            <a:r>
              <a:rPr lang="en-US" sz="1250" dirty="0">
                <a:solidFill>
                  <a:srgbClr val="97B0A2"/>
                </a:solidFill>
                <a:latin typeface="Calibri" pitchFamily="34" charset="0"/>
                <a:ea typeface="Calibri" pitchFamily="34" charset="-122"/>
                <a:cs typeface="Calibri" pitchFamily="34" charset="-120"/>
              </a:rPr>
              <a:t>A single venue would make search trivial. Several venues also gave me a harder security problem to solve.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310"/>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5F0E6"/>
                </a:solidFill>
                <a:latin typeface="Cambria" pitchFamily="34" charset="0"/>
                <a:ea typeface="Cambria" pitchFamily="34" charset="-122"/>
                <a:cs typeface="Cambria" pitchFamily="34" charset="-120"/>
              </a:rPr>
              <a:t>So what is Mesa?</a:t>
            </a:r>
            <a:endParaRPr lang="en-US" sz="36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indent="0" marL="0">
              <a:buNone/>
            </a:pPr>
            <a:r>
              <a:rPr lang="en-US" sz="1400" dirty="0">
                <a:solidFill>
                  <a:srgbClr val="97B0A2"/>
                </a:solidFill>
                <a:latin typeface="Calibri" pitchFamily="34" charset="0"/>
                <a:ea typeface="Calibri" pitchFamily="34" charset="-122"/>
                <a:cs typeface="Calibri" pitchFamily="34" charset="-120"/>
              </a:rPr>
              <a:t>The short version</a:t>
            </a:r>
            <a:endParaRPr lang="en-US" sz="1400" dirty="0"/>
          </a:p>
        </p:txBody>
      </p:sp>
      <p:sp>
        <p:nvSpPr>
          <p:cNvPr id="4" name="Shape 2"/>
          <p:cNvSpPr/>
          <p:nvPr/>
        </p:nvSpPr>
        <p:spPr>
          <a:xfrm>
            <a:off x="640080" y="1783080"/>
            <a:ext cx="10881360" cy="1188720"/>
          </a:xfrm>
          <a:prstGeom prst="roundRect">
            <a:avLst>
              <a:gd name="adj" fmla="val 6923"/>
            </a:avLst>
          </a:prstGeom>
          <a:solidFill>
            <a:srgbClr val="17392E"/>
          </a:solidFill>
          <a:ln w="12700">
            <a:solidFill>
              <a:srgbClr val="17392E"/>
            </a:solidFill>
            <a:prstDash val="solid"/>
          </a:ln>
        </p:spPr>
      </p:sp>
      <p:sp>
        <p:nvSpPr>
          <p:cNvPr id="5" name="Text 3"/>
          <p:cNvSpPr/>
          <p:nvPr/>
        </p:nvSpPr>
        <p:spPr>
          <a:xfrm>
            <a:off x="960120" y="2011680"/>
            <a:ext cx="10241280" cy="777240"/>
          </a:xfrm>
          <a:prstGeom prst="rect">
            <a:avLst/>
          </a:prstGeom>
          <a:noFill/>
          <a:ln/>
        </p:spPr>
        <p:txBody>
          <a:bodyPr wrap="square" lIns="0" tIns="0" rIns="0" bIns="0" rtlCol="0" anchor="ctr"/>
          <a:lstStyle/>
          <a:p>
            <a:pPr indent="0" marL="0">
              <a:buNone/>
            </a:pPr>
            <a:r>
              <a:rPr lang="en-US" sz="1600" dirty="0">
                <a:solidFill>
                  <a:srgbClr val="F5F0E6"/>
                </a:solidFill>
                <a:latin typeface="Calibri" pitchFamily="34" charset="0"/>
                <a:ea typeface="Calibri" pitchFamily="34" charset="-122"/>
                <a:cs typeface="Calibri" pitchFamily="34" charset="-120"/>
              </a:rPr>
              <a:t>A website where you pick a date, a time and how many people, and it shows you which restaurants can genuinely seat you — then books the table. "Mesa" is Spanish for table.</a:t>
            </a:r>
            <a:endParaRPr lang="en-US" sz="1600" dirty="0"/>
          </a:p>
        </p:txBody>
      </p:sp>
      <p:sp>
        <p:nvSpPr>
          <p:cNvPr id="6" name="Text 4"/>
          <p:cNvSpPr/>
          <p:nvPr/>
        </p:nvSpPr>
        <p:spPr>
          <a:xfrm>
            <a:off x="640080" y="3154680"/>
            <a:ext cx="10881360" cy="365760"/>
          </a:xfrm>
          <a:prstGeom prst="rect">
            <a:avLst/>
          </a:prstGeom>
          <a:noFill/>
          <a:ln/>
        </p:spPr>
        <p:txBody>
          <a:bodyPr wrap="square" lIns="0" tIns="0" rIns="0" bIns="0" rtlCol="0" anchor="ctr"/>
          <a:lstStyle/>
          <a:p>
            <a:pPr indent="0" marL="0">
              <a:buNone/>
            </a:pPr>
            <a:r>
              <a:rPr lang="en-US" sz="2000" b="1" dirty="0">
                <a:solidFill>
                  <a:srgbClr val="D4A937"/>
                </a:solidFill>
                <a:latin typeface="Cambria" pitchFamily="34" charset="0"/>
                <a:ea typeface="Cambria" pitchFamily="34" charset="-122"/>
                <a:cs typeface="Cambria" pitchFamily="34" charset="-120"/>
              </a:rPr>
              <a:t>What actually happens when you use it</a:t>
            </a:r>
            <a:endParaRPr lang="en-US" sz="2000" dirty="0"/>
          </a:p>
        </p:txBody>
      </p:sp>
      <p:sp>
        <p:nvSpPr>
          <p:cNvPr id="7" name="Shape 5"/>
          <p:cNvSpPr/>
          <p:nvPr/>
        </p:nvSpPr>
        <p:spPr>
          <a:xfrm>
            <a:off x="640080" y="3657600"/>
            <a:ext cx="2606040" cy="1600200"/>
          </a:xfrm>
          <a:prstGeom prst="roundRect">
            <a:avLst>
              <a:gd name="adj" fmla="val 5143"/>
            </a:avLst>
          </a:prstGeom>
          <a:solidFill>
            <a:srgbClr val="102B23"/>
          </a:solidFill>
          <a:ln w="12700">
            <a:solidFill>
              <a:srgbClr val="17392E"/>
            </a:solidFill>
            <a:prstDash val="solid"/>
          </a:ln>
        </p:spPr>
      </p:sp>
      <p:sp>
        <p:nvSpPr>
          <p:cNvPr id="8" name="Shape 6"/>
          <p:cNvSpPr/>
          <p:nvPr/>
        </p:nvSpPr>
        <p:spPr>
          <a:xfrm>
            <a:off x="868680" y="3840480"/>
            <a:ext cx="384048" cy="384048"/>
          </a:xfrm>
          <a:prstGeom prst="ellipse">
            <a:avLst/>
          </a:prstGeom>
          <a:solidFill>
            <a:srgbClr val="D4A937"/>
          </a:solidFill>
          <a:ln/>
        </p:spPr>
      </p:sp>
      <p:sp>
        <p:nvSpPr>
          <p:cNvPr id="9" name="Text 7"/>
          <p:cNvSpPr/>
          <p:nvPr/>
        </p:nvSpPr>
        <p:spPr>
          <a:xfrm>
            <a:off x="868680" y="3840480"/>
            <a:ext cx="384048" cy="384048"/>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868680" y="4343400"/>
            <a:ext cx="2148840" cy="320040"/>
          </a:xfrm>
          <a:prstGeom prst="rect">
            <a:avLst/>
          </a:prstGeom>
          <a:noFill/>
          <a:ln/>
        </p:spPr>
        <p:txBody>
          <a:bodyPr wrap="square" lIns="0" tIns="0" rIns="0" bIns="0" rtlCol="0" anchor="ctr"/>
          <a:lstStyle/>
          <a:p>
            <a:pPr indent="0" marL="0">
              <a:buNone/>
            </a:pPr>
            <a:r>
              <a:rPr lang="en-US" sz="1350" b="1" dirty="0">
                <a:solidFill>
                  <a:srgbClr val="F5F0E6"/>
                </a:solidFill>
                <a:latin typeface="Calibri" pitchFamily="34" charset="0"/>
                <a:ea typeface="Calibri" pitchFamily="34" charset="-122"/>
                <a:cs typeface="Calibri" pitchFamily="34" charset="-120"/>
              </a:rPr>
              <a:t>You say what you want</a:t>
            </a:r>
            <a:endParaRPr lang="en-US" sz="1350" dirty="0"/>
          </a:p>
        </p:txBody>
      </p:sp>
      <p:sp>
        <p:nvSpPr>
          <p:cNvPr id="11" name="Text 9"/>
          <p:cNvSpPr/>
          <p:nvPr/>
        </p:nvSpPr>
        <p:spPr>
          <a:xfrm>
            <a:off x="868680" y="4681728"/>
            <a:ext cx="2148840" cy="502920"/>
          </a:xfrm>
          <a:prstGeom prst="rect">
            <a:avLst/>
          </a:prstGeom>
          <a:noFill/>
          <a:ln/>
        </p:spPr>
        <p:txBody>
          <a:bodyPr wrap="square" lIns="0" tIns="0" rIns="0" bIns="0" rtlCol="0" anchor="ctr"/>
          <a:lstStyle/>
          <a:p>
            <a:pPr indent="0" marL="0">
              <a:buNone/>
            </a:pPr>
            <a:r>
              <a:rPr lang="en-US" sz="1150" dirty="0">
                <a:solidFill>
                  <a:srgbClr val="97B0A2"/>
                </a:solidFill>
                <a:latin typeface="Calibri" pitchFamily="34" charset="0"/>
                <a:ea typeface="Calibri" pitchFamily="34" charset="-122"/>
                <a:cs typeface="Calibri" pitchFamily="34" charset="-120"/>
              </a:rPr>
              <a:t>Friday, 7:30pm, four people</a:t>
            </a:r>
            <a:endParaRPr lang="en-US" sz="1150" dirty="0"/>
          </a:p>
        </p:txBody>
      </p:sp>
      <p:sp>
        <p:nvSpPr>
          <p:cNvPr id="12" name="Shape 10"/>
          <p:cNvSpPr/>
          <p:nvPr/>
        </p:nvSpPr>
        <p:spPr>
          <a:xfrm>
            <a:off x="3429000" y="3657600"/>
            <a:ext cx="2606040" cy="1600200"/>
          </a:xfrm>
          <a:prstGeom prst="roundRect">
            <a:avLst>
              <a:gd name="adj" fmla="val 5143"/>
            </a:avLst>
          </a:prstGeom>
          <a:solidFill>
            <a:srgbClr val="102B23"/>
          </a:solidFill>
          <a:ln w="12700">
            <a:solidFill>
              <a:srgbClr val="17392E"/>
            </a:solidFill>
            <a:prstDash val="solid"/>
          </a:ln>
        </p:spPr>
      </p:sp>
      <p:sp>
        <p:nvSpPr>
          <p:cNvPr id="13" name="Shape 11"/>
          <p:cNvSpPr/>
          <p:nvPr/>
        </p:nvSpPr>
        <p:spPr>
          <a:xfrm>
            <a:off x="3657600" y="3840480"/>
            <a:ext cx="384048" cy="384048"/>
          </a:xfrm>
          <a:prstGeom prst="ellipse">
            <a:avLst/>
          </a:prstGeom>
          <a:solidFill>
            <a:srgbClr val="D4A937"/>
          </a:solidFill>
          <a:ln/>
        </p:spPr>
      </p:sp>
      <p:sp>
        <p:nvSpPr>
          <p:cNvPr id="14" name="Text 12"/>
          <p:cNvSpPr/>
          <p:nvPr/>
        </p:nvSpPr>
        <p:spPr>
          <a:xfrm>
            <a:off x="3657600" y="3840480"/>
            <a:ext cx="384048" cy="384048"/>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3657600" y="4343400"/>
            <a:ext cx="2148840" cy="320040"/>
          </a:xfrm>
          <a:prstGeom prst="rect">
            <a:avLst/>
          </a:prstGeom>
          <a:noFill/>
          <a:ln/>
        </p:spPr>
        <p:txBody>
          <a:bodyPr wrap="square" lIns="0" tIns="0" rIns="0" bIns="0" rtlCol="0" anchor="ctr"/>
          <a:lstStyle/>
          <a:p>
            <a:pPr indent="0" marL="0">
              <a:buNone/>
            </a:pPr>
            <a:r>
              <a:rPr lang="en-US" sz="1350" b="1" dirty="0">
                <a:solidFill>
                  <a:srgbClr val="F5F0E6"/>
                </a:solidFill>
                <a:latin typeface="Calibri" pitchFamily="34" charset="0"/>
                <a:ea typeface="Calibri" pitchFamily="34" charset="-122"/>
                <a:cs typeface="Calibri" pitchFamily="34" charset="-120"/>
              </a:rPr>
              <a:t>It checks every table</a:t>
            </a:r>
            <a:endParaRPr lang="en-US" sz="1350" dirty="0"/>
          </a:p>
        </p:txBody>
      </p:sp>
      <p:sp>
        <p:nvSpPr>
          <p:cNvPr id="16" name="Text 14"/>
          <p:cNvSpPr/>
          <p:nvPr/>
        </p:nvSpPr>
        <p:spPr>
          <a:xfrm>
            <a:off x="3657600" y="4681728"/>
            <a:ext cx="2148840" cy="502920"/>
          </a:xfrm>
          <a:prstGeom prst="rect">
            <a:avLst/>
          </a:prstGeom>
          <a:noFill/>
          <a:ln/>
        </p:spPr>
        <p:txBody>
          <a:bodyPr wrap="square" lIns="0" tIns="0" rIns="0" bIns="0" rtlCol="0" anchor="ctr"/>
          <a:lstStyle/>
          <a:p>
            <a:pPr indent="0" marL="0">
              <a:buNone/>
            </a:pPr>
            <a:r>
              <a:rPr lang="en-US" sz="1150" dirty="0">
                <a:solidFill>
                  <a:srgbClr val="97B0A2"/>
                </a:solidFill>
                <a:latin typeface="Calibri" pitchFamily="34" charset="0"/>
                <a:ea typeface="Calibri" pitchFamily="34" charset="-122"/>
                <a:cs typeface="Calibri" pitchFamily="34" charset="-120"/>
              </a:rPr>
              <a:t>Across all six restaurants, not just whether they are open</a:t>
            </a:r>
            <a:endParaRPr lang="en-US" sz="1150" dirty="0"/>
          </a:p>
        </p:txBody>
      </p:sp>
      <p:sp>
        <p:nvSpPr>
          <p:cNvPr id="17" name="Shape 15"/>
          <p:cNvSpPr/>
          <p:nvPr/>
        </p:nvSpPr>
        <p:spPr>
          <a:xfrm>
            <a:off x="6217920" y="3657600"/>
            <a:ext cx="2606040" cy="1600200"/>
          </a:xfrm>
          <a:prstGeom prst="roundRect">
            <a:avLst>
              <a:gd name="adj" fmla="val 5143"/>
            </a:avLst>
          </a:prstGeom>
          <a:solidFill>
            <a:srgbClr val="102B23"/>
          </a:solidFill>
          <a:ln w="12700">
            <a:solidFill>
              <a:srgbClr val="17392E"/>
            </a:solidFill>
            <a:prstDash val="solid"/>
          </a:ln>
        </p:spPr>
      </p:sp>
      <p:sp>
        <p:nvSpPr>
          <p:cNvPr id="18" name="Shape 16"/>
          <p:cNvSpPr/>
          <p:nvPr/>
        </p:nvSpPr>
        <p:spPr>
          <a:xfrm>
            <a:off x="6446520" y="3840480"/>
            <a:ext cx="384048" cy="384048"/>
          </a:xfrm>
          <a:prstGeom prst="ellipse">
            <a:avLst/>
          </a:prstGeom>
          <a:solidFill>
            <a:srgbClr val="D4A937"/>
          </a:solidFill>
          <a:ln/>
        </p:spPr>
      </p:sp>
      <p:sp>
        <p:nvSpPr>
          <p:cNvPr id="19" name="Text 17"/>
          <p:cNvSpPr/>
          <p:nvPr/>
        </p:nvSpPr>
        <p:spPr>
          <a:xfrm>
            <a:off x="6446520" y="3840480"/>
            <a:ext cx="384048" cy="384048"/>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6446520" y="4343400"/>
            <a:ext cx="2148840" cy="320040"/>
          </a:xfrm>
          <a:prstGeom prst="rect">
            <a:avLst/>
          </a:prstGeom>
          <a:noFill/>
          <a:ln/>
        </p:spPr>
        <p:txBody>
          <a:bodyPr wrap="square" lIns="0" tIns="0" rIns="0" bIns="0" rtlCol="0" anchor="ctr"/>
          <a:lstStyle/>
          <a:p>
            <a:pPr indent="0" marL="0">
              <a:buNone/>
            </a:pPr>
            <a:r>
              <a:rPr lang="en-US" sz="1350" b="1" dirty="0">
                <a:solidFill>
                  <a:srgbClr val="F5F0E6"/>
                </a:solidFill>
                <a:latin typeface="Calibri" pitchFamily="34" charset="0"/>
                <a:ea typeface="Calibri" pitchFamily="34" charset="-122"/>
                <a:cs typeface="Calibri" pitchFamily="34" charset="-120"/>
              </a:rPr>
              <a:t>You see only what fits</a:t>
            </a:r>
            <a:endParaRPr lang="en-US" sz="1350" dirty="0"/>
          </a:p>
        </p:txBody>
      </p:sp>
      <p:sp>
        <p:nvSpPr>
          <p:cNvPr id="21" name="Text 19"/>
          <p:cNvSpPr/>
          <p:nvPr/>
        </p:nvSpPr>
        <p:spPr>
          <a:xfrm>
            <a:off x="6446520" y="4681728"/>
            <a:ext cx="2148840" cy="502920"/>
          </a:xfrm>
          <a:prstGeom prst="rect">
            <a:avLst/>
          </a:prstGeom>
          <a:noFill/>
          <a:ln/>
        </p:spPr>
        <p:txBody>
          <a:bodyPr wrap="square" lIns="0" tIns="0" rIns="0" bIns="0" rtlCol="0" anchor="ctr"/>
          <a:lstStyle/>
          <a:p>
            <a:pPr indent="0" marL="0">
              <a:buNone/>
            </a:pPr>
            <a:r>
              <a:rPr lang="en-US" sz="1150" dirty="0">
                <a:solidFill>
                  <a:srgbClr val="97B0A2"/>
                </a:solidFill>
                <a:latin typeface="Calibri" pitchFamily="34" charset="0"/>
                <a:ea typeface="Calibri" pitchFamily="34" charset="-122"/>
                <a:cs typeface="Calibri" pitchFamily="34" charset="-120"/>
              </a:rPr>
              <a:t>Places with no table for four simply do not appear</a:t>
            </a:r>
            <a:endParaRPr lang="en-US" sz="1150" dirty="0"/>
          </a:p>
        </p:txBody>
      </p:sp>
      <p:sp>
        <p:nvSpPr>
          <p:cNvPr id="22" name="Shape 20"/>
          <p:cNvSpPr/>
          <p:nvPr/>
        </p:nvSpPr>
        <p:spPr>
          <a:xfrm>
            <a:off x="9006840" y="3657600"/>
            <a:ext cx="2606040" cy="1600200"/>
          </a:xfrm>
          <a:prstGeom prst="roundRect">
            <a:avLst>
              <a:gd name="adj" fmla="val 5143"/>
            </a:avLst>
          </a:prstGeom>
          <a:solidFill>
            <a:srgbClr val="102B23"/>
          </a:solidFill>
          <a:ln w="12700">
            <a:solidFill>
              <a:srgbClr val="17392E"/>
            </a:solidFill>
            <a:prstDash val="solid"/>
          </a:ln>
        </p:spPr>
      </p:sp>
      <p:sp>
        <p:nvSpPr>
          <p:cNvPr id="23" name="Shape 21"/>
          <p:cNvSpPr/>
          <p:nvPr/>
        </p:nvSpPr>
        <p:spPr>
          <a:xfrm>
            <a:off x="9235440" y="3840480"/>
            <a:ext cx="384048" cy="384048"/>
          </a:xfrm>
          <a:prstGeom prst="ellipse">
            <a:avLst/>
          </a:prstGeom>
          <a:solidFill>
            <a:srgbClr val="D4A937"/>
          </a:solidFill>
          <a:ln/>
        </p:spPr>
      </p:sp>
      <p:sp>
        <p:nvSpPr>
          <p:cNvPr id="24" name="Text 22"/>
          <p:cNvSpPr/>
          <p:nvPr/>
        </p:nvSpPr>
        <p:spPr>
          <a:xfrm>
            <a:off x="9235440" y="3840480"/>
            <a:ext cx="384048" cy="384048"/>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9235440" y="4343400"/>
            <a:ext cx="2148840" cy="320040"/>
          </a:xfrm>
          <a:prstGeom prst="rect">
            <a:avLst/>
          </a:prstGeom>
          <a:noFill/>
          <a:ln/>
        </p:spPr>
        <p:txBody>
          <a:bodyPr wrap="square" lIns="0" tIns="0" rIns="0" bIns="0" rtlCol="0" anchor="ctr"/>
          <a:lstStyle/>
          <a:p>
            <a:pPr indent="0" marL="0">
              <a:buNone/>
            </a:pPr>
            <a:r>
              <a:rPr lang="en-US" sz="1350" b="1" dirty="0">
                <a:solidFill>
                  <a:srgbClr val="F5F0E6"/>
                </a:solidFill>
                <a:latin typeface="Calibri" pitchFamily="34" charset="0"/>
                <a:ea typeface="Calibri" pitchFamily="34" charset="-122"/>
                <a:cs typeface="Calibri" pitchFamily="34" charset="-120"/>
              </a:rPr>
              <a:t>It tells you your table</a:t>
            </a:r>
            <a:endParaRPr lang="en-US" sz="1350" dirty="0"/>
          </a:p>
        </p:txBody>
      </p:sp>
      <p:sp>
        <p:nvSpPr>
          <p:cNvPr id="26" name="Text 24"/>
          <p:cNvSpPr/>
          <p:nvPr/>
        </p:nvSpPr>
        <p:spPr>
          <a:xfrm>
            <a:off x="9235440" y="4681728"/>
            <a:ext cx="2148840" cy="502920"/>
          </a:xfrm>
          <a:prstGeom prst="rect">
            <a:avLst/>
          </a:prstGeom>
          <a:noFill/>
          <a:ln/>
        </p:spPr>
        <p:txBody>
          <a:bodyPr wrap="square" lIns="0" tIns="0" rIns="0" bIns="0" rtlCol="0" anchor="ctr"/>
          <a:lstStyle/>
          <a:p>
            <a:pPr indent="0" marL="0">
              <a:buNone/>
            </a:pPr>
            <a:r>
              <a:rPr lang="en-US" sz="1150" dirty="0">
                <a:solidFill>
                  <a:srgbClr val="97B0A2"/>
                </a:solidFill>
                <a:latin typeface="Calibri" pitchFamily="34" charset="0"/>
                <a:ea typeface="Calibri" pitchFamily="34" charset="-122"/>
                <a:cs typeface="Calibri" pitchFamily="34" charset="-120"/>
              </a:rPr>
              <a:t>Before you confirm, not after</a:t>
            </a:r>
            <a:endParaRPr lang="en-US" sz="1150" dirty="0"/>
          </a:p>
        </p:txBody>
      </p:sp>
      <p:sp>
        <p:nvSpPr>
          <p:cNvPr id="27" name="Shape 25"/>
          <p:cNvSpPr/>
          <p:nvPr/>
        </p:nvSpPr>
        <p:spPr>
          <a:xfrm>
            <a:off x="640080" y="5486400"/>
            <a:ext cx="10881360" cy="1005840"/>
          </a:xfrm>
          <a:prstGeom prst="roundRect">
            <a:avLst>
              <a:gd name="adj" fmla="val 8182"/>
            </a:avLst>
          </a:prstGeom>
          <a:solidFill>
            <a:srgbClr val="102B23"/>
          </a:solidFill>
          <a:ln w="12700">
            <a:solidFill>
              <a:srgbClr val="17392E"/>
            </a:solidFill>
            <a:prstDash val="solid"/>
          </a:ln>
        </p:spPr>
      </p:sp>
      <p:sp>
        <p:nvSpPr>
          <p:cNvPr id="28" name="Text 26"/>
          <p:cNvSpPr/>
          <p:nvPr/>
        </p:nvSpPr>
        <p:spPr>
          <a:xfrm>
            <a:off x="960120" y="5623560"/>
            <a:ext cx="3566160" cy="274320"/>
          </a:xfrm>
          <a:prstGeom prst="rect">
            <a:avLst/>
          </a:prstGeom>
          <a:noFill/>
          <a:ln/>
        </p:spPr>
        <p:txBody>
          <a:bodyPr wrap="square" lIns="0" tIns="0" rIns="0" bIns="0" rtlCol="0" anchor="ctr"/>
          <a:lstStyle/>
          <a:p>
            <a:pPr indent="0" marL="0">
              <a:buNone/>
            </a:pPr>
            <a:r>
              <a:rPr lang="en-US" sz="1300" b="1" dirty="0">
                <a:solidFill>
                  <a:srgbClr val="C2683A"/>
                </a:solidFill>
                <a:latin typeface="Calibri" pitchFamily="34" charset="0"/>
                <a:ea typeface="Calibri" pitchFamily="34" charset="-122"/>
                <a:cs typeface="Calibri" pitchFamily="34" charset="-120"/>
              </a:rPr>
              <a:t>The difference from a listings site</a:t>
            </a:r>
            <a:endParaRPr lang="en-US" sz="1300" dirty="0"/>
          </a:p>
        </p:txBody>
      </p:sp>
      <p:sp>
        <p:nvSpPr>
          <p:cNvPr id="29" name="Text 27"/>
          <p:cNvSpPr/>
          <p:nvPr/>
        </p:nvSpPr>
        <p:spPr>
          <a:xfrm>
            <a:off x="960120" y="5943600"/>
            <a:ext cx="10241280" cy="45720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A listings site tells you a restaurant exists and gives you a phone number. Mesa tells you whether it can actually seat you at the time you want, and lets you take the table there and then.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310"/>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5F0E6"/>
                </a:solidFill>
                <a:latin typeface="Cambria" pitchFamily="34" charset="0"/>
                <a:ea typeface="Cambria" pitchFamily="34" charset="-122"/>
                <a:cs typeface="Cambria" pitchFamily="34" charset="-120"/>
              </a:rPr>
              <a:t>What it does</a:t>
            </a:r>
            <a:endParaRPr lang="en-US" sz="36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indent="0" marL="0">
              <a:buNone/>
            </a:pPr>
            <a:r>
              <a:rPr lang="en-US" sz="1400" dirty="0">
                <a:solidFill>
                  <a:srgbClr val="97B0A2"/>
                </a:solidFill>
                <a:latin typeface="Calibri" pitchFamily="34" charset="0"/>
                <a:ea typeface="Calibri" pitchFamily="34" charset="-122"/>
                <a:cs typeface="Calibri" pitchFamily="34" charset="-120"/>
              </a:rPr>
              <a:t>Two kinds of user</a:t>
            </a:r>
            <a:endParaRPr lang="en-US" sz="1400" dirty="0"/>
          </a:p>
        </p:txBody>
      </p:sp>
      <p:sp>
        <p:nvSpPr>
          <p:cNvPr id="4" name="Shape 2"/>
          <p:cNvSpPr/>
          <p:nvPr/>
        </p:nvSpPr>
        <p:spPr>
          <a:xfrm>
            <a:off x="640080" y="1828800"/>
            <a:ext cx="5303520" cy="2194560"/>
          </a:xfrm>
          <a:prstGeom prst="roundRect">
            <a:avLst>
              <a:gd name="adj" fmla="val 3750"/>
            </a:avLst>
          </a:prstGeom>
          <a:solidFill>
            <a:srgbClr val="102B23"/>
          </a:solidFill>
          <a:ln w="12700">
            <a:solidFill>
              <a:srgbClr val="17392E"/>
            </a:solidFill>
            <a:prstDash val="solid"/>
          </a:ln>
        </p:spPr>
      </p:sp>
      <p:sp>
        <p:nvSpPr>
          <p:cNvPr id="5" name="Text 3"/>
          <p:cNvSpPr/>
          <p:nvPr/>
        </p:nvSpPr>
        <p:spPr>
          <a:xfrm>
            <a:off x="960120" y="2057400"/>
            <a:ext cx="4663440" cy="365760"/>
          </a:xfrm>
          <a:prstGeom prst="rect">
            <a:avLst/>
          </a:prstGeom>
          <a:noFill/>
          <a:ln/>
        </p:spPr>
        <p:txBody>
          <a:bodyPr wrap="square" lIns="0" tIns="0" rIns="0" bIns="0" rtlCol="0" anchor="ctr"/>
          <a:lstStyle/>
          <a:p>
            <a:pPr indent="0" marL="0">
              <a:buNone/>
            </a:pPr>
            <a:r>
              <a:rPr lang="en-US" sz="2000" b="1" dirty="0">
                <a:solidFill>
                  <a:srgbClr val="D4A937"/>
                </a:solidFill>
                <a:latin typeface="Cambria" pitchFamily="34" charset="0"/>
                <a:ea typeface="Cambria" pitchFamily="34" charset="-122"/>
                <a:cs typeface="Cambria" pitchFamily="34" charset="-120"/>
              </a:rPr>
              <a:t>If you are booking</a:t>
            </a:r>
            <a:endParaRPr lang="en-US" sz="2000" dirty="0"/>
          </a:p>
        </p:txBody>
      </p:sp>
      <p:sp>
        <p:nvSpPr>
          <p:cNvPr id="6" name="Text 4"/>
          <p:cNvSpPr/>
          <p:nvPr/>
        </p:nvSpPr>
        <p:spPr>
          <a:xfrm>
            <a:off x="960120" y="2514600"/>
            <a:ext cx="4663440" cy="1280160"/>
          </a:xfrm>
          <a:prstGeom prst="rect">
            <a:avLst/>
          </a:prstGeom>
          <a:noFill/>
          <a:ln/>
        </p:spPr>
        <p:txBody>
          <a:bodyPr wrap="square" lIns="0" tIns="0" rIns="0" bIns="0" rtlCol="0" anchor="ctr"/>
          <a:lstStyle/>
          <a:p>
            <a:pPr indent="0" marL="0">
              <a:buNone/>
            </a:pPr>
            <a:r>
              <a:rPr lang="en-US" sz="1400" dirty="0">
                <a:solidFill>
                  <a:srgbClr val="F5F0E6"/>
                </a:solidFill>
                <a:latin typeface="Calibri" pitchFamily="34" charset="0"/>
                <a:ea typeface="Calibri" pitchFamily="34" charset="-122"/>
                <a:cs typeface="Calibri" pitchFamily="34" charset="-120"/>
              </a:rPr>
              <a:t>Search restaurants, filter by what is genuinely free at your time and party size, book a table, then see and cancel your own bookings.</a:t>
            </a:r>
            <a:endParaRPr lang="en-US" sz="1400" dirty="0"/>
          </a:p>
        </p:txBody>
      </p:sp>
      <p:sp>
        <p:nvSpPr>
          <p:cNvPr id="7" name="Shape 5"/>
          <p:cNvSpPr/>
          <p:nvPr/>
        </p:nvSpPr>
        <p:spPr>
          <a:xfrm>
            <a:off x="6309360" y="1828800"/>
            <a:ext cx="5212080" cy="2194560"/>
          </a:xfrm>
          <a:prstGeom prst="roundRect">
            <a:avLst>
              <a:gd name="adj" fmla="val 3750"/>
            </a:avLst>
          </a:prstGeom>
          <a:solidFill>
            <a:srgbClr val="102B23"/>
          </a:solidFill>
          <a:ln w="12700">
            <a:solidFill>
              <a:srgbClr val="17392E"/>
            </a:solidFill>
            <a:prstDash val="solid"/>
          </a:ln>
        </p:spPr>
      </p:sp>
      <p:sp>
        <p:nvSpPr>
          <p:cNvPr id="8" name="Text 6"/>
          <p:cNvSpPr/>
          <p:nvPr/>
        </p:nvSpPr>
        <p:spPr>
          <a:xfrm>
            <a:off x="6629400" y="2057400"/>
            <a:ext cx="4572000" cy="365760"/>
          </a:xfrm>
          <a:prstGeom prst="rect">
            <a:avLst/>
          </a:prstGeom>
          <a:noFill/>
          <a:ln/>
        </p:spPr>
        <p:txBody>
          <a:bodyPr wrap="square" lIns="0" tIns="0" rIns="0" bIns="0" rtlCol="0" anchor="ctr"/>
          <a:lstStyle/>
          <a:p>
            <a:pPr indent="0" marL="0">
              <a:buNone/>
            </a:pPr>
            <a:r>
              <a:rPr lang="en-US" sz="2000" b="1" dirty="0">
                <a:solidFill>
                  <a:srgbClr val="C2683A"/>
                </a:solidFill>
                <a:latin typeface="Cambria" pitchFamily="34" charset="0"/>
                <a:ea typeface="Cambria" pitchFamily="34" charset="-122"/>
                <a:cs typeface="Cambria" pitchFamily="34" charset="-120"/>
              </a:rPr>
              <a:t>If you run the place</a:t>
            </a:r>
            <a:endParaRPr lang="en-US" sz="2000" dirty="0"/>
          </a:p>
        </p:txBody>
      </p:sp>
      <p:sp>
        <p:nvSpPr>
          <p:cNvPr id="9" name="Text 7"/>
          <p:cNvSpPr/>
          <p:nvPr/>
        </p:nvSpPr>
        <p:spPr>
          <a:xfrm>
            <a:off x="6629400" y="2514600"/>
            <a:ext cx="4572000" cy="1280160"/>
          </a:xfrm>
          <a:prstGeom prst="rect">
            <a:avLst/>
          </a:prstGeom>
          <a:noFill/>
          <a:ln/>
        </p:spPr>
        <p:txBody>
          <a:bodyPr wrap="square" lIns="0" tIns="0" rIns="0" bIns="0" rtlCol="0" anchor="ctr"/>
          <a:lstStyle/>
          <a:p>
            <a:pPr indent="0" marL="0">
              <a:buNone/>
            </a:pPr>
            <a:r>
              <a:rPr lang="en-US" sz="1400" dirty="0">
                <a:solidFill>
                  <a:srgbClr val="F5F0E6"/>
                </a:solidFill>
                <a:latin typeface="Calibri" pitchFamily="34" charset="0"/>
                <a:ea typeface="Calibri" pitchFamily="34" charset="-122"/>
                <a:cs typeface="Calibri" pitchFamily="34" charset="-120"/>
              </a:rPr>
              <a:t>See tonight's bookings, mark people seated or as no-shows, and check covers, occupancy and no-show rate on a dashboard.</a:t>
            </a:r>
            <a:endParaRPr lang="en-US" sz="1400" dirty="0"/>
          </a:p>
        </p:txBody>
      </p:sp>
      <p:sp>
        <p:nvSpPr>
          <p:cNvPr id="10" name="Shape 8"/>
          <p:cNvSpPr/>
          <p:nvPr/>
        </p:nvSpPr>
        <p:spPr>
          <a:xfrm>
            <a:off x="640080" y="4297680"/>
            <a:ext cx="10881360" cy="1828800"/>
          </a:xfrm>
          <a:prstGeom prst="roundRect">
            <a:avLst>
              <a:gd name="adj" fmla="val 4500"/>
            </a:avLst>
          </a:prstGeom>
          <a:solidFill>
            <a:srgbClr val="17392E"/>
          </a:solidFill>
          <a:ln w="12700">
            <a:solidFill>
              <a:srgbClr val="17392E"/>
            </a:solidFill>
            <a:prstDash val="solid"/>
          </a:ln>
        </p:spPr>
      </p:sp>
      <p:sp>
        <p:nvSpPr>
          <p:cNvPr id="11" name="Text 9"/>
          <p:cNvSpPr/>
          <p:nvPr/>
        </p:nvSpPr>
        <p:spPr>
          <a:xfrm>
            <a:off x="960120" y="4526280"/>
            <a:ext cx="10241280" cy="365760"/>
          </a:xfrm>
          <a:prstGeom prst="rect">
            <a:avLst/>
          </a:prstGeom>
          <a:noFill/>
          <a:ln/>
        </p:spPr>
        <p:txBody>
          <a:bodyPr wrap="square" lIns="0" tIns="0" rIns="0" bIns="0" rtlCol="0" anchor="ctr"/>
          <a:lstStyle/>
          <a:p>
            <a:pPr indent="0" marL="0">
              <a:buNone/>
            </a:pPr>
            <a:r>
              <a:rPr lang="en-US" sz="2000" b="1" dirty="0">
                <a:solidFill>
                  <a:srgbClr val="F5D77A"/>
                </a:solidFill>
                <a:latin typeface="Cambria" pitchFamily="34" charset="0"/>
                <a:ea typeface="Cambria" pitchFamily="34" charset="-122"/>
                <a:cs typeface="Cambria" pitchFamily="34" charset="-120"/>
              </a:rPr>
              <a:t>The rule I spent the most time on</a:t>
            </a:r>
            <a:endParaRPr lang="en-US" sz="2000" dirty="0"/>
          </a:p>
        </p:txBody>
      </p:sp>
      <p:sp>
        <p:nvSpPr>
          <p:cNvPr id="12" name="Text 10"/>
          <p:cNvSpPr/>
          <p:nvPr/>
        </p:nvSpPr>
        <p:spPr>
          <a:xfrm>
            <a:off x="960120" y="4983480"/>
            <a:ext cx="10241280" cy="914400"/>
          </a:xfrm>
          <a:prstGeom prst="rect">
            <a:avLst/>
          </a:prstGeom>
          <a:noFill/>
          <a:ln/>
        </p:spPr>
        <p:txBody>
          <a:bodyPr wrap="square" lIns="0" tIns="0" rIns="0" bIns="0" rtlCol="0" anchor="ctr"/>
          <a:lstStyle/>
          <a:p>
            <a:pPr indent="0" marL="0">
              <a:buNone/>
            </a:pPr>
            <a:r>
              <a:rPr lang="en-US" sz="1400" dirty="0">
                <a:solidFill>
                  <a:srgbClr val="F5F0E6"/>
                </a:solidFill>
                <a:latin typeface="Calibri" pitchFamily="34" charset="0"/>
                <a:ea typeface="Calibri" pitchFamily="34" charset="-122"/>
                <a:cs typeface="Calibri" pitchFamily="34" charset="-120"/>
              </a:rPr>
              <a:t>A manager can only touch their own restaurant. My first version just checked "are you a manager?" — which meant any manager could read every other restaurant's bookings. Checking the role is not the same as checking ownership, and that took me a while to see.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310"/>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5F0E6"/>
                </a:solidFill>
                <a:latin typeface="Cambria" pitchFamily="34" charset="0"/>
                <a:ea typeface="Cambria" pitchFamily="34" charset="-122"/>
                <a:cs typeface="Cambria" pitchFamily="34" charset="-120"/>
              </a:rPr>
              <a:t>How it is put together</a:t>
            </a:r>
            <a:endParaRPr lang="en-US" sz="36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indent="0" marL="0">
              <a:buNone/>
            </a:pPr>
            <a:r>
              <a:rPr lang="en-US" sz="1400" dirty="0">
                <a:solidFill>
                  <a:srgbClr val="97B0A2"/>
                </a:solidFill>
                <a:latin typeface="Calibri" pitchFamily="34" charset="0"/>
                <a:ea typeface="Calibri" pitchFamily="34" charset="-122"/>
                <a:cs typeface="Calibri" pitchFamily="34" charset="-120"/>
              </a:rPr>
              <a:t>React talks to an Express API, which talks to the database through Prisma</a:t>
            </a:r>
            <a:endParaRPr lang="en-US" sz="1400" dirty="0"/>
          </a:p>
        </p:txBody>
      </p:sp>
      <p:sp>
        <p:nvSpPr>
          <p:cNvPr id="4" name="Shape 2"/>
          <p:cNvSpPr/>
          <p:nvPr/>
        </p:nvSpPr>
        <p:spPr>
          <a:xfrm>
            <a:off x="640080" y="1828800"/>
            <a:ext cx="7498080" cy="694944"/>
          </a:xfrm>
          <a:prstGeom prst="roundRect">
            <a:avLst>
              <a:gd name="adj" fmla="val 11842"/>
            </a:avLst>
          </a:prstGeom>
          <a:solidFill>
            <a:srgbClr val="102B23"/>
          </a:solidFill>
          <a:ln w="12700">
            <a:solidFill>
              <a:srgbClr val="17392E"/>
            </a:solidFill>
            <a:prstDash val="solid"/>
          </a:ln>
        </p:spPr>
      </p:sp>
      <p:sp>
        <p:nvSpPr>
          <p:cNvPr id="5" name="Text 3"/>
          <p:cNvSpPr/>
          <p:nvPr/>
        </p:nvSpPr>
        <p:spPr>
          <a:xfrm>
            <a:off x="914400" y="1892808"/>
            <a:ext cx="6949440" cy="292608"/>
          </a:xfrm>
          <a:prstGeom prst="rect">
            <a:avLst/>
          </a:prstGeom>
          <a:noFill/>
          <a:ln/>
        </p:spPr>
        <p:txBody>
          <a:bodyPr wrap="square" lIns="0" tIns="0" rIns="0" bIns="0" rtlCol="0" anchor="ctr"/>
          <a:lstStyle/>
          <a:p>
            <a:pPr indent="0" marL="0">
              <a:buNone/>
            </a:pPr>
            <a:r>
              <a:rPr lang="en-US" sz="1500" b="1" dirty="0">
                <a:solidFill>
                  <a:srgbClr val="F5F0E6"/>
                </a:solidFill>
                <a:latin typeface="Calibri" pitchFamily="34" charset="0"/>
                <a:ea typeface="Calibri" pitchFamily="34" charset="-122"/>
                <a:cs typeface="Calibri" pitchFamily="34" charset="-120"/>
              </a:rPr>
              <a:t>React front end</a:t>
            </a:r>
            <a:endParaRPr lang="en-US" sz="1500" dirty="0"/>
          </a:p>
        </p:txBody>
      </p:sp>
      <p:sp>
        <p:nvSpPr>
          <p:cNvPr id="6" name="Text 4"/>
          <p:cNvSpPr/>
          <p:nvPr/>
        </p:nvSpPr>
        <p:spPr>
          <a:xfrm>
            <a:off x="914400" y="2194560"/>
            <a:ext cx="6949440" cy="256032"/>
          </a:xfrm>
          <a:prstGeom prst="rect">
            <a:avLst/>
          </a:prstGeom>
          <a:noFill/>
          <a:ln/>
        </p:spPr>
        <p:txBody>
          <a:bodyPr wrap="square" lIns="0" tIns="0" rIns="0" bIns="0" rtlCol="0" anchor="ctr"/>
          <a:lstStyle/>
          <a:p>
            <a:pPr indent="0" marL="0">
              <a:buNone/>
            </a:pPr>
            <a:r>
              <a:rPr lang="en-US" sz="1200" dirty="0">
                <a:solidFill>
                  <a:srgbClr val="97B0A2"/>
                </a:solidFill>
                <a:latin typeface="Calibri" pitchFamily="34" charset="0"/>
                <a:ea typeface="Calibri" pitchFamily="34" charset="-122"/>
                <a:cs typeface="Calibri" pitchFamily="34" charset="-120"/>
              </a:rPr>
              <a:t>Pages, components, Context for login state</a:t>
            </a:r>
            <a:endParaRPr lang="en-US" sz="1200" dirty="0"/>
          </a:p>
        </p:txBody>
      </p:sp>
      <p:sp>
        <p:nvSpPr>
          <p:cNvPr id="7" name="Shape 5"/>
          <p:cNvSpPr/>
          <p:nvPr/>
        </p:nvSpPr>
        <p:spPr>
          <a:xfrm>
            <a:off x="4389120" y="2523744"/>
            <a:ext cx="0" cy="128016"/>
          </a:xfrm>
          <a:prstGeom prst="line">
            <a:avLst/>
          </a:prstGeom>
          <a:noFill/>
          <a:ln w="19050">
            <a:solidFill>
              <a:srgbClr val="D4A937"/>
            </a:solidFill>
            <a:prstDash val="solid"/>
            <a:tailEnd type="triangle"/>
          </a:ln>
        </p:spPr>
      </p:sp>
      <p:sp>
        <p:nvSpPr>
          <p:cNvPr id="8" name="Shape 6"/>
          <p:cNvSpPr/>
          <p:nvPr/>
        </p:nvSpPr>
        <p:spPr>
          <a:xfrm>
            <a:off x="640080" y="2651760"/>
            <a:ext cx="7498080" cy="694944"/>
          </a:xfrm>
          <a:prstGeom prst="roundRect">
            <a:avLst>
              <a:gd name="adj" fmla="val 11842"/>
            </a:avLst>
          </a:prstGeom>
          <a:solidFill>
            <a:srgbClr val="102B23"/>
          </a:solidFill>
          <a:ln w="12700">
            <a:solidFill>
              <a:srgbClr val="17392E"/>
            </a:solidFill>
            <a:prstDash val="solid"/>
          </a:ln>
        </p:spPr>
      </p:sp>
      <p:sp>
        <p:nvSpPr>
          <p:cNvPr id="9" name="Text 7"/>
          <p:cNvSpPr/>
          <p:nvPr/>
        </p:nvSpPr>
        <p:spPr>
          <a:xfrm>
            <a:off x="914400" y="2715768"/>
            <a:ext cx="6949440" cy="292608"/>
          </a:xfrm>
          <a:prstGeom prst="rect">
            <a:avLst/>
          </a:prstGeom>
          <a:noFill/>
          <a:ln/>
        </p:spPr>
        <p:txBody>
          <a:bodyPr wrap="square" lIns="0" tIns="0" rIns="0" bIns="0" rtlCol="0" anchor="ctr"/>
          <a:lstStyle/>
          <a:p>
            <a:pPr indent="0" marL="0">
              <a:buNone/>
            </a:pPr>
            <a:r>
              <a:rPr lang="en-US" sz="1500" b="1" dirty="0">
                <a:solidFill>
                  <a:srgbClr val="F5F0E6"/>
                </a:solidFill>
                <a:latin typeface="Calibri" pitchFamily="34" charset="0"/>
                <a:ea typeface="Calibri" pitchFamily="34" charset="-122"/>
                <a:cs typeface="Calibri" pitchFamily="34" charset="-120"/>
              </a:rPr>
              <a:t>Express — middleware</a:t>
            </a:r>
            <a:endParaRPr lang="en-US" sz="1500" dirty="0"/>
          </a:p>
        </p:txBody>
      </p:sp>
      <p:sp>
        <p:nvSpPr>
          <p:cNvPr id="10" name="Text 8"/>
          <p:cNvSpPr/>
          <p:nvPr/>
        </p:nvSpPr>
        <p:spPr>
          <a:xfrm>
            <a:off x="914400" y="3017520"/>
            <a:ext cx="6949440" cy="256032"/>
          </a:xfrm>
          <a:prstGeom prst="rect">
            <a:avLst/>
          </a:prstGeom>
          <a:noFill/>
          <a:ln/>
        </p:spPr>
        <p:txBody>
          <a:bodyPr wrap="square" lIns="0" tIns="0" rIns="0" bIns="0" rtlCol="0" anchor="ctr"/>
          <a:lstStyle/>
          <a:p>
            <a:pPr indent="0" marL="0">
              <a:buNone/>
            </a:pPr>
            <a:r>
              <a:rPr lang="en-US" sz="1200" dirty="0">
                <a:solidFill>
                  <a:srgbClr val="97B0A2"/>
                </a:solidFill>
                <a:latin typeface="Calibri" pitchFamily="34" charset="0"/>
                <a:ea typeface="Calibri" pitchFamily="34" charset="-122"/>
                <a:cs typeface="Calibri" pitchFamily="34" charset="-120"/>
              </a:rPr>
              <a:t>Request id, security headers, rate limits, then check the token</a:t>
            </a:r>
            <a:endParaRPr lang="en-US" sz="1200" dirty="0"/>
          </a:p>
        </p:txBody>
      </p:sp>
      <p:sp>
        <p:nvSpPr>
          <p:cNvPr id="11" name="Shape 9"/>
          <p:cNvSpPr/>
          <p:nvPr/>
        </p:nvSpPr>
        <p:spPr>
          <a:xfrm>
            <a:off x="4389120" y="3346704"/>
            <a:ext cx="0" cy="128016"/>
          </a:xfrm>
          <a:prstGeom prst="line">
            <a:avLst/>
          </a:prstGeom>
          <a:noFill/>
          <a:ln w="19050">
            <a:solidFill>
              <a:srgbClr val="D4A937"/>
            </a:solidFill>
            <a:prstDash val="solid"/>
            <a:tailEnd type="triangle"/>
          </a:ln>
        </p:spPr>
      </p:sp>
      <p:sp>
        <p:nvSpPr>
          <p:cNvPr id="12" name="Shape 10"/>
          <p:cNvSpPr/>
          <p:nvPr/>
        </p:nvSpPr>
        <p:spPr>
          <a:xfrm>
            <a:off x="640080" y="3474720"/>
            <a:ext cx="7498080" cy="694944"/>
          </a:xfrm>
          <a:prstGeom prst="roundRect">
            <a:avLst>
              <a:gd name="adj" fmla="val 11842"/>
            </a:avLst>
          </a:prstGeom>
          <a:solidFill>
            <a:srgbClr val="102B23"/>
          </a:solidFill>
          <a:ln w="12700">
            <a:solidFill>
              <a:srgbClr val="17392E"/>
            </a:solidFill>
            <a:prstDash val="solid"/>
          </a:ln>
        </p:spPr>
      </p:sp>
      <p:sp>
        <p:nvSpPr>
          <p:cNvPr id="13" name="Text 11"/>
          <p:cNvSpPr/>
          <p:nvPr/>
        </p:nvSpPr>
        <p:spPr>
          <a:xfrm>
            <a:off x="914400" y="3538728"/>
            <a:ext cx="6949440" cy="292608"/>
          </a:xfrm>
          <a:prstGeom prst="rect">
            <a:avLst/>
          </a:prstGeom>
          <a:noFill/>
          <a:ln/>
        </p:spPr>
        <p:txBody>
          <a:bodyPr wrap="square" lIns="0" tIns="0" rIns="0" bIns="0" rtlCol="0" anchor="ctr"/>
          <a:lstStyle/>
          <a:p>
            <a:pPr indent="0" marL="0">
              <a:buNone/>
            </a:pPr>
            <a:r>
              <a:rPr lang="en-US" sz="1500" b="1" dirty="0">
                <a:solidFill>
                  <a:srgbClr val="F5F0E6"/>
                </a:solidFill>
                <a:latin typeface="Calibri" pitchFamily="34" charset="0"/>
                <a:ea typeface="Calibri" pitchFamily="34" charset="-122"/>
                <a:cs typeface="Calibri" pitchFamily="34" charset="-120"/>
              </a:rPr>
              <a:t>Services</a:t>
            </a:r>
            <a:endParaRPr lang="en-US" sz="1500" dirty="0"/>
          </a:p>
        </p:txBody>
      </p:sp>
      <p:sp>
        <p:nvSpPr>
          <p:cNvPr id="14" name="Text 12"/>
          <p:cNvSpPr/>
          <p:nvPr/>
        </p:nvSpPr>
        <p:spPr>
          <a:xfrm>
            <a:off x="914400" y="3840480"/>
            <a:ext cx="6949440" cy="256032"/>
          </a:xfrm>
          <a:prstGeom prst="rect">
            <a:avLst/>
          </a:prstGeom>
          <a:noFill/>
          <a:ln/>
        </p:spPr>
        <p:txBody>
          <a:bodyPr wrap="square" lIns="0" tIns="0" rIns="0" bIns="0" rtlCol="0" anchor="ctr"/>
          <a:lstStyle/>
          <a:p>
            <a:pPr indent="0" marL="0">
              <a:buNone/>
            </a:pPr>
            <a:r>
              <a:rPr lang="en-US" sz="1200" dirty="0">
                <a:solidFill>
                  <a:srgbClr val="97B0A2"/>
                </a:solidFill>
                <a:latin typeface="Calibri" pitchFamily="34" charset="0"/>
                <a:ea typeface="Calibri" pitchFamily="34" charset="-122"/>
                <a:cs typeface="Calibri" pitchFamily="34" charset="-120"/>
              </a:rPr>
              <a:t>Where the actual logic lives</a:t>
            </a:r>
            <a:endParaRPr lang="en-US" sz="1200" dirty="0"/>
          </a:p>
        </p:txBody>
      </p:sp>
      <p:sp>
        <p:nvSpPr>
          <p:cNvPr id="15" name="Shape 13"/>
          <p:cNvSpPr/>
          <p:nvPr/>
        </p:nvSpPr>
        <p:spPr>
          <a:xfrm>
            <a:off x="4389120" y="4169664"/>
            <a:ext cx="0" cy="128016"/>
          </a:xfrm>
          <a:prstGeom prst="line">
            <a:avLst/>
          </a:prstGeom>
          <a:noFill/>
          <a:ln w="19050">
            <a:solidFill>
              <a:srgbClr val="D4A937"/>
            </a:solidFill>
            <a:prstDash val="solid"/>
            <a:tailEnd type="triangle"/>
          </a:ln>
        </p:spPr>
      </p:sp>
      <p:sp>
        <p:nvSpPr>
          <p:cNvPr id="16" name="Shape 14"/>
          <p:cNvSpPr/>
          <p:nvPr/>
        </p:nvSpPr>
        <p:spPr>
          <a:xfrm>
            <a:off x="640080" y="4297680"/>
            <a:ext cx="7498080" cy="694944"/>
          </a:xfrm>
          <a:prstGeom prst="roundRect">
            <a:avLst>
              <a:gd name="adj" fmla="val 11842"/>
            </a:avLst>
          </a:prstGeom>
          <a:solidFill>
            <a:srgbClr val="17392E"/>
          </a:solidFill>
          <a:ln w="12700">
            <a:solidFill>
              <a:srgbClr val="17392E"/>
            </a:solidFill>
            <a:prstDash val="solid"/>
          </a:ln>
        </p:spPr>
      </p:sp>
      <p:sp>
        <p:nvSpPr>
          <p:cNvPr id="17" name="Text 15"/>
          <p:cNvSpPr/>
          <p:nvPr/>
        </p:nvSpPr>
        <p:spPr>
          <a:xfrm>
            <a:off x="914400" y="4361688"/>
            <a:ext cx="6949440" cy="292608"/>
          </a:xfrm>
          <a:prstGeom prst="rect">
            <a:avLst/>
          </a:prstGeom>
          <a:noFill/>
          <a:ln/>
        </p:spPr>
        <p:txBody>
          <a:bodyPr wrap="square" lIns="0" tIns="0" rIns="0" bIns="0" rtlCol="0" anchor="ctr"/>
          <a:lstStyle/>
          <a:p>
            <a:pPr indent="0" marL="0">
              <a:buNone/>
            </a:pPr>
            <a:r>
              <a:rPr lang="en-US" sz="1500" b="1" dirty="0">
                <a:solidFill>
                  <a:srgbClr val="F5D77A"/>
                </a:solidFill>
                <a:latin typeface="Calibri" pitchFamily="34" charset="0"/>
                <a:ea typeface="Calibri" pitchFamily="34" charset="-122"/>
                <a:cs typeface="Calibri" pitchFamily="34" charset="-120"/>
              </a:rPr>
              <a:t>availability.js</a:t>
            </a:r>
            <a:endParaRPr lang="en-US" sz="1500" dirty="0"/>
          </a:p>
        </p:txBody>
      </p:sp>
      <p:sp>
        <p:nvSpPr>
          <p:cNvPr id="18" name="Text 16"/>
          <p:cNvSpPr/>
          <p:nvPr/>
        </p:nvSpPr>
        <p:spPr>
          <a:xfrm>
            <a:off x="914400" y="4663440"/>
            <a:ext cx="6949440" cy="256032"/>
          </a:xfrm>
          <a:prstGeom prst="rect">
            <a:avLst/>
          </a:prstGeom>
          <a:noFill/>
          <a:ln/>
        </p:spPr>
        <p:txBody>
          <a:bodyPr wrap="square" lIns="0" tIns="0" rIns="0" bIns="0" rtlCol="0" anchor="ctr"/>
          <a:lstStyle/>
          <a:p>
            <a:pPr indent="0" marL="0">
              <a:buNone/>
            </a:pPr>
            <a:r>
              <a:rPr lang="en-US" sz="1200" dirty="0">
                <a:solidFill>
                  <a:srgbClr val="97B0A2"/>
                </a:solidFill>
                <a:latin typeface="Calibri" pitchFamily="34" charset="0"/>
                <a:ea typeface="Calibri" pitchFamily="34" charset="-122"/>
                <a:cs typeface="Calibri" pitchFamily="34" charset="-120"/>
              </a:rPr>
              <a:t>The booking rules. No database, no Express — just functions.</a:t>
            </a:r>
            <a:endParaRPr lang="en-US" sz="1200" dirty="0"/>
          </a:p>
        </p:txBody>
      </p:sp>
      <p:sp>
        <p:nvSpPr>
          <p:cNvPr id="19" name="Shape 17"/>
          <p:cNvSpPr/>
          <p:nvPr/>
        </p:nvSpPr>
        <p:spPr>
          <a:xfrm>
            <a:off x="4389120" y="4992624"/>
            <a:ext cx="0" cy="128016"/>
          </a:xfrm>
          <a:prstGeom prst="line">
            <a:avLst/>
          </a:prstGeom>
          <a:noFill/>
          <a:ln w="19050">
            <a:solidFill>
              <a:srgbClr val="D4A937"/>
            </a:solidFill>
            <a:prstDash val="solid"/>
            <a:tailEnd type="triangle"/>
          </a:ln>
        </p:spPr>
      </p:sp>
      <p:sp>
        <p:nvSpPr>
          <p:cNvPr id="20" name="Shape 18"/>
          <p:cNvSpPr/>
          <p:nvPr/>
        </p:nvSpPr>
        <p:spPr>
          <a:xfrm>
            <a:off x="640080" y="5120640"/>
            <a:ext cx="7498080" cy="694944"/>
          </a:xfrm>
          <a:prstGeom prst="roundRect">
            <a:avLst>
              <a:gd name="adj" fmla="val 11842"/>
            </a:avLst>
          </a:prstGeom>
          <a:solidFill>
            <a:srgbClr val="102B23"/>
          </a:solidFill>
          <a:ln w="12700">
            <a:solidFill>
              <a:srgbClr val="17392E"/>
            </a:solidFill>
            <a:prstDash val="solid"/>
          </a:ln>
        </p:spPr>
      </p:sp>
      <p:sp>
        <p:nvSpPr>
          <p:cNvPr id="21" name="Text 19"/>
          <p:cNvSpPr/>
          <p:nvPr/>
        </p:nvSpPr>
        <p:spPr>
          <a:xfrm>
            <a:off x="914400" y="5184648"/>
            <a:ext cx="6949440" cy="292608"/>
          </a:xfrm>
          <a:prstGeom prst="rect">
            <a:avLst/>
          </a:prstGeom>
          <a:noFill/>
          <a:ln/>
        </p:spPr>
        <p:txBody>
          <a:bodyPr wrap="square" lIns="0" tIns="0" rIns="0" bIns="0" rtlCol="0" anchor="ctr"/>
          <a:lstStyle/>
          <a:p>
            <a:pPr indent="0" marL="0">
              <a:buNone/>
            </a:pPr>
            <a:r>
              <a:rPr lang="en-US" sz="1500" b="1" dirty="0">
                <a:solidFill>
                  <a:srgbClr val="F5F0E6"/>
                </a:solidFill>
                <a:latin typeface="Calibri" pitchFamily="34" charset="0"/>
                <a:ea typeface="Calibri" pitchFamily="34" charset="-122"/>
                <a:cs typeface="Calibri" pitchFamily="34" charset="-120"/>
              </a:rPr>
              <a:t>Prisma → SQLite</a:t>
            </a:r>
            <a:endParaRPr lang="en-US" sz="1500" dirty="0"/>
          </a:p>
        </p:txBody>
      </p:sp>
      <p:sp>
        <p:nvSpPr>
          <p:cNvPr id="22" name="Text 20"/>
          <p:cNvSpPr/>
          <p:nvPr/>
        </p:nvSpPr>
        <p:spPr>
          <a:xfrm>
            <a:off x="914400" y="5486400"/>
            <a:ext cx="6949440" cy="256032"/>
          </a:xfrm>
          <a:prstGeom prst="rect">
            <a:avLst/>
          </a:prstGeom>
          <a:noFill/>
          <a:ln/>
        </p:spPr>
        <p:txBody>
          <a:bodyPr wrap="square" lIns="0" tIns="0" rIns="0" bIns="0" rtlCol="0" anchor="ctr"/>
          <a:lstStyle/>
          <a:p>
            <a:pPr indent="0" marL="0">
              <a:buNone/>
            </a:pPr>
            <a:r>
              <a:rPr lang="en-US" sz="1200" dirty="0">
                <a:solidFill>
                  <a:srgbClr val="97B0A2"/>
                </a:solidFill>
                <a:latin typeface="Calibri" pitchFamily="34" charset="0"/>
                <a:ea typeface="Calibri" pitchFamily="34" charset="-122"/>
                <a:cs typeface="Calibri" pitchFamily="34" charset="-120"/>
              </a:rPr>
              <a:t>Would be PostgreSQL if I deployed it</a:t>
            </a:r>
            <a:endParaRPr lang="en-US" sz="1200" dirty="0"/>
          </a:p>
        </p:txBody>
      </p:sp>
      <p:sp>
        <p:nvSpPr>
          <p:cNvPr id="23" name="Shape 21"/>
          <p:cNvSpPr/>
          <p:nvPr/>
        </p:nvSpPr>
        <p:spPr>
          <a:xfrm>
            <a:off x="8503920" y="1828800"/>
            <a:ext cx="3017520" cy="4114800"/>
          </a:xfrm>
          <a:prstGeom prst="roundRect">
            <a:avLst>
              <a:gd name="adj" fmla="val 2727"/>
            </a:avLst>
          </a:prstGeom>
          <a:solidFill>
            <a:srgbClr val="102B23"/>
          </a:solidFill>
          <a:ln w="12700">
            <a:solidFill>
              <a:srgbClr val="17392E"/>
            </a:solidFill>
            <a:prstDash val="solid"/>
          </a:ln>
        </p:spPr>
      </p:sp>
      <p:sp>
        <p:nvSpPr>
          <p:cNvPr id="24" name="Text 22"/>
          <p:cNvSpPr/>
          <p:nvPr/>
        </p:nvSpPr>
        <p:spPr>
          <a:xfrm>
            <a:off x="8778240" y="2057400"/>
            <a:ext cx="2468880" cy="320040"/>
          </a:xfrm>
          <a:prstGeom prst="rect">
            <a:avLst/>
          </a:prstGeom>
          <a:noFill/>
          <a:ln/>
        </p:spPr>
        <p:txBody>
          <a:bodyPr wrap="square" lIns="0" tIns="0" rIns="0" bIns="0" rtlCol="0" anchor="ctr"/>
          <a:lstStyle/>
          <a:p>
            <a:pPr indent="0" marL="0">
              <a:buNone/>
            </a:pPr>
            <a:r>
              <a:rPr lang="en-US" sz="1700" b="1" dirty="0">
                <a:solidFill>
                  <a:srgbClr val="D4A937"/>
                </a:solidFill>
                <a:latin typeface="Cambria" pitchFamily="34" charset="0"/>
                <a:ea typeface="Cambria" pitchFamily="34" charset="-122"/>
                <a:cs typeface="Cambria" pitchFamily="34" charset="-120"/>
              </a:rPr>
              <a:t>Why in layers</a:t>
            </a:r>
            <a:endParaRPr lang="en-US" sz="1700" dirty="0"/>
          </a:p>
        </p:txBody>
      </p:sp>
      <p:sp>
        <p:nvSpPr>
          <p:cNvPr id="25" name="Text 23"/>
          <p:cNvSpPr/>
          <p:nvPr/>
        </p:nvSpPr>
        <p:spPr>
          <a:xfrm>
            <a:off x="8778240" y="2514600"/>
            <a:ext cx="2468880" cy="320040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I kept the routes away from the database and the logic away from requests and responses.</a:t>
            </a:r>
            <a:endParaRPr lang="en-US" sz="1250" dirty="0"/>
          </a:p>
          <a:p>
            <a:pPr indent="0" marL="0">
              <a:buNone/>
            </a:pPr>
            <a:endParaRPr lang="en-US" sz="1250" dirty="0"/>
          </a:p>
          <a:p>
            <a:pPr indent="0" marL="0">
              <a:buNone/>
            </a:pPr>
            <a:r>
              <a:rPr lang="en-US" sz="1250" dirty="0">
                <a:solidFill>
                  <a:srgbClr val="F5F0E6"/>
                </a:solidFill>
                <a:latin typeface="Calibri" pitchFamily="34" charset="0"/>
                <a:ea typeface="Calibri" pitchFamily="34" charset="-122"/>
                <a:cs typeface="Calibri" pitchFamily="34" charset="-120"/>
              </a:rPr>
              <a:t>The reason is the fourth box: because the booking rules do not touch anything, I can test them directly without starting a server.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310"/>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5F0E6"/>
                </a:solidFill>
                <a:latin typeface="Cambria" pitchFamily="34" charset="0"/>
                <a:ea typeface="Cambria" pitchFamily="34" charset="-122"/>
                <a:cs typeface="Cambria" pitchFamily="34" charset="-120"/>
              </a:rPr>
              <a:t>The bit that was actually difficult</a:t>
            </a:r>
            <a:endParaRPr lang="en-US" sz="36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indent="0" marL="0">
              <a:buNone/>
            </a:pPr>
            <a:r>
              <a:rPr lang="en-US" sz="1400" dirty="0">
                <a:solidFill>
                  <a:srgbClr val="97B0A2"/>
                </a:solidFill>
                <a:latin typeface="Calibri" pitchFamily="34" charset="0"/>
                <a:ea typeface="Calibri" pitchFamily="34" charset="-122"/>
                <a:cs typeface="Calibri" pitchFamily="34" charset="-120"/>
              </a:rPr>
              <a:t>Deciding whether a table is free</a:t>
            </a:r>
            <a:endParaRPr lang="en-US" sz="1400" dirty="0"/>
          </a:p>
        </p:txBody>
      </p:sp>
      <p:sp>
        <p:nvSpPr>
          <p:cNvPr id="4" name="Shape 2"/>
          <p:cNvSpPr/>
          <p:nvPr/>
        </p:nvSpPr>
        <p:spPr>
          <a:xfrm>
            <a:off x="640080" y="1783080"/>
            <a:ext cx="10881360" cy="1097280"/>
          </a:xfrm>
          <a:prstGeom prst="roundRect">
            <a:avLst>
              <a:gd name="adj" fmla="val 7500"/>
            </a:avLst>
          </a:prstGeom>
          <a:solidFill>
            <a:srgbClr val="17392E"/>
          </a:solidFill>
          <a:ln w="12700">
            <a:solidFill>
              <a:srgbClr val="17392E"/>
            </a:solidFill>
            <a:prstDash val="solid"/>
          </a:ln>
        </p:spPr>
      </p:sp>
      <p:sp>
        <p:nvSpPr>
          <p:cNvPr id="5" name="Text 3"/>
          <p:cNvSpPr/>
          <p:nvPr/>
        </p:nvSpPr>
        <p:spPr>
          <a:xfrm>
            <a:off x="960120" y="2057400"/>
            <a:ext cx="10241280" cy="502920"/>
          </a:xfrm>
          <a:prstGeom prst="rect">
            <a:avLst/>
          </a:prstGeom>
          <a:noFill/>
          <a:ln/>
        </p:spPr>
        <p:txBody>
          <a:bodyPr wrap="square" lIns="0" tIns="0" rIns="0" bIns="0" rtlCol="0" anchor="ctr"/>
          <a:lstStyle/>
          <a:p>
            <a:pPr indent="0" marL="0">
              <a:buNone/>
            </a:pPr>
            <a:r>
              <a:rPr lang="en-US" sz="2100" b="1" dirty="0">
                <a:solidFill>
                  <a:srgbClr val="F5D77A"/>
                </a:solidFill>
                <a:latin typeface="Courier New" pitchFamily="34" charset="0"/>
                <a:ea typeface="Courier New" pitchFamily="34" charset="-122"/>
                <a:cs typeface="Courier New" pitchFamily="34" charset="-120"/>
              </a:rPr>
              <a:t>a.startsAt &lt; b.endsAt  &amp;&amp;  a.endsAt &gt; b.startsAt</a:t>
            </a:r>
            <a:endParaRPr lang="en-US" sz="2100" dirty="0"/>
          </a:p>
        </p:txBody>
      </p:sp>
      <p:sp>
        <p:nvSpPr>
          <p:cNvPr id="6" name="Text 4"/>
          <p:cNvSpPr/>
          <p:nvPr/>
        </p:nvSpPr>
        <p:spPr>
          <a:xfrm>
            <a:off x="640080" y="3063240"/>
            <a:ext cx="10881360" cy="320040"/>
          </a:xfrm>
          <a:prstGeom prst="rect">
            <a:avLst/>
          </a:prstGeom>
          <a:noFill/>
          <a:ln/>
        </p:spPr>
        <p:txBody>
          <a:bodyPr wrap="square" lIns="0" tIns="0" rIns="0" bIns="0" rtlCol="0" anchor="ctr"/>
          <a:lstStyle/>
          <a:p>
            <a:pPr indent="0" marL="0">
              <a:buNone/>
            </a:pPr>
            <a:r>
              <a:rPr lang="en-US" sz="1400" i="1" dirty="0">
                <a:solidFill>
                  <a:srgbClr val="97B0A2"/>
                </a:solidFill>
                <a:latin typeface="Calibri" pitchFamily="34" charset="0"/>
                <a:ea typeface="Calibri" pitchFamily="34" charset="-122"/>
                <a:cs typeface="Calibri" pitchFamily="34" charset="-120"/>
              </a:rPr>
              <a:t>One line, but I got each part of it wrong at least once:</a:t>
            </a:r>
            <a:endParaRPr lang="en-US" sz="1400" dirty="0"/>
          </a:p>
        </p:txBody>
      </p:sp>
      <p:sp>
        <p:nvSpPr>
          <p:cNvPr id="7" name="Shape 5"/>
          <p:cNvSpPr/>
          <p:nvPr/>
        </p:nvSpPr>
        <p:spPr>
          <a:xfrm>
            <a:off x="640080" y="3520440"/>
            <a:ext cx="420624" cy="420624"/>
          </a:xfrm>
          <a:prstGeom prst="ellipse">
            <a:avLst/>
          </a:prstGeom>
          <a:solidFill>
            <a:srgbClr val="D4A937"/>
          </a:solidFill>
          <a:ln/>
        </p:spPr>
      </p:sp>
      <p:sp>
        <p:nvSpPr>
          <p:cNvPr id="8" name="Text 6"/>
          <p:cNvSpPr/>
          <p:nvPr/>
        </p:nvSpPr>
        <p:spPr>
          <a:xfrm>
            <a:off x="640080" y="3520440"/>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188720" y="3483864"/>
            <a:ext cx="10241280" cy="310896"/>
          </a:xfrm>
          <a:prstGeom prst="rect">
            <a:avLst/>
          </a:prstGeom>
          <a:noFill/>
          <a:ln/>
        </p:spPr>
        <p:txBody>
          <a:bodyPr wrap="square" lIns="0" tIns="0" rIns="0" bIns="0" rtlCol="0" anchor="ctr"/>
          <a:lstStyle/>
          <a:p>
            <a:pPr indent="0" marL="0">
              <a:buNone/>
            </a:pPr>
            <a:r>
              <a:rPr lang="en-US" sz="1500" b="1" dirty="0">
                <a:solidFill>
                  <a:srgbClr val="F5F0E6"/>
                </a:solidFill>
                <a:latin typeface="Calibri" pitchFamily="34" charset="0"/>
                <a:ea typeface="Calibri" pitchFamily="34" charset="-122"/>
                <a:cs typeface="Calibri" pitchFamily="34" charset="-120"/>
              </a:rPr>
              <a:t>Should 20:00 to 20:00 count as a clash?</a:t>
            </a:r>
            <a:endParaRPr lang="en-US" sz="1500" dirty="0"/>
          </a:p>
        </p:txBody>
      </p:sp>
      <p:sp>
        <p:nvSpPr>
          <p:cNvPr id="10" name="Text 8"/>
          <p:cNvSpPr/>
          <p:nvPr/>
        </p:nvSpPr>
        <p:spPr>
          <a:xfrm>
            <a:off x="1188720" y="3794760"/>
            <a:ext cx="10058400" cy="548640"/>
          </a:xfrm>
          <a:prstGeom prst="rect">
            <a:avLst/>
          </a:prstGeom>
          <a:noFill/>
          <a:ln/>
        </p:spPr>
        <p:txBody>
          <a:bodyPr wrap="square" lIns="0" tIns="0" rIns="0" bIns="0" rtlCol="0" anchor="ctr"/>
          <a:lstStyle/>
          <a:p>
            <a:pPr indent="0" marL="0">
              <a:buNone/>
            </a:pPr>
            <a:r>
              <a:rPr lang="en-US" sz="1250" dirty="0">
                <a:solidFill>
                  <a:srgbClr val="97B0A2"/>
                </a:solidFill>
                <a:latin typeface="Calibri" pitchFamily="34" charset="0"/>
                <a:ea typeface="Calibri" pitchFamily="34" charset="-122"/>
                <a:cs typeface="Calibri" pitchFamily="34" charset="-120"/>
              </a:rPr>
              <a:t>No. If a table is free at 20:00 the restaurant will seat you at 20:00. I used &lt; and &gt; rather than &lt;= and &gt;=, which sounds trivial and is not.</a:t>
            </a:r>
            <a:endParaRPr lang="en-US" sz="1250" dirty="0"/>
          </a:p>
        </p:txBody>
      </p:sp>
      <p:sp>
        <p:nvSpPr>
          <p:cNvPr id="11" name="Shape 9"/>
          <p:cNvSpPr/>
          <p:nvPr/>
        </p:nvSpPr>
        <p:spPr>
          <a:xfrm>
            <a:off x="640080" y="4480560"/>
            <a:ext cx="420624" cy="420624"/>
          </a:xfrm>
          <a:prstGeom prst="ellipse">
            <a:avLst/>
          </a:prstGeom>
          <a:solidFill>
            <a:srgbClr val="D4A937"/>
          </a:solidFill>
          <a:ln/>
        </p:spPr>
      </p:sp>
      <p:sp>
        <p:nvSpPr>
          <p:cNvPr id="12" name="Text 10"/>
          <p:cNvSpPr/>
          <p:nvPr/>
        </p:nvSpPr>
        <p:spPr>
          <a:xfrm>
            <a:off x="640080" y="4480560"/>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188720" y="4443984"/>
            <a:ext cx="10241280" cy="310896"/>
          </a:xfrm>
          <a:prstGeom prst="rect">
            <a:avLst/>
          </a:prstGeom>
          <a:noFill/>
          <a:ln/>
        </p:spPr>
        <p:txBody>
          <a:bodyPr wrap="square" lIns="0" tIns="0" rIns="0" bIns="0" rtlCol="0" anchor="ctr"/>
          <a:lstStyle/>
          <a:p>
            <a:pPr indent="0" marL="0">
              <a:buNone/>
            </a:pPr>
            <a:r>
              <a:rPr lang="en-US" sz="1500" b="1" dirty="0">
                <a:solidFill>
                  <a:srgbClr val="F5F0E6"/>
                </a:solidFill>
                <a:latin typeface="Calibri" pitchFamily="34" charset="0"/>
                <a:ea typeface="Calibri" pitchFamily="34" charset="-122"/>
                <a:cs typeface="Calibri" pitchFamily="34" charset="-120"/>
              </a:rPr>
              <a:t>Which table should a couple get?</a:t>
            </a:r>
            <a:endParaRPr lang="en-US" sz="1500" dirty="0"/>
          </a:p>
        </p:txBody>
      </p:sp>
      <p:sp>
        <p:nvSpPr>
          <p:cNvPr id="14" name="Text 12"/>
          <p:cNvSpPr/>
          <p:nvPr/>
        </p:nvSpPr>
        <p:spPr>
          <a:xfrm>
            <a:off x="1188720" y="4754880"/>
            <a:ext cx="10058400" cy="548640"/>
          </a:xfrm>
          <a:prstGeom prst="rect">
            <a:avLst/>
          </a:prstGeom>
          <a:noFill/>
          <a:ln/>
        </p:spPr>
        <p:txBody>
          <a:bodyPr wrap="square" lIns="0" tIns="0" rIns="0" bIns="0" rtlCol="0" anchor="ctr"/>
          <a:lstStyle/>
          <a:p>
            <a:pPr indent="0" marL="0">
              <a:buNone/>
            </a:pPr>
            <a:r>
              <a:rPr lang="en-US" sz="1250" dirty="0">
                <a:solidFill>
                  <a:srgbClr val="97B0A2"/>
                </a:solidFill>
                <a:latin typeface="Calibri" pitchFamily="34" charset="0"/>
                <a:ea typeface="Calibri" pitchFamily="34" charset="-122"/>
                <a:cs typeface="Calibri" pitchFamily="34" charset="-120"/>
              </a:rPr>
              <a:t>The smallest one that fits. My first version gave them whatever was free first, which meant a six-top could get used up by two people.</a:t>
            </a:r>
            <a:endParaRPr lang="en-US" sz="1250" dirty="0"/>
          </a:p>
        </p:txBody>
      </p:sp>
      <p:sp>
        <p:nvSpPr>
          <p:cNvPr id="15" name="Shape 13"/>
          <p:cNvSpPr/>
          <p:nvPr/>
        </p:nvSpPr>
        <p:spPr>
          <a:xfrm>
            <a:off x="640080" y="5440680"/>
            <a:ext cx="420624" cy="420624"/>
          </a:xfrm>
          <a:prstGeom prst="ellipse">
            <a:avLst/>
          </a:prstGeom>
          <a:solidFill>
            <a:srgbClr val="D4A937"/>
          </a:solidFill>
          <a:ln/>
        </p:spPr>
      </p:sp>
      <p:sp>
        <p:nvSpPr>
          <p:cNvPr id="16" name="Text 14"/>
          <p:cNvSpPr/>
          <p:nvPr/>
        </p:nvSpPr>
        <p:spPr>
          <a:xfrm>
            <a:off x="640080" y="5440680"/>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188720" y="5404104"/>
            <a:ext cx="10241280" cy="310896"/>
          </a:xfrm>
          <a:prstGeom prst="rect">
            <a:avLst/>
          </a:prstGeom>
          <a:noFill/>
          <a:ln/>
        </p:spPr>
        <p:txBody>
          <a:bodyPr wrap="square" lIns="0" tIns="0" rIns="0" bIns="0" rtlCol="0" anchor="ctr"/>
          <a:lstStyle/>
          <a:p>
            <a:pPr indent="0" marL="0">
              <a:buNone/>
            </a:pPr>
            <a:r>
              <a:rPr lang="en-US" sz="1500" b="1" dirty="0">
                <a:solidFill>
                  <a:srgbClr val="F5F0E6"/>
                </a:solidFill>
                <a:latin typeface="Calibri" pitchFamily="34" charset="0"/>
                <a:ea typeface="Calibri" pitchFamily="34" charset="-122"/>
                <a:cs typeface="Calibri" pitchFamily="34" charset="-120"/>
              </a:rPr>
              <a:t>What if two people book at the same moment?</a:t>
            </a:r>
            <a:endParaRPr lang="en-US" sz="1500" dirty="0"/>
          </a:p>
        </p:txBody>
      </p:sp>
      <p:sp>
        <p:nvSpPr>
          <p:cNvPr id="18" name="Text 16"/>
          <p:cNvSpPr/>
          <p:nvPr/>
        </p:nvSpPr>
        <p:spPr>
          <a:xfrm>
            <a:off x="1188720" y="5715000"/>
            <a:ext cx="10058400" cy="548640"/>
          </a:xfrm>
          <a:prstGeom prst="rect">
            <a:avLst/>
          </a:prstGeom>
          <a:noFill/>
          <a:ln/>
        </p:spPr>
        <p:txBody>
          <a:bodyPr wrap="square" lIns="0" tIns="0" rIns="0" bIns="0" rtlCol="0" anchor="ctr"/>
          <a:lstStyle/>
          <a:p>
            <a:pPr indent="0" marL="0">
              <a:buNone/>
            </a:pPr>
            <a:r>
              <a:rPr lang="en-US" sz="1250" dirty="0">
                <a:solidFill>
                  <a:srgbClr val="97B0A2"/>
                </a:solidFill>
                <a:latin typeface="Calibri" pitchFamily="34" charset="0"/>
                <a:ea typeface="Calibri" pitchFamily="34" charset="-122"/>
                <a:cs typeface="Calibri" pitchFamily="34" charset="-120"/>
              </a:rPr>
              <a:t>Checking and then inserting leaves a gap where both see the table free. I had to re-check inside a database transaction.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310"/>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5F0E6"/>
                </a:solidFill>
                <a:latin typeface="Cambria" pitchFamily="34" charset="0"/>
                <a:ea typeface="Cambria" pitchFamily="34" charset="-122"/>
                <a:cs typeface="Cambria" pitchFamily="34" charset="-120"/>
              </a:rPr>
              <a:t>Keeping it secure</a:t>
            </a:r>
            <a:endParaRPr lang="en-US" sz="36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indent="0" marL="0">
              <a:buNone/>
            </a:pPr>
            <a:r>
              <a:rPr lang="en-US" sz="1400" dirty="0">
                <a:solidFill>
                  <a:srgbClr val="97B0A2"/>
                </a:solidFill>
                <a:latin typeface="Calibri" pitchFamily="34" charset="0"/>
                <a:ea typeface="Calibri" pitchFamily="34" charset="-122"/>
                <a:cs typeface="Calibri" pitchFamily="34" charset="-120"/>
              </a:rPr>
              <a:t>What I did, and what I learned doing it</a:t>
            </a:r>
            <a:endParaRPr lang="en-US" sz="1400" dirty="0"/>
          </a:p>
        </p:txBody>
      </p:sp>
      <p:sp>
        <p:nvSpPr>
          <p:cNvPr id="4" name="Shape 2"/>
          <p:cNvSpPr/>
          <p:nvPr/>
        </p:nvSpPr>
        <p:spPr>
          <a:xfrm>
            <a:off x="640080" y="1828800"/>
            <a:ext cx="8046720" cy="713232"/>
          </a:xfrm>
          <a:prstGeom prst="roundRect">
            <a:avLst>
              <a:gd name="adj" fmla="val 11538"/>
            </a:avLst>
          </a:prstGeom>
          <a:solidFill>
            <a:srgbClr val="102B23"/>
          </a:solidFill>
          <a:ln w="12700">
            <a:solidFill>
              <a:srgbClr val="17392E"/>
            </a:solidFill>
            <a:prstDash val="solid"/>
          </a:ln>
        </p:spPr>
      </p:sp>
      <p:sp>
        <p:nvSpPr>
          <p:cNvPr id="5" name="Text 3"/>
          <p:cNvSpPr/>
          <p:nvPr/>
        </p:nvSpPr>
        <p:spPr>
          <a:xfrm>
            <a:off x="914400" y="1901952"/>
            <a:ext cx="2194560" cy="274320"/>
          </a:xfrm>
          <a:prstGeom prst="rect">
            <a:avLst/>
          </a:prstGeom>
          <a:noFill/>
          <a:ln/>
        </p:spPr>
        <p:txBody>
          <a:bodyPr wrap="square" lIns="0" tIns="0" rIns="0" bIns="0" rtlCol="0" anchor="ctr"/>
          <a:lstStyle/>
          <a:p>
            <a:pPr indent="0" marL="0">
              <a:buNone/>
            </a:pPr>
            <a:r>
              <a:rPr lang="en-US" sz="1350" b="1" dirty="0">
                <a:solidFill>
                  <a:srgbClr val="D4A937"/>
                </a:solidFill>
                <a:latin typeface="Calibri" pitchFamily="34" charset="0"/>
                <a:ea typeface="Calibri" pitchFamily="34" charset="-122"/>
                <a:cs typeface="Calibri" pitchFamily="34" charset="-120"/>
              </a:rPr>
              <a:t>Passwords</a:t>
            </a:r>
            <a:endParaRPr lang="en-US" sz="1350" dirty="0"/>
          </a:p>
        </p:txBody>
      </p:sp>
      <p:sp>
        <p:nvSpPr>
          <p:cNvPr id="6" name="Text 4"/>
          <p:cNvSpPr/>
          <p:nvPr/>
        </p:nvSpPr>
        <p:spPr>
          <a:xfrm>
            <a:off x="3200400" y="1874520"/>
            <a:ext cx="5303520" cy="621792"/>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Hashed with bcrypt. The lab code we did in week 7 stored them as plain text, which I did not want to copy.</a:t>
            </a:r>
            <a:endParaRPr lang="en-US" sz="1150" dirty="0"/>
          </a:p>
        </p:txBody>
      </p:sp>
      <p:sp>
        <p:nvSpPr>
          <p:cNvPr id="7" name="Shape 5"/>
          <p:cNvSpPr/>
          <p:nvPr/>
        </p:nvSpPr>
        <p:spPr>
          <a:xfrm>
            <a:off x="640080" y="2651760"/>
            <a:ext cx="8046720" cy="713232"/>
          </a:xfrm>
          <a:prstGeom prst="roundRect">
            <a:avLst>
              <a:gd name="adj" fmla="val 11538"/>
            </a:avLst>
          </a:prstGeom>
          <a:solidFill>
            <a:srgbClr val="102B23"/>
          </a:solidFill>
          <a:ln w="12700">
            <a:solidFill>
              <a:srgbClr val="17392E"/>
            </a:solidFill>
            <a:prstDash val="solid"/>
          </a:ln>
        </p:spPr>
      </p:sp>
      <p:sp>
        <p:nvSpPr>
          <p:cNvPr id="8" name="Text 6"/>
          <p:cNvSpPr/>
          <p:nvPr/>
        </p:nvSpPr>
        <p:spPr>
          <a:xfrm>
            <a:off x="914400" y="2724912"/>
            <a:ext cx="2194560" cy="274320"/>
          </a:xfrm>
          <a:prstGeom prst="rect">
            <a:avLst/>
          </a:prstGeom>
          <a:noFill/>
          <a:ln/>
        </p:spPr>
        <p:txBody>
          <a:bodyPr wrap="square" lIns="0" tIns="0" rIns="0" bIns="0" rtlCol="0" anchor="ctr"/>
          <a:lstStyle/>
          <a:p>
            <a:pPr indent="0" marL="0">
              <a:buNone/>
            </a:pPr>
            <a:r>
              <a:rPr lang="en-US" sz="1350" b="1" dirty="0">
                <a:solidFill>
                  <a:srgbClr val="D4A937"/>
                </a:solidFill>
                <a:latin typeface="Calibri" pitchFamily="34" charset="0"/>
                <a:ea typeface="Calibri" pitchFamily="34" charset="-122"/>
                <a:cs typeface="Calibri" pitchFamily="34" charset="-120"/>
              </a:rPr>
              <a:t>Logging in</a:t>
            </a:r>
            <a:endParaRPr lang="en-US" sz="1350" dirty="0"/>
          </a:p>
        </p:txBody>
      </p:sp>
      <p:sp>
        <p:nvSpPr>
          <p:cNvPr id="9" name="Text 7"/>
          <p:cNvSpPr/>
          <p:nvPr/>
        </p:nvSpPr>
        <p:spPr>
          <a:xfrm>
            <a:off x="3200400" y="2697480"/>
            <a:ext cx="5303520" cy="621792"/>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You get a JWT. It is signed, not encrypted — anyone can read what is in it, but they cannot change it without my secret key.</a:t>
            </a:r>
            <a:endParaRPr lang="en-US" sz="1150" dirty="0"/>
          </a:p>
        </p:txBody>
      </p:sp>
      <p:sp>
        <p:nvSpPr>
          <p:cNvPr id="10" name="Shape 8"/>
          <p:cNvSpPr/>
          <p:nvPr/>
        </p:nvSpPr>
        <p:spPr>
          <a:xfrm>
            <a:off x="640080" y="3474720"/>
            <a:ext cx="8046720" cy="713232"/>
          </a:xfrm>
          <a:prstGeom prst="roundRect">
            <a:avLst>
              <a:gd name="adj" fmla="val 11538"/>
            </a:avLst>
          </a:prstGeom>
          <a:solidFill>
            <a:srgbClr val="102B23"/>
          </a:solidFill>
          <a:ln w="12700">
            <a:solidFill>
              <a:srgbClr val="17392E"/>
            </a:solidFill>
            <a:prstDash val="solid"/>
          </a:ln>
        </p:spPr>
      </p:sp>
      <p:sp>
        <p:nvSpPr>
          <p:cNvPr id="11" name="Text 9"/>
          <p:cNvSpPr/>
          <p:nvPr/>
        </p:nvSpPr>
        <p:spPr>
          <a:xfrm>
            <a:off x="914400" y="3547872"/>
            <a:ext cx="2194560" cy="274320"/>
          </a:xfrm>
          <a:prstGeom prst="rect">
            <a:avLst/>
          </a:prstGeom>
          <a:noFill/>
          <a:ln/>
        </p:spPr>
        <p:txBody>
          <a:bodyPr wrap="square" lIns="0" tIns="0" rIns="0" bIns="0" rtlCol="0" anchor="ctr"/>
          <a:lstStyle/>
          <a:p>
            <a:pPr indent="0" marL="0">
              <a:buNone/>
            </a:pPr>
            <a:r>
              <a:rPr lang="en-US" sz="1350" b="1" dirty="0">
                <a:solidFill>
                  <a:srgbClr val="D4A937"/>
                </a:solidFill>
                <a:latin typeface="Calibri" pitchFamily="34" charset="0"/>
                <a:ea typeface="Calibri" pitchFamily="34" charset="-122"/>
                <a:cs typeface="Calibri" pitchFamily="34" charset="-120"/>
              </a:rPr>
              <a:t>Checking the token</a:t>
            </a:r>
            <a:endParaRPr lang="en-US" sz="1350" dirty="0"/>
          </a:p>
        </p:txBody>
      </p:sp>
      <p:sp>
        <p:nvSpPr>
          <p:cNvPr id="12" name="Text 10"/>
          <p:cNvSpPr/>
          <p:nvPr/>
        </p:nvSpPr>
        <p:spPr>
          <a:xfrm>
            <a:off x="3200400" y="3520440"/>
            <a:ext cx="5303520" cy="621792"/>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I look the user up in the database every request rather than trusting what the token says. A token lasts 7 days; an account might not.</a:t>
            </a:r>
            <a:endParaRPr lang="en-US" sz="1150" dirty="0"/>
          </a:p>
        </p:txBody>
      </p:sp>
      <p:sp>
        <p:nvSpPr>
          <p:cNvPr id="13" name="Shape 11"/>
          <p:cNvSpPr/>
          <p:nvPr/>
        </p:nvSpPr>
        <p:spPr>
          <a:xfrm>
            <a:off x="640080" y="4297680"/>
            <a:ext cx="8046720" cy="713232"/>
          </a:xfrm>
          <a:prstGeom prst="roundRect">
            <a:avLst>
              <a:gd name="adj" fmla="val 11538"/>
            </a:avLst>
          </a:prstGeom>
          <a:solidFill>
            <a:srgbClr val="102B23"/>
          </a:solidFill>
          <a:ln w="12700">
            <a:solidFill>
              <a:srgbClr val="17392E"/>
            </a:solidFill>
            <a:prstDash val="solid"/>
          </a:ln>
        </p:spPr>
      </p:sp>
      <p:sp>
        <p:nvSpPr>
          <p:cNvPr id="14" name="Text 12"/>
          <p:cNvSpPr/>
          <p:nvPr/>
        </p:nvSpPr>
        <p:spPr>
          <a:xfrm>
            <a:off x="914400" y="4370832"/>
            <a:ext cx="2194560" cy="274320"/>
          </a:xfrm>
          <a:prstGeom prst="rect">
            <a:avLst/>
          </a:prstGeom>
          <a:noFill/>
          <a:ln/>
        </p:spPr>
        <p:txBody>
          <a:bodyPr wrap="square" lIns="0" tIns="0" rIns="0" bIns="0" rtlCol="0" anchor="ctr"/>
          <a:lstStyle/>
          <a:p>
            <a:pPr indent="0" marL="0">
              <a:buNone/>
            </a:pPr>
            <a:r>
              <a:rPr lang="en-US" sz="1350" b="1" dirty="0">
                <a:solidFill>
                  <a:srgbClr val="D4A937"/>
                </a:solidFill>
                <a:latin typeface="Calibri" pitchFamily="34" charset="0"/>
                <a:ea typeface="Calibri" pitchFamily="34" charset="-122"/>
                <a:cs typeface="Calibri" pitchFamily="34" charset="-120"/>
              </a:rPr>
              <a:t>Wrong password vs unknown email</a:t>
            </a:r>
            <a:endParaRPr lang="en-US" sz="1350" dirty="0"/>
          </a:p>
        </p:txBody>
      </p:sp>
      <p:sp>
        <p:nvSpPr>
          <p:cNvPr id="15" name="Text 13"/>
          <p:cNvSpPr/>
          <p:nvPr/>
        </p:nvSpPr>
        <p:spPr>
          <a:xfrm>
            <a:off x="3200400" y="4343400"/>
            <a:ext cx="5303520" cy="621792"/>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Both give exactly the same error. Otherwise you could use the login form to find out which emails are registered.</a:t>
            </a:r>
            <a:endParaRPr lang="en-US" sz="1150" dirty="0"/>
          </a:p>
        </p:txBody>
      </p:sp>
      <p:sp>
        <p:nvSpPr>
          <p:cNvPr id="16" name="Shape 14"/>
          <p:cNvSpPr/>
          <p:nvPr/>
        </p:nvSpPr>
        <p:spPr>
          <a:xfrm>
            <a:off x="640080" y="5120640"/>
            <a:ext cx="8046720" cy="713232"/>
          </a:xfrm>
          <a:prstGeom prst="roundRect">
            <a:avLst>
              <a:gd name="adj" fmla="val 11538"/>
            </a:avLst>
          </a:prstGeom>
          <a:solidFill>
            <a:srgbClr val="102B23"/>
          </a:solidFill>
          <a:ln w="12700">
            <a:solidFill>
              <a:srgbClr val="17392E"/>
            </a:solidFill>
            <a:prstDash val="solid"/>
          </a:ln>
        </p:spPr>
      </p:sp>
      <p:sp>
        <p:nvSpPr>
          <p:cNvPr id="17" name="Text 15"/>
          <p:cNvSpPr/>
          <p:nvPr/>
        </p:nvSpPr>
        <p:spPr>
          <a:xfrm>
            <a:off x="914400" y="5193792"/>
            <a:ext cx="2194560" cy="274320"/>
          </a:xfrm>
          <a:prstGeom prst="rect">
            <a:avLst/>
          </a:prstGeom>
          <a:noFill/>
          <a:ln/>
        </p:spPr>
        <p:txBody>
          <a:bodyPr wrap="square" lIns="0" tIns="0" rIns="0" bIns="0" rtlCol="0" anchor="ctr"/>
          <a:lstStyle/>
          <a:p>
            <a:pPr indent="0" marL="0">
              <a:buNone/>
            </a:pPr>
            <a:r>
              <a:rPr lang="en-US" sz="1350" b="1" dirty="0">
                <a:solidFill>
                  <a:srgbClr val="D4A937"/>
                </a:solidFill>
                <a:latin typeface="Calibri" pitchFamily="34" charset="0"/>
                <a:ea typeface="Calibri" pitchFamily="34" charset="-122"/>
                <a:cs typeface="Calibri" pitchFamily="34" charset="-120"/>
              </a:rPr>
              <a:t>Other restaurants</a:t>
            </a:r>
            <a:endParaRPr lang="en-US" sz="1350" dirty="0"/>
          </a:p>
        </p:txBody>
      </p:sp>
      <p:sp>
        <p:nvSpPr>
          <p:cNvPr id="18" name="Text 16"/>
          <p:cNvSpPr/>
          <p:nvPr/>
        </p:nvSpPr>
        <p:spPr>
          <a:xfrm>
            <a:off x="3200400" y="5166360"/>
            <a:ext cx="5303520" cy="621792"/>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You get a 404, not a 403. A 403 would tell you the booking exists, which is already more than you should know.</a:t>
            </a:r>
            <a:endParaRPr lang="en-US" sz="1150" dirty="0"/>
          </a:p>
        </p:txBody>
      </p:sp>
      <p:sp>
        <p:nvSpPr>
          <p:cNvPr id="19" name="Shape 17"/>
          <p:cNvSpPr/>
          <p:nvPr/>
        </p:nvSpPr>
        <p:spPr>
          <a:xfrm>
            <a:off x="8961120" y="1828800"/>
            <a:ext cx="2560320" cy="4023360"/>
          </a:xfrm>
          <a:prstGeom prst="roundRect">
            <a:avLst>
              <a:gd name="adj" fmla="val 3214"/>
            </a:avLst>
          </a:prstGeom>
          <a:solidFill>
            <a:srgbClr val="17392E"/>
          </a:solidFill>
          <a:ln w="12700">
            <a:solidFill>
              <a:srgbClr val="17392E"/>
            </a:solidFill>
            <a:prstDash val="solid"/>
          </a:ln>
        </p:spPr>
      </p:sp>
      <p:sp>
        <p:nvSpPr>
          <p:cNvPr id="20" name="Text 18"/>
          <p:cNvSpPr/>
          <p:nvPr/>
        </p:nvSpPr>
        <p:spPr>
          <a:xfrm>
            <a:off x="9189720" y="2103120"/>
            <a:ext cx="2103120" cy="731520"/>
          </a:xfrm>
          <a:prstGeom prst="rect">
            <a:avLst/>
          </a:prstGeom>
          <a:noFill/>
          <a:ln/>
        </p:spPr>
        <p:txBody>
          <a:bodyPr wrap="square" lIns="0" tIns="0" rIns="0" bIns="0" rtlCol="0" anchor="ctr"/>
          <a:lstStyle/>
          <a:p>
            <a:pPr indent="0" marL="0">
              <a:buNone/>
            </a:pPr>
            <a:r>
              <a:rPr lang="en-US" sz="1600" b="1" dirty="0">
                <a:solidFill>
                  <a:srgbClr val="A3364F"/>
                </a:solidFill>
                <a:latin typeface="Cambria" pitchFamily="34" charset="0"/>
                <a:ea typeface="Cambria" pitchFamily="34" charset="-122"/>
                <a:cs typeface="Cambria" pitchFamily="34" charset="-120"/>
              </a:rPr>
              <a:t>One thing I got wrong first</a:t>
            </a:r>
            <a:endParaRPr lang="en-US" sz="1600" dirty="0"/>
          </a:p>
        </p:txBody>
      </p:sp>
      <p:sp>
        <p:nvSpPr>
          <p:cNvPr id="21" name="Text 19"/>
          <p:cNvSpPr/>
          <p:nvPr/>
        </p:nvSpPr>
        <p:spPr>
          <a:xfrm>
            <a:off x="9189720" y="2926080"/>
            <a:ext cx="2103120" cy="2377440"/>
          </a:xfrm>
          <a:prstGeom prst="rect">
            <a:avLst/>
          </a:prstGeom>
          <a:noFill/>
          <a:ln/>
        </p:spPr>
        <p:txBody>
          <a:bodyPr wrap="square" lIns="0" tIns="0" rIns="0" bIns="0" rtlCol="0" anchor="ctr"/>
          <a:lstStyle/>
          <a:p>
            <a:pPr indent="0" marL="0">
              <a:buNone/>
            </a:pPr>
            <a:r>
              <a:rPr lang="en-US" sz="1200" dirty="0">
                <a:solidFill>
                  <a:srgbClr val="F5F0E6"/>
                </a:solidFill>
                <a:latin typeface="Calibri" pitchFamily="34" charset="0"/>
                <a:ea typeface="Calibri" pitchFamily="34" charset="-122"/>
                <a:cs typeface="Calibri" pitchFamily="34" charset="-120"/>
              </a:rPr>
              <a:t>I originally relied on hiding pages in React. But anyone can call the API directly with curl — the front end is not a security boundary. All the real checks are on the server.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310"/>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5F0E6"/>
                </a:solidFill>
                <a:latin typeface="Cambria" pitchFamily="34" charset="0"/>
                <a:ea typeface="Cambria" pitchFamily="34" charset="-122"/>
                <a:cs typeface="Cambria" pitchFamily="34" charset="-120"/>
              </a:rPr>
              <a:t>Choices I had to make</a:t>
            </a:r>
            <a:endParaRPr lang="en-US" sz="36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indent="0" marL="0">
              <a:buNone/>
            </a:pPr>
            <a:r>
              <a:rPr lang="en-US" sz="1400" dirty="0">
                <a:solidFill>
                  <a:srgbClr val="97B0A2"/>
                </a:solidFill>
                <a:latin typeface="Calibri" pitchFamily="34" charset="0"/>
                <a:ea typeface="Calibri" pitchFamily="34" charset="-122"/>
                <a:cs typeface="Calibri" pitchFamily="34" charset="-120"/>
              </a:rPr>
              <a:t>And the one place I disagreed with the brief</a:t>
            </a:r>
            <a:endParaRPr lang="en-US" sz="1400" dirty="0"/>
          </a:p>
        </p:txBody>
      </p:sp>
      <p:sp>
        <p:nvSpPr>
          <p:cNvPr id="4" name="Text 2"/>
          <p:cNvSpPr/>
          <p:nvPr/>
        </p:nvSpPr>
        <p:spPr>
          <a:xfrm>
            <a:off x="640080" y="1828800"/>
            <a:ext cx="3566160" cy="731520"/>
          </a:xfrm>
          <a:prstGeom prst="rect">
            <a:avLst/>
          </a:prstGeom>
          <a:noFill/>
          <a:ln/>
        </p:spPr>
        <p:txBody>
          <a:bodyPr wrap="square" lIns="0" tIns="0" rIns="0" bIns="0" rtlCol="0" anchor="ctr"/>
          <a:lstStyle/>
          <a:p>
            <a:pPr indent="0" marL="0">
              <a:buNone/>
            </a:pPr>
            <a:r>
              <a:rPr lang="en-US" sz="1450" b="1" dirty="0">
                <a:solidFill>
                  <a:srgbClr val="D4A937"/>
                </a:solidFill>
                <a:latin typeface="Calibri" pitchFamily="34" charset="0"/>
                <a:ea typeface="Calibri" pitchFamily="34" charset="-122"/>
                <a:cs typeface="Calibri" pitchFamily="34" charset="-120"/>
              </a:rPr>
              <a:t>SQLite, not MySQL or Postgres</a:t>
            </a:r>
            <a:endParaRPr lang="en-US" sz="1450" dirty="0"/>
          </a:p>
        </p:txBody>
      </p:sp>
      <p:sp>
        <p:nvSpPr>
          <p:cNvPr id="5" name="Text 3"/>
          <p:cNvSpPr/>
          <p:nvPr/>
        </p:nvSpPr>
        <p:spPr>
          <a:xfrm>
            <a:off x="4389120" y="1828800"/>
            <a:ext cx="7132320" cy="73152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It is a file, so this runs on any machine with no database server to install. The schema moves to PostgreSQL unchanged if it were deployed.</a:t>
            </a:r>
            <a:endParaRPr lang="en-US" sz="1250" dirty="0"/>
          </a:p>
        </p:txBody>
      </p:sp>
      <p:sp>
        <p:nvSpPr>
          <p:cNvPr id="6" name="Text 4"/>
          <p:cNvSpPr/>
          <p:nvPr/>
        </p:nvSpPr>
        <p:spPr>
          <a:xfrm>
            <a:off x="640080" y="2670048"/>
            <a:ext cx="3566160" cy="731520"/>
          </a:xfrm>
          <a:prstGeom prst="rect">
            <a:avLst/>
          </a:prstGeom>
          <a:noFill/>
          <a:ln/>
        </p:spPr>
        <p:txBody>
          <a:bodyPr wrap="square" lIns="0" tIns="0" rIns="0" bIns="0" rtlCol="0" anchor="ctr"/>
          <a:lstStyle/>
          <a:p>
            <a:pPr indent="0" marL="0">
              <a:buNone/>
            </a:pPr>
            <a:r>
              <a:rPr lang="en-US" sz="1450" b="1" dirty="0">
                <a:solidFill>
                  <a:srgbClr val="D4A937"/>
                </a:solidFill>
                <a:latin typeface="Calibri" pitchFamily="34" charset="0"/>
                <a:ea typeface="Calibri" pitchFamily="34" charset="-122"/>
                <a:cs typeface="Calibri" pitchFamily="34" charset="-120"/>
              </a:rPr>
              <a:t>Prisma, not raw SQL</a:t>
            </a:r>
            <a:endParaRPr lang="en-US" sz="1450" dirty="0"/>
          </a:p>
        </p:txBody>
      </p:sp>
      <p:sp>
        <p:nvSpPr>
          <p:cNvPr id="7" name="Text 5"/>
          <p:cNvSpPr/>
          <p:nvPr/>
        </p:nvSpPr>
        <p:spPr>
          <a:xfrm>
            <a:off x="4389120" y="2670048"/>
            <a:ext cx="7132320" cy="73152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The lab code built SQL by joining strings together. Prisma gave me a schema file in version control and stopped me writing that.</a:t>
            </a:r>
            <a:endParaRPr lang="en-US" sz="1250" dirty="0"/>
          </a:p>
        </p:txBody>
      </p:sp>
      <p:sp>
        <p:nvSpPr>
          <p:cNvPr id="8" name="Text 6"/>
          <p:cNvSpPr/>
          <p:nvPr/>
        </p:nvSpPr>
        <p:spPr>
          <a:xfrm>
            <a:off x="640080" y="3511296"/>
            <a:ext cx="3566160" cy="731520"/>
          </a:xfrm>
          <a:prstGeom prst="rect">
            <a:avLst/>
          </a:prstGeom>
          <a:noFill/>
          <a:ln/>
        </p:spPr>
        <p:txBody>
          <a:bodyPr wrap="square" lIns="0" tIns="0" rIns="0" bIns="0" rtlCol="0" anchor="ctr"/>
          <a:lstStyle/>
          <a:p>
            <a:pPr indent="0" marL="0">
              <a:buNone/>
            </a:pPr>
            <a:r>
              <a:rPr lang="en-US" sz="1450" b="1" dirty="0">
                <a:solidFill>
                  <a:srgbClr val="D4A937"/>
                </a:solidFill>
                <a:latin typeface="Calibri" pitchFamily="34" charset="0"/>
                <a:ea typeface="Calibri" pitchFamily="34" charset="-122"/>
                <a:cs typeface="Calibri" pitchFamily="34" charset="-120"/>
              </a:rPr>
              <a:t>Context, not Redux</a:t>
            </a:r>
            <a:endParaRPr lang="en-US" sz="1450" dirty="0"/>
          </a:p>
        </p:txBody>
      </p:sp>
      <p:sp>
        <p:nvSpPr>
          <p:cNvPr id="9" name="Text 7"/>
          <p:cNvSpPr/>
          <p:nvPr/>
        </p:nvSpPr>
        <p:spPr>
          <a:xfrm>
            <a:off x="4389120" y="3511296"/>
            <a:ext cx="7132320" cy="73152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The only things that are truly global are who is logged in and the toast messages. Redux for two values felt like overkill.</a:t>
            </a:r>
            <a:endParaRPr lang="en-US" sz="1250" dirty="0"/>
          </a:p>
        </p:txBody>
      </p:sp>
      <p:sp>
        <p:nvSpPr>
          <p:cNvPr id="10" name="Text 8"/>
          <p:cNvSpPr/>
          <p:nvPr/>
        </p:nvSpPr>
        <p:spPr>
          <a:xfrm>
            <a:off x="640080" y="4352544"/>
            <a:ext cx="3566160" cy="731520"/>
          </a:xfrm>
          <a:prstGeom prst="rect">
            <a:avLst/>
          </a:prstGeom>
          <a:noFill/>
          <a:ln/>
        </p:spPr>
        <p:txBody>
          <a:bodyPr wrap="square" lIns="0" tIns="0" rIns="0" bIns="0" rtlCol="0" anchor="ctr"/>
          <a:lstStyle/>
          <a:p>
            <a:pPr indent="0" marL="0">
              <a:buNone/>
            </a:pPr>
            <a:r>
              <a:rPr lang="en-US" sz="1450" b="1" dirty="0">
                <a:solidFill>
                  <a:srgbClr val="D4A937"/>
                </a:solidFill>
                <a:latin typeface="Calibri" pitchFamily="34" charset="0"/>
                <a:ea typeface="Calibri" pitchFamily="34" charset="-122"/>
                <a:cs typeface="Calibri" pitchFamily="34" charset="-120"/>
              </a:rPr>
              <a:t>Vite, not Create React App</a:t>
            </a:r>
            <a:endParaRPr lang="en-US" sz="1450" dirty="0"/>
          </a:p>
        </p:txBody>
      </p:sp>
      <p:sp>
        <p:nvSpPr>
          <p:cNvPr id="11" name="Text 9"/>
          <p:cNvSpPr/>
          <p:nvPr/>
        </p:nvSpPr>
        <p:spPr>
          <a:xfrm>
            <a:off x="4389120" y="4352544"/>
            <a:ext cx="7132320" cy="73152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CRA is deprecated now and noticeably slower to start.</a:t>
            </a:r>
            <a:endParaRPr lang="en-US" sz="1250" dirty="0"/>
          </a:p>
        </p:txBody>
      </p:sp>
      <p:sp>
        <p:nvSpPr>
          <p:cNvPr id="12" name="Shape 10"/>
          <p:cNvSpPr/>
          <p:nvPr/>
        </p:nvSpPr>
        <p:spPr>
          <a:xfrm>
            <a:off x="640080" y="5394960"/>
            <a:ext cx="10881360" cy="1143000"/>
          </a:xfrm>
          <a:prstGeom prst="roundRect">
            <a:avLst>
              <a:gd name="adj" fmla="val 7200"/>
            </a:avLst>
          </a:prstGeom>
          <a:solidFill>
            <a:srgbClr val="17392E"/>
          </a:solidFill>
          <a:ln w="12700">
            <a:solidFill>
              <a:srgbClr val="17392E"/>
            </a:solidFill>
            <a:prstDash val="solid"/>
          </a:ln>
        </p:spPr>
      </p:sp>
      <p:sp>
        <p:nvSpPr>
          <p:cNvPr id="13" name="Text 11"/>
          <p:cNvSpPr/>
          <p:nvPr/>
        </p:nvSpPr>
        <p:spPr>
          <a:xfrm>
            <a:off x="960120" y="5532120"/>
            <a:ext cx="10241280" cy="320040"/>
          </a:xfrm>
          <a:prstGeom prst="rect">
            <a:avLst/>
          </a:prstGeom>
          <a:noFill/>
          <a:ln/>
        </p:spPr>
        <p:txBody>
          <a:bodyPr wrap="square" lIns="0" tIns="0" rIns="0" bIns="0" rtlCol="0" anchor="ctr"/>
          <a:lstStyle/>
          <a:p>
            <a:pPr indent="0" marL="0">
              <a:buNone/>
            </a:pPr>
            <a:r>
              <a:rPr lang="en-US" sz="1400" b="1" dirty="0">
                <a:solidFill>
                  <a:srgbClr val="F5D77A"/>
                </a:solidFill>
                <a:latin typeface="Calibri" pitchFamily="34" charset="0"/>
                <a:ea typeface="Calibri" pitchFamily="34" charset="-122"/>
                <a:cs typeface="Calibri" pitchFamily="34" charset="-120"/>
              </a:rPr>
              <a:t>The brief asks for a Django ORM</a:t>
            </a:r>
            <a:endParaRPr lang="en-US" sz="1400" dirty="0"/>
          </a:p>
        </p:txBody>
      </p:sp>
      <p:sp>
        <p:nvSpPr>
          <p:cNvPr id="14" name="Text 12"/>
          <p:cNvSpPr/>
          <p:nvPr/>
        </p:nvSpPr>
        <p:spPr>
          <a:xfrm>
            <a:off x="960120" y="5897880"/>
            <a:ext cx="10241280" cy="54864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Django is Python, so it cannot run on a Node back end. I took the requirement to mean "use an ORM rather than writing SQL by hand" and used Prisma. I have written this down in the report rather than quietly ignoring 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30907"/>
        </a:solidFill>
      </p:bgPr>
    </p:bg>
    <p:spTree>
      <p:nvGrpSpPr>
        <p:cNvPr id="1" name=""/>
        <p:cNvGrpSpPr/>
        <p:nvPr/>
      </p:nvGrpSpPr>
      <p:grpSpPr>
        <a:xfrm>
          <a:off x="0" y="0"/>
          <a:ext cx="0" cy="0"/>
          <a:chOff x="0" y="0"/>
          <a:chExt cx="0" cy="0"/>
        </a:xfrm>
      </p:grpSpPr>
      <p:sp>
        <p:nvSpPr>
          <p:cNvPr id="2" name="Text 0"/>
          <p:cNvSpPr/>
          <p:nvPr/>
        </p:nvSpPr>
        <p:spPr>
          <a:xfrm>
            <a:off x="640080" y="731520"/>
            <a:ext cx="10881360" cy="822960"/>
          </a:xfrm>
          <a:prstGeom prst="rect">
            <a:avLst/>
          </a:prstGeom>
          <a:noFill/>
          <a:ln/>
        </p:spPr>
        <p:txBody>
          <a:bodyPr wrap="square" lIns="0" tIns="0" rIns="0" bIns="0" rtlCol="0" anchor="ctr"/>
          <a:lstStyle/>
          <a:p>
            <a:pPr indent="0" marL="0">
              <a:buNone/>
            </a:pPr>
            <a:r>
              <a:rPr lang="en-US" sz="4000" b="1" dirty="0">
                <a:solidFill>
                  <a:srgbClr val="D4A937"/>
                </a:solidFill>
                <a:latin typeface="Cambria" pitchFamily="34" charset="0"/>
                <a:ea typeface="Cambria" pitchFamily="34" charset="-122"/>
                <a:cs typeface="Cambria" pitchFamily="34" charset="-120"/>
              </a:rPr>
              <a:t>Let me show you it working</a:t>
            </a:r>
            <a:endParaRPr lang="en-US" sz="4000" dirty="0"/>
          </a:p>
        </p:txBody>
      </p:sp>
      <p:sp>
        <p:nvSpPr>
          <p:cNvPr id="3" name="Text 1"/>
          <p:cNvSpPr/>
          <p:nvPr/>
        </p:nvSpPr>
        <p:spPr>
          <a:xfrm>
            <a:off x="640080" y="1554480"/>
            <a:ext cx="10881360" cy="365760"/>
          </a:xfrm>
          <a:prstGeom prst="rect">
            <a:avLst/>
          </a:prstGeom>
          <a:noFill/>
          <a:ln/>
        </p:spPr>
        <p:txBody>
          <a:bodyPr wrap="square" lIns="0" tIns="0" rIns="0" bIns="0" rtlCol="0" anchor="ctr"/>
          <a:lstStyle/>
          <a:p>
            <a:pPr indent="0" marL="0">
              <a:buNone/>
            </a:pPr>
            <a:r>
              <a:rPr lang="en-US" sz="1500" dirty="0">
                <a:solidFill>
                  <a:srgbClr val="97B0A2"/>
                </a:solidFill>
                <a:latin typeface="Courier New" pitchFamily="34" charset="0"/>
                <a:ea typeface="Courier New" pitchFamily="34" charset="-122"/>
                <a:cs typeface="Courier New" pitchFamily="34" charset="-120"/>
              </a:rPr>
              <a:t>localhost:4000</a:t>
            </a:r>
            <a:endParaRPr lang="en-US" sz="1500" dirty="0"/>
          </a:p>
        </p:txBody>
      </p:sp>
      <p:sp>
        <p:nvSpPr>
          <p:cNvPr id="4" name="Shape 2"/>
          <p:cNvSpPr/>
          <p:nvPr/>
        </p:nvSpPr>
        <p:spPr>
          <a:xfrm>
            <a:off x="640080" y="2240280"/>
            <a:ext cx="420624" cy="420624"/>
          </a:xfrm>
          <a:prstGeom prst="ellipse">
            <a:avLst/>
          </a:prstGeom>
          <a:solidFill>
            <a:srgbClr val="D4A937"/>
          </a:solidFill>
          <a:ln/>
        </p:spPr>
      </p:sp>
      <p:sp>
        <p:nvSpPr>
          <p:cNvPr id="5" name="Text 3"/>
          <p:cNvSpPr/>
          <p:nvPr/>
        </p:nvSpPr>
        <p:spPr>
          <a:xfrm>
            <a:off x="640080" y="2240280"/>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88720" y="2221992"/>
            <a:ext cx="10241280" cy="457200"/>
          </a:xfrm>
          <a:prstGeom prst="rect">
            <a:avLst/>
          </a:prstGeom>
          <a:noFill/>
          <a:ln/>
        </p:spPr>
        <p:txBody>
          <a:bodyPr wrap="square" lIns="0" tIns="0" rIns="0" bIns="0" rtlCol="0" anchor="ctr"/>
          <a:lstStyle/>
          <a:p>
            <a:pPr indent="0" marL="0">
              <a:buNone/>
            </a:pPr>
            <a:r>
              <a:rPr lang="en-US" sz="1500" dirty="0">
                <a:solidFill>
                  <a:srgbClr val="F5F0E6"/>
                </a:solidFill>
                <a:latin typeface="Calibri" pitchFamily="34" charset="0"/>
                <a:ea typeface="Calibri" pitchFamily="34" charset="-122"/>
                <a:cs typeface="Calibri" pitchFamily="34" charset="-120"/>
              </a:rPr>
              <a:t>Search for a table — only places that can actually seat us come back</a:t>
            </a:r>
            <a:endParaRPr lang="en-US" sz="1500" dirty="0"/>
          </a:p>
        </p:txBody>
      </p:sp>
      <p:sp>
        <p:nvSpPr>
          <p:cNvPr id="7" name="Shape 5"/>
          <p:cNvSpPr/>
          <p:nvPr/>
        </p:nvSpPr>
        <p:spPr>
          <a:xfrm>
            <a:off x="640080" y="2898648"/>
            <a:ext cx="420624" cy="420624"/>
          </a:xfrm>
          <a:prstGeom prst="ellipse">
            <a:avLst/>
          </a:prstGeom>
          <a:solidFill>
            <a:srgbClr val="D4A937"/>
          </a:solidFill>
          <a:ln/>
        </p:spPr>
      </p:sp>
      <p:sp>
        <p:nvSpPr>
          <p:cNvPr id="8" name="Text 6"/>
          <p:cNvSpPr/>
          <p:nvPr/>
        </p:nvSpPr>
        <p:spPr>
          <a:xfrm>
            <a:off x="640080" y="2898648"/>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188720" y="2880360"/>
            <a:ext cx="10241280" cy="457200"/>
          </a:xfrm>
          <a:prstGeom prst="rect">
            <a:avLst/>
          </a:prstGeom>
          <a:noFill/>
          <a:ln/>
        </p:spPr>
        <p:txBody>
          <a:bodyPr wrap="square" lIns="0" tIns="0" rIns="0" bIns="0" rtlCol="0" anchor="ctr"/>
          <a:lstStyle/>
          <a:p>
            <a:pPr indent="0" marL="0">
              <a:buNone/>
            </a:pPr>
            <a:r>
              <a:rPr lang="en-US" sz="1500" dirty="0">
                <a:solidFill>
                  <a:srgbClr val="F5F0E6"/>
                </a:solidFill>
                <a:latin typeface="Calibri" pitchFamily="34" charset="0"/>
                <a:ea typeface="Calibri" pitchFamily="34" charset="-122"/>
                <a:cs typeface="Calibri" pitchFamily="34" charset="-120"/>
              </a:rPr>
              <a:t>Pick a restaurant and a time — the plan shows which tables are free</a:t>
            </a:r>
            <a:endParaRPr lang="en-US" sz="1500" dirty="0"/>
          </a:p>
        </p:txBody>
      </p:sp>
      <p:sp>
        <p:nvSpPr>
          <p:cNvPr id="10" name="Shape 8"/>
          <p:cNvSpPr/>
          <p:nvPr/>
        </p:nvSpPr>
        <p:spPr>
          <a:xfrm>
            <a:off x="640080" y="3557016"/>
            <a:ext cx="420624" cy="420624"/>
          </a:xfrm>
          <a:prstGeom prst="ellipse">
            <a:avLst/>
          </a:prstGeom>
          <a:solidFill>
            <a:srgbClr val="D4A937"/>
          </a:solidFill>
          <a:ln/>
        </p:spPr>
      </p:sp>
      <p:sp>
        <p:nvSpPr>
          <p:cNvPr id="11" name="Text 9"/>
          <p:cNvSpPr/>
          <p:nvPr/>
        </p:nvSpPr>
        <p:spPr>
          <a:xfrm>
            <a:off x="640080" y="3557016"/>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188720" y="3538728"/>
            <a:ext cx="10241280" cy="457200"/>
          </a:xfrm>
          <a:prstGeom prst="rect">
            <a:avLst/>
          </a:prstGeom>
          <a:noFill/>
          <a:ln/>
        </p:spPr>
        <p:txBody>
          <a:bodyPr wrap="square" lIns="0" tIns="0" rIns="0" bIns="0" rtlCol="0" anchor="ctr"/>
          <a:lstStyle/>
          <a:p>
            <a:pPr indent="0" marL="0">
              <a:buNone/>
            </a:pPr>
            <a:r>
              <a:rPr lang="en-US" sz="1500" dirty="0">
                <a:solidFill>
                  <a:srgbClr val="F5F0E6"/>
                </a:solidFill>
                <a:latin typeface="Calibri" pitchFamily="34" charset="0"/>
                <a:ea typeface="Calibri" pitchFamily="34" charset="-122"/>
                <a:cs typeface="Calibri" pitchFamily="34" charset="-120"/>
              </a:rPr>
              <a:t>Book it — and it tells me which table I am getting before I confirm</a:t>
            </a:r>
            <a:endParaRPr lang="en-US" sz="1500" dirty="0"/>
          </a:p>
        </p:txBody>
      </p:sp>
      <p:sp>
        <p:nvSpPr>
          <p:cNvPr id="13" name="Shape 11"/>
          <p:cNvSpPr/>
          <p:nvPr/>
        </p:nvSpPr>
        <p:spPr>
          <a:xfrm>
            <a:off x="640080" y="4215384"/>
            <a:ext cx="420624" cy="420624"/>
          </a:xfrm>
          <a:prstGeom prst="ellipse">
            <a:avLst/>
          </a:prstGeom>
          <a:solidFill>
            <a:srgbClr val="D4A937"/>
          </a:solidFill>
          <a:ln/>
        </p:spPr>
      </p:sp>
      <p:sp>
        <p:nvSpPr>
          <p:cNvPr id="14" name="Text 12"/>
          <p:cNvSpPr/>
          <p:nvPr/>
        </p:nvSpPr>
        <p:spPr>
          <a:xfrm>
            <a:off x="640080" y="4215384"/>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188720" y="4197096"/>
            <a:ext cx="10241280" cy="457200"/>
          </a:xfrm>
          <a:prstGeom prst="rect">
            <a:avLst/>
          </a:prstGeom>
          <a:noFill/>
          <a:ln/>
        </p:spPr>
        <p:txBody>
          <a:bodyPr wrap="square" lIns="0" tIns="0" rIns="0" bIns="0" rtlCol="0" anchor="ctr"/>
          <a:lstStyle/>
          <a:p>
            <a:pPr indent="0" marL="0">
              <a:buNone/>
            </a:pPr>
            <a:r>
              <a:rPr lang="en-US" sz="1500" dirty="0">
                <a:solidFill>
                  <a:srgbClr val="F5F0E6"/>
                </a:solidFill>
                <a:latin typeface="Calibri" pitchFamily="34" charset="0"/>
                <a:ea typeface="Calibri" pitchFamily="34" charset="-122"/>
                <a:cs typeface="Calibri" pitchFamily="34" charset="-120"/>
              </a:rPr>
              <a:t>Try to book the same one again — refused, with other times offered</a:t>
            </a:r>
            <a:endParaRPr lang="en-US" sz="1500" dirty="0"/>
          </a:p>
        </p:txBody>
      </p:sp>
      <p:sp>
        <p:nvSpPr>
          <p:cNvPr id="16" name="Shape 14"/>
          <p:cNvSpPr/>
          <p:nvPr/>
        </p:nvSpPr>
        <p:spPr>
          <a:xfrm>
            <a:off x="640080" y="4873752"/>
            <a:ext cx="420624" cy="420624"/>
          </a:xfrm>
          <a:prstGeom prst="ellipse">
            <a:avLst/>
          </a:prstGeom>
          <a:solidFill>
            <a:srgbClr val="D4A937"/>
          </a:solidFill>
          <a:ln/>
        </p:spPr>
      </p:sp>
      <p:sp>
        <p:nvSpPr>
          <p:cNvPr id="17" name="Text 15"/>
          <p:cNvSpPr/>
          <p:nvPr/>
        </p:nvSpPr>
        <p:spPr>
          <a:xfrm>
            <a:off x="640080" y="4873752"/>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188720" y="4855464"/>
            <a:ext cx="10241280" cy="457200"/>
          </a:xfrm>
          <a:prstGeom prst="rect">
            <a:avLst/>
          </a:prstGeom>
          <a:noFill/>
          <a:ln/>
        </p:spPr>
        <p:txBody>
          <a:bodyPr wrap="square" lIns="0" tIns="0" rIns="0" bIns="0" rtlCol="0" anchor="ctr"/>
          <a:lstStyle/>
          <a:p>
            <a:pPr indent="0" marL="0">
              <a:buNone/>
            </a:pPr>
            <a:r>
              <a:rPr lang="en-US" sz="1500" dirty="0">
                <a:solidFill>
                  <a:srgbClr val="F5F0E6"/>
                </a:solidFill>
                <a:latin typeface="Calibri" pitchFamily="34" charset="0"/>
                <a:ea typeface="Calibri" pitchFamily="34" charset="-122"/>
                <a:cs typeface="Calibri" pitchFamily="34" charset="-120"/>
              </a:rPr>
              <a:t>Log in as a different restaurant's manager — they cannot see this booking</a:t>
            </a:r>
            <a:endParaRPr lang="en-US" sz="1500" dirty="0"/>
          </a:p>
        </p:txBody>
      </p:sp>
      <p:sp>
        <p:nvSpPr>
          <p:cNvPr id="19" name="Shape 17"/>
          <p:cNvSpPr/>
          <p:nvPr/>
        </p:nvSpPr>
        <p:spPr>
          <a:xfrm>
            <a:off x="640080" y="5532120"/>
            <a:ext cx="420624" cy="420624"/>
          </a:xfrm>
          <a:prstGeom prst="ellipse">
            <a:avLst/>
          </a:prstGeom>
          <a:solidFill>
            <a:srgbClr val="D4A937"/>
          </a:solidFill>
          <a:ln/>
        </p:spPr>
      </p:sp>
      <p:sp>
        <p:nvSpPr>
          <p:cNvPr id="20" name="Text 18"/>
          <p:cNvSpPr/>
          <p:nvPr/>
        </p:nvSpPr>
        <p:spPr>
          <a:xfrm>
            <a:off x="640080" y="5532120"/>
            <a:ext cx="420624" cy="420624"/>
          </a:xfrm>
          <a:prstGeom prst="rect">
            <a:avLst/>
          </a:prstGeom>
          <a:noFill/>
          <a:ln/>
        </p:spPr>
        <p:txBody>
          <a:bodyPr wrap="square" lIns="0" tIns="0" rIns="0" bIns="0" rtlCol="0" anchor="ctr"/>
          <a:lstStyle/>
          <a:p>
            <a:pPr algn="ctr" indent="0" marL="0">
              <a:buNone/>
            </a:pPr>
            <a:r>
              <a:rPr lang="en-US" sz="1400" b="1" dirty="0">
                <a:solidFill>
                  <a:srgbClr val="071310"/>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188720" y="5513832"/>
            <a:ext cx="10241280" cy="457200"/>
          </a:xfrm>
          <a:prstGeom prst="rect">
            <a:avLst/>
          </a:prstGeom>
          <a:noFill/>
          <a:ln/>
        </p:spPr>
        <p:txBody>
          <a:bodyPr wrap="square" lIns="0" tIns="0" rIns="0" bIns="0" rtlCol="0" anchor="ctr"/>
          <a:lstStyle/>
          <a:p>
            <a:pPr indent="0" marL="0">
              <a:buNone/>
            </a:pPr>
            <a:r>
              <a:rPr lang="en-US" sz="1500" dirty="0">
                <a:solidFill>
                  <a:srgbClr val="F5F0E6"/>
                </a:solidFill>
                <a:latin typeface="Calibri" pitchFamily="34" charset="0"/>
                <a:ea typeface="Calibri" pitchFamily="34" charset="-122"/>
                <a:cs typeface="Calibri" pitchFamily="34" charset="-120"/>
              </a:rPr>
              <a:t>Run the tests — including two people booking the last table at once</a:t>
            </a:r>
            <a:endParaRPr lang="en-US" sz="1500" dirty="0"/>
          </a:p>
        </p:txBody>
      </p:sp>
      <p:sp>
        <p:nvSpPr>
          <p:cNvPr id="22" name="Text 20"/>
          <p:cNvSpPr/>
          <p:nvPr/>
        </p:nvSpPr>
        <p:spPr>
          <a:xfrm>
            <a:off x="640080" y="6309360"/>
            <a:ext cx="10881360" cy="365760"/>
          </a:xfrm>
          <a:prstGeom prst="rect">
            <a:avLst/>
          </a:prstGeom>
          <a:noFill/>
          <a:ln/>
        </p:spPr>
        <p:txBody>
          <a:bodyPr wrap="square" lIns="0" tIns="0" rIns="0" bIns="0" rtlCol="0" anchor="ctr"/>
          <a:lstStyle/>
          <a:p>
            <a:pPr indent="0" marL="0">
              <a:buNone/>
            </a:pPr>
            <a:r>
              <a:rPr lang="en-US" sz="1300" i="1" dirty="0">
                <a:solidFill>
                  <a:srgbClr val="62796E"/>
                </a:solidFill>
                <a:latin typeface="Calibri" pitchFamily="34" charset="0"/>
                <a:ea typeface="Calibri" pitchFamily="34" charset="-122"/>
                <a:cs typeface="Calibri" pitchFamily="34" charset="-120"/>
              </a:rPr>
              <a:t>This is most of my time — around twelve minutes.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310"/>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5F0E6"/>
                </a:solidFill>
                <a:latin typeface="Cambria" pitchFamily="34" charset="0"/>
                <a:ea typeface="Cambria" pitchFamily="34" charset="-122"/>
                <a:cs typeface="Cambria" pitchFamily="34" charset="-120"/>
              </a:rPr>
              <a:t>Testing</a:t>
            </a:r>
            <a:endParaRPr lang="en-US" sz="36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indent="0" marL="0">
              <a:buNone/>
            </a:pPr>
            <a:r>
              <a:rPr lang="en-US" sz="1400" dirty="0">
                <a:solidFill>
                  <a:srgbClr val="97B0A2"/>
                </a:solidFill>
                <a:latin typeface="Calibri" pitchFamily="34" charset="0"/>
                <a:ea typeface="Calibri" pitchFamily="34" charset="-122"/>
                <a:cs typeface="Calibri" pitchFamily="34" charset="-120"/>
              </a:rPr>
              <a:t>I focused on the things that would look fine in a demo but be wrong in real life</a:t>
            </a:r>
            <a:endParaRPr lang="en-US" sz="1400" dirty="0"/>
          </a:p>
        </p:txBody>
      </p:sp>
      <p:graphicFrame>
        <p:nvGraphicFramePr>
          <p:cNvPr id="4" name="Chart 0" descr=""/>
          <p:cNvGraphicFramePr/>
          <p:nvPr/>
        </p:nvGraphicFramePr>
        <p:xfrm>
          <a:off x="640080" y="1920240"/>
          <a:ext cx="402336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029200" y="1920240"/>
            <a:ext cx="6492240" cy="548640"/>
          </a:xfrm>
          <a:prstGeom prst="roundRect">
            <a:avLst>
              <a:gd name="adj" fmla="val 15000"/>
            </a:avLst>
          </a:prstGeom>
          <a:solidFill>
            <a:srgbClr val="102B23"/>
          </a:solidFill>
          <a:ln w="12700">
            <a:solidFill>
              <a:srgbClr val="17392E"/>
            </a:solidFill>
            <a:prstDash val="solid"/>
          </a:ln>
        </p:spPr>
      </p:sp>
      <p:sp>
        <p:nvSpPr>
          <p:cNvPr id="6" name="Text 3"/>
          <p:cNvSpPr/>
          <p:nvPr/>
        </p:nvSpPr>
        <p:spPr>
          <a:xfrm>
            <a:off x="5257800" y="1956816"/>
            <a:ext cx="2377440" cy="475488"/>
          </a:xfrm>
          <a:prstGeom prst="rect">
            <a:avLst/>
          </a:prstGeom>
          <a:noFill/>
          <a:ln/>
        </p:spPr>
        <p:txBody>
          <a:bodyPr wrap="square" lIns="0" tIns="0" rIns="0" bIns="0" rtlCol="0" anchor="ctr"/>
          <a:lstStyle/>
          <a:p>
            <a:pPr indent="0" marL="0">
              <a:buNone/>
            </a:pPr>
            <a:r>
              <a:rPr lang="en-US" sz="1250" b="1" dirty="0">
                <a:solidFill>
                  <a:srgbClr val="D4A937"/>
                </a:solidFill>
                <a:latin typeface="Calibri" pitchFamily="34" charset="0"/>
                <a:ea typeface="Calibri" pitchFamily="34" charset="-122"/>
                <a:cs typeface="Calibri" pitchFamily="34" charset="-120"/>
              </a:rPr>
              <a:t>Back-to-back bookings</a:t>
            </a:r>
            <a:endParaRPr lang="en-US" sz="1250" dirty="0"/>
          </a:p>
        </p:txBody>
      </p:sp>
      <p:sp>
        <p:nvSpPr>
          <p:cNvPr id="7" name="Text 4"/>
          <p:cNvSpPr/>
          <p:nvPr/>
        </p:nvSpPr>
        <p:spPr>
          <a:xfrm>
            <a:off x="7726680" y="1956816"/>
            <a:ext cx="3566160" cy="475488"/>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One ends at 20:00, the next starts at 20:00</a:t>
            </a:r>
            <a:endParaRPr lang="en-US" sz="1150" dirty="0"/>
          </a:p>
        </p:txBody>
      </p:sp>
      <p:sp>
        <p:nvSpPr>
          <p:cNvPr id="8" name="Shape 5"/>
          <p:cNvSpPr/>
          <p:nvPr/>
        </p:nvSpPr>
        <p:spPr>
          <a:xfrm>
            <a:off x="5029200" y="2560320"/>
            <a:ext cx="6492240" cy="548640"/>
          </a:xfrm>
          <a:prstGeom prst="roundRect">
            <a:avLst>
              <a:gd name="adj" fmla="val 15000"/>
            </a:avLst>
          </a:prstGeom>
          <a:solidFill>
            <a:srgbClr val="102B23"/>
          </a:solidFill>
          <a:ln w="12700">
            <a:solidFill>
              <a:srgbClr val="17392E"/>
            </a:solidFill>
            <a:prstDash val="solid"/>
          </a:ln>
        </p:spPr>
      </p:sp>
      <p:sp>
        <p:nvSpPr>
          <p:cNvPr id="9" name="Text 6"/>
          <p:cNvSpPr/>
          <p:nvPr/>
        </p:nvSpPr>
        <p:spPr>
          <a:xfrm>
            <a:off x="5257800" y="2596896"/>
            <a:ext cx="2377440" cy="475488"/>
          </a:xfrm>
          <a:prstGeom prst="rect">
            <a:avLst/>
          </a:prstGeom>
          <a:noFill/>
          <a:ln/>
        </p:spPr>
        <p:txBody>
          <a:bodyPr wrap="square" lIns="0" tIns="0" rIns="0" bIns="0" rtlCol="0" anchor="ctr"/>
          <a:lstStyle/>
          <a:p>
            <a:pPr indent="0" marL="0">
              <a:buNone/>
            </a:pPr>
            <a:r>
              <a:rPr lang="en-US" sz="1250" b="1" dirty="0">
                <a:solidFill>
                  <a:srgbClr val="D4A937"/>
                </a:solidFill>
                <a:latin typeface="Calibri" pitchFamily="34" charset="0"/>
                <a:ea typeface="Calibri" pitchFamily="34" charset="-122"/>
                <a:cs typeface="Calibri" pitchFamily="34" charset="-120"/>
              </a:rPr>
              <a:t>Cancelling</a:t>
            </a:r>
            <a:endParaRPr lang="en-US" sz="1250" dirty="0"/>
          </a:p>
        </p:txBody>
      </p:sp>
      <p:sp>
        <p:nvSpPr>
          <p:cNvPr id="10" name="Text 7"/>
          <p:cNvSpPr/>
          <p:nvPr/>
        </p:nvSpPr>
        <p:spPr>
          <a:xfrm>
            <a:off x="7726680" y="2596896"/>
            <a:ext cx="3566160" cy="475488"/>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Does the table actually become free again?</a:t>
            </a:r>
            <a:endParaRPr lang="en-US" sz="1150" dirty="0"/>
          </a:p>
        </p:txBody>
      </p:sp>
      <p:sp>
        <p:nvSpPr>
          <p:cNvPr id="11" name="Shape 8"/>
          <p:cNvSpPr/>
          <p:nvPr/>
        </p:nvSpPr>
        <p:spPr>
          <a:xfrm>
            <a:off x="5029200" y="3200400"/>
            <a:ext cx="6492240" cy="548640"/>
          </a:xfrm>
          <a:prstGeom prst="roundRect">
            <a:avLst>
              <a:gd name="adj" fmla="val 15000"/>
            </a:avLst>
          </a:prstGeom>
          <a:solidFill>
            <a:srgbClr val="102B23"/>
          </a:solidFill>
          <a:ln w="12700">
            <a:solidFill>
              <a:srgbClr val="17392E"/>
            </a:solidFill>
            <a:prstDash val="solid"/>
          </a:ln>
        </p:spPr>
      </p:sp>
      <p:sp>
        <p:nvSpPr>
          <p:cNvPr id="12" name="Text 9"/>
          <p:cNvSpPr/>
          <p:nvPr/>
        </p:nvSpPr>
        <p:spPr>
          <a:xfrm>
            <a:off x="5257800" y="3236976"/>
            <a:ext cx="2377440" cy="475488"/>
          </a:xfrm>
          <a:prstGeom prst="rect">
            <a:avLst/>
          </a:prstGeom>
          <a:noFill/>
          <a:ln/>
        </p:spPr>
        <p:txBody>
          <a:bodyPr wrap="square" lIns="0" tIns="0" rIns="0" bIns="0" rtlCol="0" anchor="ctr"/>
          <a:lstStyle/>
          <a:p>
            <a:pPr indent="0" marL="0">
              <a:buNone/>
            </a:pPr>
            <a:r>
              <a:rPr lang="en-US" sz="1250" b="1" dirty="0">
                <a:solidFill>
                  <a:srgbClr val="D4A937"/>
                </a:solidFill>
                <a:latin typeface="Calibri" pitchFamily="34" charset="0"/>
                <a:ea typeface="Calibri" pitchFamily="34" charset="-122"/>
                <a:cs typeface="Calibri" pitchFamily="34" charset="-120"/>
              </a:rPr>
              <a:t>Restaurants open past midnight</a:t>
            </a:r>
            <a:endParaRPr lang="en-US" sz="1250" dirty="0"/>
          </a:p>
        </p:txBody>
      </p:sp>
      <p:sp>
        <p:nvSpPr>
          <p:cNvPr id="13" name="Text 10"/>
          <p:cNvSpPr/>
          <p:nvPr/>
        </p:nvSpPr>
        <p:spPr>
          <a:xfrm>
            <a:off x="7726680" y="3236976"/>
            <a:ext cx="3566160" cy="475488"/>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18:00 to 01:00 breaks a naive comparison</a:t>
            </a:r>
            <a:endParaRPr lang="en-US" sz="1150" dirty="0"/>
          </a:p>
        </p:txBody>
      </p:sp>
      <p:sp>
        <p:nvSpPr>
          <p:cNvPr id="14" name="Shape 11"/>
          <p:cNvSpPr/>
          <p:nvPr/>
        </p:nvSpPr>
        <p:spPr>
          <a:xfrm>
            <a:off x="5029200" y="3840480"/>
            <a:ext cx="6492240" cy="548640"/>
          </a:xfrm>
          <a:prstGeom prst="roundRect">
            <a:avLst>
              <a:gd name="adj" fmla="val 15000"/>
            </a:avLst>
          </a:prstGeom>
          <a:solidFill>
            <a:srgbClr val="102B23"/>
          </a:solidFill>
          <a:ln w="12700">
            <a:solidFill>
              <a:srgbClr val="17392E"/>
            </a:solidFill>
            <a:prstDash val="solid"/>
          </a:ln>
        </p:spPr>
      </p:sp>
      <p:sp>
        <p:nvSpPr>
          <p:cNvPr id="15" name="Text 12"/>
          <p:cNvSpPr/>
          <p:nvPr/>
        </p:nvSpPr>
        <p:spPr>
          <a:xfrm>
            <a:off x="5257800" y="3877056"/>
            <a:ext cx="2377440" cy="475488"/>
          </a:xfrm>
          <a:prstGeom prst="rect">
            <a:avLst/>
          </a:prstGeom>
          <a:noFill/>
          <a:ln/>
        </p:spPr>
        <p:txBody>
          <a:bodyPr wrap="square" lIns="0" tIns="0" rIns="0" bIns="0" rtlCol="0" anchor="ctr"/>
          <a:lstStyle/>
          <a:p>
            <a:pPr indent="0" marL="0">
              <a:buNone/>
            </a:pPr>
            <a:r>
              <a:rPr lang="en-US" sz="1250" b="1" dirty="0">
                <a:solidFill>
                  <a:srgbClr val="D4A937"/>
                </a:solidFill>
                <a:latin typeface="Calibri" pitchFamily="34" charset="0"/>
                <a:ea typeface="Calibri" pitchFamily="34" charset="-122"/>
                <a:cs typeface="Calibri" pitchFamily="34" charset="-120"/>
              </a:rPr>
              <a:t>Two bookings at once</a:t>
            </a:r>
            <a:endParaRPr lang="en-US" sz="1250" dirty="0"/>
          </a:p>
        </p:txBody>
      </p:sp>
      <p:sp>
        <p:nvSpPr>
          <p:cNvPr id="16" name="Text 13"/>
          <p:cNvSpPr/>
          <p:nvPr/>
        </p:nvSpPr>
        <p:spPr>
          <a:xfrm>
            <a:off x="7726680" y="3877056"/>
            <a:ext cx="3566160" cy="475488"/>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Only one can win — this is the important one</a:t>
            </a:r>
            <a:endParaRPr lang="en-US" sz="1150" dirty="0"/>
          </a:p>
        </p:txBody>
      </p:sp>
      <p:sp>
        <p:nvSpPr>
          <p:cNvPr id="17" name="Shape 14"/>
          <p:cNvSpPr/>
          <p:nvPr/>
        </p:nvSpPr>
        <p:spPr>
          <a:xfrm>
            <a:off x="5029200" y="4480560"/>
            <a:ext cx="6492240" cy="548640"/>
          </a:xfrm>
          <a:prstGeom prst="roundRect">
            <a:avLst>
              <a:gd name="adj" fmla="val 15000"/>
            </a:avLst>
          </a:prstGeom>
          <a:solidFill>
            <a:srgbClr val="102B23"/>
          </a:solidFill>
          <a:ln w="12700">
            <a:solidFill>
              <a:srgbClr val="17392E"/>
            </a:solidFill>
            <a:prstDash val="solid"/>
          </a:ln>
        </p:spPr>
      </p:sp>
      <p:sp>
        <p:nvSpPr>
          <p:cNvPr id="18" name="Text 15"/>
          <p:cNvSpPr/>
          <p:nvPr/>
        </p:nvSpPr>
        <p:spPr>
          <a:xfrm>
            <a:off x="5257800" y="4517136"/>
            <a:ext cx="2377440" cy="475488"/>
          </a:xfrm>
          <a:prstGeom prst="rect">
            <a:avLst/>
          </a:prstGeom>
          <a:noFill/>
          <a:ln/>
        </p:spPr>
        <p:txBody>
          <a:bodyPr wrap="square" lIns="0" tIns="0" rIns="0" bIns="0" rtlCol="0" anchor="ctr"/>
          <a:lstStyle/>
          <a:p>
            <a:pPr indent="0" marL="0">
              <a:buNone/>
            </a:pPr>
            <a:r>
              <a:rPr lang="en-US" sz="1250" b="1" dirty="0">
                <a:solidFill>
                  <a:srgbClr val="D4A937"/>
                </a:solidFill>
                <a:latin typeface="Calibri" pitchFamily="34" charset="0"/>
                <a:ea typeface="Calibri" pitchFamily="34" charset="-122"/>
                <a:cs typeface="Calibri" pitchFamily="34" charset="-120"/>
              </a:rPr>
              <a:t>Another manager</a:t>
            </a:r>
            <a:endParaRPr lang="en-US" sz="1250" dirty="0"/>
          </a:p>
        </p:txBody>
      </p:sp>
      <p:sp>
        <p:nvSpPr>
          <p:cNvPr id="19" name="Text 16"/>
          <p:cNvSpPr/>
          <p:nvPr/>
        </p:nvSpPr>
        <p:spPr>
          <a:xfrm>
            <a:off x="7726680" y="4517136"/>
            <a:ext cx="3566160" cy="475488"/>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Gets a 404, and the booking really is unchanged</a:t>
            </a:r>
            <a:endParaRPr lang="en-US" sz="1150" dirty="0"/>
          </a:p>
        </p:txBody>
      </p:sp>
      <p:sp>
        <p:nvSpPr>
          <p:cNvPr id="20" name="Shape 17"/>
          <p:cNvSpPr/>
          <p:nvPr/>
        </p:nvSpPr>
        <p:spPr>
          <a:xfrm>
            <a:off x="5029200" y="5120640"/>
            <a:ext cx="6492240" cy="548640"/>
          </a:xfrm>
          <a:prstGeom prst="roundRect">
            <a:avLst>
              <a:gd name="adj" fmla="val 15000"/>
            </a:avLst>
          </a:prstGeom>
          <a:solidFill>
            <a:srgbClr val="102B23"/>
          </a:solidFill>
          <a:ln w="12700">
            <a:solidFill>
              <a:srgbClr val="17392E"/>
            </a:solidFill>
            <a:prstDash val="solid"/>
          </a:ln>
        </p:spPr>
      </p:sp>
      <p:sp>
        <p:nvSpPr>
          <p:cNvPr id="21" name="Text 18"/>
          <p:cNvSpPr/>
          <p:nvPr/>
        </p:nvSpPr>
        <p:spPr>
          <a:xfrm>
            <a:off x="5257800" y="5157216"/>
            <a:ext cx="2377440" cy="475488"/>
          </a:xfrm>
          <a:prstGeom prst="rect">
            <a:avLst/>
          </a:prstGeom>
          <a:noFill/>
          <a:ln/>
        </p:spPr>
        <p:txBody>
          <a:bodyPr wrap="square" lIns="0" tIns="0" rIns="0" bIns="0" rtlCol="0" anchor="ctr"/>
          <a:lstStyle/>
          <a:p>
            <a:pPr indent="0" marL="0">
              <a:buNone/>
            </a:pPr>
            <a:r>
              <a:rPr lang="en-US" sz="1250" b="1" dirty="0">
                <a:solidFill>
                  <a:srgbClr val="D4A937"/>
                </a:solidFill>
                <a:latin typeface="Calibri" pitchFamily="34" charset="0"/>
                <a:ea typeface="Calibri" pitchFamily="34" charset="-122"/>
                <a:cs typeface="Calibri" pitchFamily="34" charset="-120"/>
              </a:rPr>
              <a:t>The login form</a:t>
            </a:r>
            <a:endParaRPr lang="en-US" sz="1250" dirty="0"/>
          </a:p>
        </p:txBody>
      </p:sp>
      <p:sp>
        <p:nvSpPr>
          <p:cNvPr id="22" name="Text 19"/>
          <p:cNvSpPr/>
          <p:nvPr/>
        </p:nvSpPr>
        <p:spPr>
          <a:xfrm>
            <a:off x="7726680" y="5157216"/>
            <a:ext cx="3566160" cy="475488"/>
          </a:xfrm>
          <a:prstGeom prst="rect">
            <a:avLst/>
          </a:prstGeom>
          <a:noFill/>
          <a:ln/>
        </p:spPr>
        <p:txBody>
          <a:bodyPr wrap="square" lIns="0" tIns="0" rIns="0" bIns="0" rtlCol="0" anchor="ctr"/>
          <a:lstStyle/>
          <a:p>
            <a:pPr indent="0" marL="0">
              <a:buNone/>
            </a:pPr>
            <a:r>
              <a:rPr lang="en-US" sz="1150" dirty="0">
                <a:solidFill>
                  <a:srgbClr val="F5F0E6"/>
                </a:solidFill>
                <a:latin typeface="Calibri" pitchFamily="34" charset="0"/>
                <a:ea typeface="Calibri" pitchFamily="34" charset="-122"/>
                <a:cs typeface="Calibri" pitchFamily="34" charset="-120"/>
              </a:rPr>
              <a:t>Wrong password and unknown email look identical</a:t>
            </a:r>
            <a:endParaRPr lang="en-US" sz="1150" dirty="0"/>
          </a:p>
        </p:txBody>
      </p:sp>
      <p:sp>
        <p:nvSpPr>
          <p:cNvPr id="23" name="Text 20"/>
          <p:cNvSpPr/>
          <p:nvPr/>
        </p:nvSpPr>
        <p:spPr>
          <a:xfrm>
            <a:off x="640080" y="5943600"/>
            <a:ext cx="10881360" cy="365760"/>
          </a:xfrm>
          <a:prstGeom prst="rect">
            <a:avLst/>
          </a:prstGeom>
          <a:noFill/>
          <a:ln/>
        </p:spPr>
        <p:txBody>
          <a:bodyPr wrap="square" lIns="0" tIns="0" rIns="0" bIns="0" rtlCol="0" anchor="ctr"/>
          <a:lstStyle/>
          <a:p>
            <a:pPr indent="0" marL="0">
              <a:buNone/>
            </a:pPr>
            <a:r>
              <a:rPr lang="en-US" sz="1300" i="1" dirty="0">
                <a:solidFill>
                  <a:srgbClr val="97B0A2"/>
                </a:solidFill>
                <a:latin typeface="Calibri" pitchFamily="34" charset="0"/>
                <a:ea typeface="Calibri" pitchFamily="34" charset="-122"/>
                <a:cs typeface="Calibri" pitchFamily="34" charset="-120"/>
              </a:rPr>
              <a:t>65 tests. They run in about a second, so I ran them constantly.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310"/>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indent="0" marL="0">
              <a:buNone/>
            </a:pPr>
            <a:r>
              <a:rPr lang="en-US" sz="3600" b="1" dirty="0">
                <a:solidFill>
                  <a:srgbClr val="F5F0E6"/>
                </a:solidFill>
                <a:latin typeface="Cambria" pitchFamily="34" charset="0"/>
                <a:ea typeface="Cambria" pitchFamily="34" charset="-122"/>
                <a:cs typeface="Cambria" pitchFamily="34" charset="-120"/>
              </a:rPr>
              <a:t>What I did not get to</a:t>
            </a:r>
            <a:endParaRPr lang="en-US" sz="3600" dirty="0"/>
          </a:p>
        </p:txBody>
      </p:sp>
      <p:sp>
        <p:nvSpPr>
          <p:cNvPr id="3" name="Text 1"/>
          <p:cNvSpPr/>
          <p:nvPr/>
        </p:nvSpPr>
        <p:spPr>
          <a:xfrm>
            <a:off x="640080" y="1188720"/>
            <a:ext cx="10881360" cy="365760"/>
          </a:xfrm>
          <a:prstGeom prst="rect">
            <a:avLst/>
          </a:prstGeom>
          <a:noFill/>
          <a:ln/>
        </p:spPr>
        <p:txBody>
          <a:bodyPr wrap="square" lIns="0" tIns="0" rIns="0" bIns="0" rtlCol="0" anchor="ctr"/>
          <a:lstStyle/>
          <a:p>
            <a:pPr indent="0" marL="0">
              <a:buNone/>
            </a:pPr>
            <a:r>
              <a:rPr lang="en-US" sz="1400" dirty="0">
                <a:solidFill>
                  <a:srgbClr val="97B0A2"/>
                </a:solidFill>
                <a:latin typeface="Calibri" pitchFamily="34" charset="0"/>
                <a:ea typeface="Calibri" pitchFamily="34" charset="-122"/>
                <a:cs typeface="Calibri" pitchFamily="34" charset="-120"/>
              </a:rPr>
              <a:t>Being straight about the gaps</a:t>
            </a:r>
            <a:endParaRPr lang="en-US" sz="1400" dirty="0"/>
          </a:p>
        </p:txBody>
      </p:sp>
      <p:sp>
        <p:nvSpPr>
          <p:cNvPr id="4" name="Shape 2"/>
          <p:cNvSpPr/>
          <p:nvPr/>
        </p:nvSpPr>
        <p:spPr>
          <a:xfrm>
            <a:off x="640080" y="1828800"/>
            <a:ext cx="10881360" cy="914400"/>
          </a:xfrm>
          <a:prstGeom prst="roundRect">
            <a:avLst>
              <a:gd name="adj" fmla="val 9000"/>
            </a:avLst>
          </a:prstGeom>
          <a:solidFill>
            <a:srgbClr val="102B23"/>
          </a:solidFill>
          <a:ln w="12700">
            <a:solidFill>
              <a:srgbClr val="17392E"/>
            </a:solidFill>
            <a:prstDash val="solid"/>
          </a:ln>
        </p:spPr>
      </p:sp>
      <p:sp>
        <p:nvSpPr>
          <p:cNvPr id="5" name="Text 3"/>
          <p:cNvSpPr/>
          <p:nvPr/>
        </p:nvSpPr>
        <p:spPr>
          <a:xfrm>
            <a:off x="960120" y="1901952"/>
            <a:ext cx="10241280" cy="292608"/>
          </a:xfrm>
          <a:prstGeom prst="rect">
            <a:avLst/>
          </a:prstGeom>
          <a:noFill/>
          <a:ln/>
        </p:spPr>
        <p:txBody>
          <a:bodyPr wrap="square" lIns="0" tIns="0" rIns="0" bIns="0" rtlCol="0" anchor="ctr"/>
          <a:lstStyle/>
          <a:p>
            <a:pPr indent="0" marL="0">
              <a:buNone/>
            </a:pPr>
            <a:r>
              <a:rPr lang="en-US" sz="1450" b="1" dirty="0">
                <a:solidFill>
                  <a:srgbClr val="C2683A"/>
                </a:solidFill>
                <a:latin typeface="Calibri" pitchFamily="34" charset="0"/>
                <a:ea typeface="Calibri" pitchFamily="34" charset="-122"/>
                <a:cs typeface="Calibri" pitchFamily="34" charset="-120"/>
              </a:rPr>
              <a:t>It is not deployed</a:t>
            </a:r>
            <a:endParaRPr lang="en-US" sz="1450" dirty="0"/>
          </a:p>
        </p:txBody>
      </p:sp>
      <p:sp>
        <p:nvSpPr>
          <p:cNvPr id="6" name="Text 4"/>
          <p:cNvSpPr/>
          <p:nvPr/>
        </p:nvSpPr>
        <p:spPr>
          <a:xfrm>
            <a:off x="960120" y="2212848"/>
            <a:ext cx="10241280" cy="475488"/>
          </a:xfrm>
          <a:prstGeom prst="rect">
            <a:avLst/>
          </a:prstGeom>
          <a:noFill/>
          <a:ln/>
        </p:spPr>
        <p:txBody>
          <a:bodyPr wrap="square" lIns="0" tIns="0" rIns="0" bIns="0" rtlCol="0" anchor="ctr"/>
          <a:lstStyle/>
          <a:p>
            <a:pPr indent="0" marL="0">
              <a:buNone/>
            </a:pPr>
            <a:r>
              <a:rPr lang="en-US" sz="1250" dirty="0">
                <a:solidFill>
                  <a:srgbClr val="97B0A2"/>
                </a:solidFill>
                <a:latin typeface="Calibri" pitchFamily="34" charset="0"/>
                <a:ea typeface="Calibri" pitchFamily="34" charset="-122"/>
                <a:cs typeface="Calibri" pitchFamily="34" charset="-120"/>
              </a:rPr>
              <a:t>The brief lists deployment as optional and I ran out of time. Configuration is all environment variables, so it is ready to go, but "ready to deploy" is not the same as deployed.</a:t>
            </a:r>
            <a:endParaRPr lang="en-US" sz="1250" dirty="0"/>
          </a:p>
        </p:txBody>
      </p:sp>
      <p:sp>
        <p:nvSpPr>
          <p:cNvPr id="7" name="Shape 5"/>
          <p:cNvSpPr/>
          <p:nvPr/>
        </p:nvSpPr>
        <p:spPr>
          <a:xfrm>
            <a:off x="640080" y="2880360"/>
            <a:ext cx="10881360" cy="914400"/>
          </a:xfrm>
          <a:prstGeom prst="roundRect">
            <a:avLst>
              <a:gd name="adj" fmla="val 9000"/>
            </a:avLst>
          </a:prstGeom>
          <a:solidFill>
            <a:srgbClr val="102B23"/>
          </a:solidFill>
          <a:ln w="12700">
            <a:solidFill>
              <a:srgbClr val="17392E"/>
            </a:solidFill>
            <a:prstDash val="solid"/>
          </a:ln>
        </p:spPr>
      </p:sp>
      <p:sp>
        <p:nvSpPr>
          <p:cNvPr id="8" name="Text 6"/>
          <p:cNvSpPr/>
          <p:nvPr/>
        </p:nvSpPr>
        <p:spPr>
          <a:xfrm>
            <a:off x="960120" y="2953512"/>
            <a:ext cx="10241280" cy="292608"/>
          </a:xfrm>
          <a:prstGeom prst="rect">
            <a:avLst/>
          </a:prstGeom>
          <a:noFill/>
          <a:ln/>
        </p:spPr>
        <p:txBody>
          <a:bodyPr wrap="square" lIns="0" tIns="0" rIns="0" bIns="0" rtlCol="0" anchor="ctr"/>
          <a:lstStyle/>
          <a:p>
            <a:pPr indent="0" marL="0">
              <a:buNone/>
            </a:pPr>
            <a:r>
              <a:rPr lang="en-US" sz="1450" b="1" dirty="0">
                <a:solidFill>
                  <a:srgbClr val="C2683A"/>
                </a:solidFill>
                <a:latin typeface="Calibri" pitchFamily="34" charset="0"/>
                <a:ea typeface="Calibri" pitchFamily="34" charset="-122"/>
                <a:cs typeface="Calibri" pitchFamily="34" charset="-120"/>
              </a:rPr>
              <a:t>No front-end tests</a:t>
            </a:r>
            <a:endParaRPr lang="en-US" sz="1450" dirty="0"/>
          </a:p>
        </p:txBody>
      </p:sp>
      <p:sp>
        <p:nvSpPr>
          <p:cNvPr id="9" name="Text 7"/>
          <p:cNvSpPr/>
          <p:nvPr/>
        </p:nvSpPr>
        <p:spPr>
          <a:xfrm>
            <a:off x="960120" y="3264408"/>
            <a:ext cx="10241280" cy="475488"/>
          </a:xfrm>
          <a:prstGeom prst="rect">
            <a:avLst/>
          </a:prstGeom>
          <a:noFill/>
          <a:ln/>
        </p:spPr>
        <p:txBody>
          <a:bodyPr wrap="square" lIns="0" tIns="0" rIns="0" bIns="0" rtlCol="0" anchor="ctr"/>
          <a:lstStyle/>
          <a:p>
            <a:pPr indent="0" marL="0">
              <a:buNone/>
            </a:pPr>
            <a:r>
              <a:rPr lang="en-US" sz="1250" dirty="0">
                <a:solidFill>
                  <a:srgbClr val="97B0A2"/>
                </a:solidFill>
                <a:latin typeface="Calibri" pitchFamily="34" charset="0"/>
                <a:ea typeface="Calibri" pitchFamily="34" charset="-122"/>
                <a:cs typeface="Calibri" pitchFamily="34" charset="-120"/>
              </a:rPr>
              <a:t>All 65 tests are on the back end. The React side I checked by hand, which is not good enough and is the first thing I would fix.</a:t>
            </a:r>
            <a:endParaRPr lang="en-US" sz="1250" dirty="0"/>
          </a:p>
        </p:txBody>
      </p:sp>
      <p:sp>
        <p:nvSpPr>
          <p:cNvPr id="10" name="Shape 8"/>
          <p:cNvSpPr/>
          <p:nvPr/>
        </p:nvSpPr>
        <p:spPr>
          <a:xfrm>
            <a:off x="640080" y="3931920"/>
            <a:ext cx="10881360" cy="914400"/>
          </a:xfrm>
          <a:prstGeom prst="roundRect">
            <a:avLst>
              <a:gd name="adj" fmla="val 9000"/>
            </a:avLst>
          </a:prstGeom>
          <a:solidFill>
            <a:srgbClr val="102B23"/>
          </a:solidFill>
          <a:ln w="12700">
            <a:solidFill>
              <a:srgbClr val="17392E"/>
            </a:solidFill>
            <a:prstDash val="solid"/>
          </a:ln>
        </p:spPr>
      </p:sp>
      <p:sp>
        <p:nvSpPr>
          <p:cNvPr id="11" name="Text 9"/>
          <p:cNvSpPr/>
          <p:nvPr/>
        </p:nvSpPr>
        <p:spPr>
          <a:xfrm>
            <a:off x="960120" y="4005072"/>
            <a:ext cx="10241280" cy="292608"/>
          </a:xfrm>
          <a:prstGeom prst="rect">
            <a:avLst/>
          </a:prstGeom>
          <a:noFill/>
          <a:ln/>
        </p:spPr>
        <p:txBody>
          <a:bodyPr wrap="square" lIns="0" tIns="0" rIns="0" bIns="0" rtlCol="0" anchor="ctr"/>
          <a:lstStyle/>
          <a:p>
            <a:pPr indent="0" marL="0">
              <a:buNone/>
            </a:pPr>
            <a:r>
              <a:rPr lang="en-US" sz="1450" b="1" dirty="0">
                <a:solidFill>
                  <a:srgbClr val="C2683A"/>
                </a:solidFill>
                <a:latin typeface="Calibri" pitchFamily="34" charset="0"/>
                <a:ea typeface="Calibri" pitchFamily="34" charset="-122"/>
                <a:cs typeface="Calibri" pitchFamily="34" charset="-120"/>
              </a:rPr>
              <a:t>No Docker</a:t>
            </a:r>
            <a:endParaRPr lang="en-US" sz="1450" dirty="0"/>
          </a:p>
        </p:txBody>
      </p:sp>
      <p:sp>
        <p:nvSpPr>
          <p:cNvPr id="12" name="Text 10"/>
          <p:cNvSpPr/>
          <p:nvPr/>
        </p:nvSpPr>
        <p:spPr>
          <a:xfrm>
            <a:off x="960120" y="4315968"/>
            <a:ext cx="10241280" cy="475488"/>
          </a:xfrm>
          <a:prstGeom prst="rect">
            <a:avLst/>
          </a:prstGeom>
          <a:noFill/>
          <a:ln/>
        </p:spPr>
        <p:txBody>
          <a:bodyPr wrap="square" lIns="0" tIns="0" rIns="0" bIns="0" rtlCol="0" anchor="ctr"/>
          <a:lstStyle/>
          <a:p>
            <a:pPr indent="0" marL="0">
              <a:buNone/>
            </a:pPr>
            <a:r>
              <a:rPr lang="en-US" sz="1250" dirty="0">
                <a:solidFill>
                  <a:srgbClr val="97B0A2"/>
                </a:solidFill>
                <a:latin typeface="Calibri" pitchFamily="34" charset="0"/>
                <a:ea typeface="Calibri" pitchFamily="34" charset="-122"/>
                <a:cs typeface="Calibri" pitchFamily="34" charset="-120"/>
              </a:rPr>
              <a:t>Also optional in the brief. Same reason.</a:t>
            </a:r>
            <a:endParaRPr lang="en-US" sz="1250" dirty="0"/>
          </a:p>
        </p:txBody>
      </p:sp>
      <p:sp>
        <p:nvSpPr>
          <p:cNvPr id="13" name="Shape 11"/>
          <p:cNvSpPr/>
          <p:nvPr/>
        </p:nvSpPr>
        <p:spPr>
          <a:xfrm>
            <a:off x="640080" y="4983480"/>
            <a:ext cx="10881360" cy="914400"/>
          </a:xfrm>
          <a:prstGeom prst="roundRect">
            <a:avLst>
              <a:gd name="adj" fmla="val 9000"/>
            </a:avLst>
          </a:prstGeom>
          <a:solidFill>
            <a:srgbClr val="102B23"/>
          </a:solidFill>
          <a:ln w="12700">
            <a:solidFill>
              <a:srgbClr val="17392E"/>
            </a:solidFill>
            <a:prstDash val="solid"/>
          </a:ln>
        </p:spPr>
      </p:sp>
      <p:sp>
        <p:nvSpPr>
          <p:cNvPr id="14" name="Text 12"/>
          <p:cNvSpPr/>
          <p:nvPr/>
        </p:nvSpPr>
        <p:spPr>
          <a:xfrm>
            <a:off x="960120" y="5056632"/>
            <a:ext cx="10241280" cy="292608"/>
          </a:xfrm>
          <a:prstGeom prst="rect">
            <a:avLst/>
          </a:prstGeom>
          <a:noFill/>
          <a:ln/>
        </p:spPr>
        <p:txBody>
          <a:bodyPr wrap="square" lIns="0" tIns="0" rIns="0" bIns="0" rtlCol="0" anchor="ctr"/>
          <a:lstStyle/>
          <a:p>
            <a:pPr indent="0" marL="0">
              <a:buNone/>
            </a:pPr>
            <a:r>
              <a:rPr lang="en-US" sz="1450" b="1" dirty="0">
                <a:solidFill>
                  <a:srgbClr val="C2683A"/>
                </a:solidFill>
                <a:latin typeface="Calibri" pitchFamily="34" charset="0"/>
                <a:ea typeface="Calibri" pitchFamily="34" charset="-122"/>
                <a:cs typeface="Calibri" pitchFamily="34" charset="-120"/>
              </a:rPr>
              <a:t>SQLite, not a real database server</a:t>
            </a:r>
            <a:endParaRPr lang="en-US" sz="1450" dirty="0"/>
          </a:p>
        </p:txBody>
      </p:sp>
      <p:sp>
        <p:nvSpPr>
          <p:cNvPr id="15" name="Text 13"/>
          <p:cNvSpPr/>
          <p:nvPr/>
        </p:nvSpPr>
        <p:spPr>
          <a:xfrm>
            <a:off x="960120" y="5367528"/>
            <a:ext cx="10241280" cy="475488"/>
          </a:xfrm>
          <a:prstGeom prst="rect">
            <a:avLst/>
          </a:prstGeom>
          <a:noFill/>
          <a:ln/>
        </p:spPr>
        <p:txBody>
          <a:bodyPr wrap="square" lIns="0" tIns="0" rIns="0" bIns="0" rtlCol="0" anchor="ctr"/>
          <a:lstStyle/>
          <a:p>
            <a:pPr indent="0" marL="0">
              <a:buNone/>
            </a:pPr>
            <a:r>
              <a:rPr lang="en-US" sz="1250" dirty="0">
                <a:solidFill>
                  <a:srgbClr val="97B0A2"/>
                </a:solidFill>
                <a:latin typeface="Calibri" pitchFamily="34" charset="0"/>
                <a:ea typeface="Calibri" pitchFamily="34" charset="-122"/>
                <a:cs typeface="Calibri" pitchFamily="34" charset="-120"/>
              </a:rPr>
              <a:t>Fine for this, and it makes the project easy to run. It would not survive more than one server instance.</a:t>
            </a:r>
            <a:endParaRPr lang="en-US" sz="1250" dirty="0"/>
          </a:p>
        </p:txBody>
      </p:sp>
      <p:sp>
        <p:nvSpPr>
          <p:cNvPr id="16" name="Text 14"/>
          <p:cNvSpPr/>
          <p:nvPr/>
        </p:nvSpPr>
        <p:spPr>
          <a:xfrm>
            <a:off x="640080" y="6172200"/>
            <a:ext cx="10881360" cy="365760"/>
          </a:xfrm>
          <a:prstGeom prst="rect">
            <a:avLst/>
          </a:prstGeom>
          <a:noFill/>
          <a:ln/>
        </p:spPr>
        <p:txBody>
          <a:bodyPr wrap="square" lIns="0" tIns="0" rIns="0" bIns="0" rtlCol="0" anchor="ctr"/>
          <a:lstStyle/>
          <a:p>
            <a:pPr indent="0" marL="0">
              <a:buNone/>
            </a:pPr>
            <a:r>
              <a:rPr lang="en-US" sz="1300" i="1" dirty="0">
                <a:solidFill>
                  <a:srgbClr val="F5F0E6"/>
                </a:solidFill>
                <a:latin typeface="Calibri" pitchFamily="34" charset="0"/>
                <a:ea typeface="Calibri" pitchFamily="34" charset="-122"/>
                <a:cs typeface="Calibri" pitchFamily="34" charset="-120"/>
              </a:rPr>
              <a:t>I would rather tell you these than have you find them.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30907"/>
        </a:solidFill>
      </p:bgPr>
    </p:bg>
    <p:spTree>
      <p:nvGrpSpPr>
        <p:cNvPr id="1" name=""/>
        <p:cNvGrpSpPr/>
        <p:nvPr/>
      </p:nvGrpSpPr>
      <p:grpSpPr>
        <a:xfrm>
          <a:off x="0" y="0"/>
          <a:ext cx="0" cy="0"/>
          <a:chOff x="0" y="0"/>
          <a:chExt cx="0" cy="0"/>
        </a:xfrm>
      </p:grpSpPr>
      <p:sp>
        <p:nvSpPr>
          <p:cNvPr id="2" name="Text 0"/>
          <p:cNvSpPr/>
          <p:nvPr/>
        </p:nvSpPr>
        <p:spPr>
          <a:xfrm>
            <a:off x="640080" y="640080"/>
            <a:ext cx="10881360" cy="822960"/>
          </a:xfrm>
          <a:prstGeom prst="rect">
            <a:avLst/>
          </a:prstGeom>
          <a:noFill/>
          <a:ln/>
        </p:spPr>
        <p:txBody>
          <a:bodyPr wrap="square" lIns="0" tIns="0" rIns="0" bIns="0" rtlCol="0" anchor="ctr"/>
          <a:lstStyle/>
          <a:p>
            <a:pPr indent="0" marL="0">
              <a:buNone/>
            </a:pPr>
            <a:r>
              <a:rPr lang="en-US" sz="3600" b="1" dirty="0">
                <a:solidFill>
                  <a:srgbClr val="F5F0E6"/>
                </a:solidFill>
                <a:latin typeface="Cambria" pitchFamily="34" charset="0"/>
                <a:ea typeface="Cambria" pitchFamily="34" charset="-122"/>
                <a:cs typeface="Cambria" pitchFamily="34" charset="-120"/>
              </a:rPr>
              <a:t>What I learned</a:t>
            </a:r>
            <a:endParaRPr lang="en-US" sz="3600" dirty="0"/>
          </a:p>
        </p:txBody>
      </p:sp>
      <p:sp>
        <p:nvSpPr>
          <p:cNvPr id="3" name="Shape 1"/>
          <p:cNvSpPr/>
          <p:nvPr/>
        </p:nvSpPr>
        <p:spPr>
          <a:xfrm>
            <a:off x="640080" y="1737360"/>
            <a:ext cx="5303520" cy="1417320"/>
          </a:xfrm>
          <a:prstGeom prst="roundRect">
            <a:avLst>
              <a:gd name="adj" fmla="val 5806"/>
            </a:avLst>
          </a:prstGeom>
          <a:solidFill>
            <a:srgbClr val="102B23"/>
          </a:solidFill>
          <a:ln w="12700">
            <a:solidFill>
              <a:srgbClr val="17392E"/>
            </a:solidFill>
            <a:prstDash val="solid"/>
          </a:ln>
        </p:spPr>
      </p:sp>
      <p:sp>
        <p:nvSpPr>
          <p:cNvPr id="4" name="Text 2"/>
          <p:cNvSpPr/>
          <p:nvPr/>
        </p:nvSpPr>
        <p:spPr>
          <a:xfrm>
            <a:off x="914400" y="1874520"/>
            <a:ext cx="4754880" cy="502920"/>
          </a:xfrm>
          <a:prstGeom prst="rect">
            <a:avLst/>
          </a:prstGeom>
          <a:noFill/>
          <a:ln/>
        </p:spPr>
        <p:txBody>
          <a:bodyPr wrap="square" lIns="0" tIns="0" rIns="0" bIns="0" rtlCol="0" anchor="ctr"/>
          <a:lstStyle/>
          <a:p>
            <a:pPr indent="0" marL="0">
              <a:buNone/>
            </a:pPr>
            <a:r>
              <a:rPr lang="en-US" sz="1600" b="1" dirty="0">
                <a:solidFill>
                  <a:srgbClr val="D4A937"/>
                </a:solidFill>
                <a:latin typeface="Cambria" pitchFamily="34" charset="0"/>
                <a:ea typeface="Cambria" pitchFamily="34" charset="-122"/>
                <a:cs typeface="Cambria" pitchFamily="34" charset="-120"/>
              </a:rPr>
              <a:t>Checking a role is not checking permission</a:t>
            </a:r>
            <a:endParaRPr lang="en-US" sz="1600" dirty="0"/>
          </a:p>
        </p:txBody>
      </p:sp>
      <p:sp>
        <p:nvSpPr>
          <p:cNvPr id="5" name="Text 3"/>
          <p:cNvSpPr/>
          <p:nvPr/>
        </p:nvSpPr>
        <p:spPr>
          <a:xfrm>
            <a:off x="914400" y="2395728"/>
            <a:ext cx="4754880" cy="64008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Knowing someone is a manager does not tell you which restaurant is theirs.</a:t>
            </a:r>
            <a:endParaRPr lang="en-US" sz="1250" dirty="0"/>
          </a:p>
        </p:txBody>
      </p:sp>
      <p:sp>
        <p:nvSpPr>
          <p:cNvPr id="6" name="Shape 4"/>
          <p:cNvSpPr/>
          <p:nvPr/>
        </p:nvSpPr>
        <p:spPr>
          <a:xfrm>
            <a:off x="6217920" y="1737360"/>
            <a:ext cx="5303520" cy="1417320"/>
          </a:xfrm>
          <a:prstGeom prst="roundRect">
            <a:avLst>
              <a:gd name="adj" fmla="val 5806"/>
            </a:avLst>
          </a:prstGeom>
          <a:solidFill>
            <a:srgbClr val="102B23"/>
          </a:solidFill>
          <a:ln w="12700">
            <a:solidFill>
              <a:srgbClr val="17392E"/>
            </a:solidFill>
            <a:prstDash val="solid"/>
          </a:ln>
        </p:spPr>
      </p:sp>
      <p:sp>
        <p:nvSpPr>
          <p:cNvPr id="7" name="Text 5"/>
          <p:cNvSpPr/>
          <p:nvPr/>
        </p:nvSpPr>
        <p:spPr>
          <a:xfrm>
            <a:off x="6492240" y="1874520"/>
            <a:ext cx="4754880" cy="502920"/>
          </a:xfrm>
          <a:prstGeom prst="rect">
            <a:avLst/>
          </a:prstGeom>
          <a:noFill/>
          <a:ln/>
        </p:spPr>
        <p:txBody>
          <a:bodyPr wrap="square" lIns="0" tIns="0" rIns="0" bIns="0" rtlCol="0" anchor="ctr"/>
          <a:lstStyle/>
          <a:p>
            <a:pPr indent="0" marL="0">
              <a:buNone/>
            </a:pPr>
            <a:r>
              <a:rPr lang="en-US" sz="1600" b="1" dirty="0">
                <a:solidFill>
                  <a:srgbClr val="D4A937"/>
                </a:solidFill>
                <a:latin typeface="Cambria" pitchFamily="34" charset="0"/>
                <a:ea typeface="Cambria" pitchFamily="34" charset="-122"/>
                <a:cs typeface="Cambria" pitchFamily="34" charset="-120"/>
              </a:rPr>
              <a:t>Some bugs only exist between two requests</a:t>
            </a:r>
            <a:endParaRPr lang="en-US" sz="1600" dirty="0"/>
          </a:p>
        </p:txBody>
      </p:sp>
      <p:sp>
        <p:nvSpPr>
          <p:cNvPr id="8" name="Text 6"/>
          <p:cNvSpPr/>
          <p:nvPr/>
        </p:nvSpPr>
        <p:spPr>
          <a:xfrm>
            <a:off x="6492240" y="2395728"/>
            <a:ext cx="4754880" cy="64008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The double-booking one is invisible until you deliberately go looking for it.</a:t>
            </a:r>
            <a:endParaRPr lang="en-US" sz="1250" dirty="0"/>
          </a:p>
        </p:txBody>
      </p:sp>
      <p:sp>
        <p:nvSpPr>
          <p:cNvPr id="9" name="Shape 7"/>
          <p:cNvSpPr/>
          <p:nvPr/>
        </p:nvSpPr>
        <p:spPr>
          <a:xfrm>
            <a:off x="640080" y="3337560"/>
            <a:ext cx="5303520" cy="1417320"/>
          </a:xfrm>
          <a:prstGeom prst="roundRect">
            <a:avLst>
              <a:gd name="adj" fmla="val 5806"/>
            </a:avLst>
          </a:prstGeom>
          <a:solidFill>
            <a:srgbClr val="102B23"/>
          </a:solidFill>
          <a:ln w="12700">
            <a:solidFill>
              <a:srgbClr val="17392E"/>
            </a:solidFill>
            <a:prstDash val="solid"/>
          </a:ln>
        </p:spPr>
      </p:sp>
      <p:sp>
        <p:nvSpPr>
          <p:cNvPr id="10" name="Text 8"/>
          <p:cNvSpPr/>
          <p:nvPr/>
        </p:nvSpPr>
        <p:spPr>
          <a:xfrm>
            <a:off x="914400" y="3474720"/>
            <a:ext cx="4754880" cy="502920"/>
          </a:xfrm>
          <a:prstGeom prst="rect">
            <a:avLst/>
          </a:prstGeom>
          <a:noFill/>
          <a:ln/>
        </p:spPr>
        <p:txBody>
          <a:bodyPr wrap="square" lIns="0" tIns="0" rIns="0" bIns="0" rtlCol="0" anchor="ctr"/>
          <a:lstStyle/>
          <a:p>
            <a:pPr indent="0" marL="0">
              <a:buNone/>
            </a:pPr>
            <a:r>
              <a:rPr lang="en-US" sz="1600" b="1" dirty="0">
                <a:solidFill>
                  <a:srgbClr val="D4A937"/>
                </a:solidFill>
                <a:latin typeface="Cambria" pitchFamily="34" charset="0"/>
                <a:ea typeface="Cambria" pitchFamily="34" charset="-122"/>
                <a:cs typeface="Cambria" pitchFamily="34" charset="-120"/>
              </a:rPr>
              <a:t>Keep the hard logic away from everything else</a:t>
            </a:r>
            <a:endParaRPr lang="en-US" sz="1600" dirty="0"/>
          </a:p>
        </p:txBody>
      </p:sp>
      <p:sp>
        <p:nvSpPr>
          <p:cNvPr id="11" name="Text 9"/>
          <p:cNvSpPr/>
          <p:nvPr/>
        </p:nvSpPr>
        <p:spPr>
          <a:xfrm>
            <a:off x="914400" y="3995928"/>
            <a:ext cx="4754880" cy="64008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The booking rules touch no database and no web server, which is the only reason I could test them properly.</a:t>
            </a:r>
            <a:endParaRPr lang="en-US" sz="1250" dirty="0"/>
          </a:p>
        </p:txBody>
      </p:sp>
      <p:sp>
        <p:nvSpPr>
          <p:cNvPr id="12" name="Shape 10"/>
          <p:cNvSpPr/>
          <p:nvPr/>
        </p:nvSpPr>
        <p:spPr>
          <a:xfrm>
            <a:off x="6217920" y="3337560"/>
            <a:ext cx="5303520" cy="1417320"/>
          </a:xfrm>
          <a:prstGeom prst="roundRect">
            <a:avLst>
              <a:gd name="adj" fmla="val 5806"/>
            </a:avLst>
          </a:prstGeom>
          <a:solidFill>
            <a:srgbClr val="102B23"/>
          </a:solidFill>
          <a:ln w="12700">
            <a:solidFill>
              <a:srgbClr val="17392E"/>
            </a:solidFill>
            <a:prstDash val="solid"/>
          </a:ln>
        </p:spPr>
      </p:sp>
      <p:sp>
        <p:nvSpPr>
          <p:cNvPr id="13" name="Text 11"/>
          <p:cNvSpPr/>
          <p:nvPr/>
        </p:nvSpPr>
        <p:spPr>
          <a:xfrm>
            <a:off x="6492240" y="3474720"/>
            <a:ext cx="4754880" cy="502920"/>
          </a:xfrm>
          <a:prstGeom prst="rect">
            <a:avLst/>
          </a:prstGeom>
          <a:noFill/>
          <a:ln/>
        </p:spPr>
        <p:txBody>
          <a:bodyPr wrap="square" lIns="0" tIns="0" rIns="0" bIns="0" rtlCol="0" anchor="ctr"/>
          <a:lstStyle/>
          <a:p>
            <a:pPr indent="0" marL="0">
              <a:buNone/>
            </a:pPr>
            <a:r>
              <a:rPr lang="en-US" sz="1600" b="1" dirty="0">
                <a:solidFill>
                  <a:srgbClr val="D4A937"/>
                </a:solidFill>
                <a:latin typeface="Cambria" pitchFamily="34" charset="0"/>
                <a:ea typeface="Cambria" pitchFamily="34" charset="-122"/>
                <a:cs typeface="Cambria" pitchFamily="34" charset="-120"/>
              </a:rPr>
              <a:t>Time is harder than it looks</a:t>
            </a:r>
            <a:endParaRPr lang="en-US" sz="1600" dirty="0"/>
          </a:p>
        </p:txBody>
      </p:sp>
      <p:sp>
        <p:nvSpPr>
          <p:cNvPr id="14" name="Text 12"/>
          <p:cNvSpPr/>
          <p:nvPr/>
        </p:nvSpPr>
        <p:spPr>
          <a:xfrm>
            <a:off x="6492240" y="3995928"/>
            <a:ext cx="4754880" cy="640080"/>
          </a:xfrm>
          <a:prstGeom prst="rect">
            <a:avLst/>
          </a:prstGeom>
          <a:noFill/>
          <a:ln/>
        </p:spPr>
        <p:txBody>
          <a:bodyPr wrap="square" lIns="0" tIns="0" rIns="0" bIns="0" rtlCol="0" anchor="ctr"/>
          <a:lstStyle/>
          <a:p>
            <a:pPr indent="0" marL="0">
              <a:buNone/>
            </a:pPr>
            <a:r>
              <a:rPr lang="en-US" sz="1250" dirty="0">
                <a:solidFill>
                  <a:srgbClr val="F5F0E6"/>
                </a:solidFill>
                <a:latin typeface="Calibri" pitchFamily="34" charset="0"/>
                <a:ea typeface="Calibri" pitchFamily="34" charset="-122"/>
                <a:cs typeface="Calibri" pitchFamily="34" charset="-120"/>
              </a:rPr>
              <a:t>Time zones, half-open intervals and restaurants open past midnight all caught me out.</a:t>
            </a:r>
            <a:endParaRPr lang="en-US" sz="1250" dirty="0"/>
          </a:p>
        </p:txBody>
      </p:sp>
      <p:sp>
        <p:nvSpPr>
          <p:cNvPr id="15" name="Shape 13"/>
          <p:cNvSpPr/>
          <p:nvPr/>
        </p:nvSpPr>
        <p:spPr>
          <a:xfrm>
            <a:off x="640080" y="5120640"/>
            <a:ext cx="2743200" cy="0"/>
          </a:xfrm>
          <a:prstGeom prst="line">
            <a:avLst/>
          </a:prstGeom>
          <a:noFill/>
          <a:ln w="25400">
            <a:solidFill>
              <a:srgbClr val="D4A937"/>
            </a:solidFill>
            <a:prstDash val="solid"/>
          </a:ln>
        </p:spPr>
      </p:sp>
      <p:sp>
        <p:nvSpPr>
          <p:cNvPr id="16" name="Text 14"/>
          <p:cNvSpPr/>
          <p:nvPr/>
        </p:nvSpPr>
        <p:spPr>
          <a:xfrm>
            <a:off x="640080" y="5349240"/>
            <a:ext cx="10881360" cy="548640"/>
          </a:xfrm>
          <a:prstGeom prst="rect">
            <a:avLst/>
          </a:prstGeom>
          <a:noFill/>
          <a:ln/>
        </p:spPr>
        <p:txBody>
          <a:bodyPr wrap="square" lIns="0" tIns="0" rIns="0" bIns="0" rtlCol="0" anchor="ctr"/>
          <a:lstStyle/>
          <a:p>
            <a:pPr indent="0" marL="0">
              <a:buNone/>
            </a:pPr>
            <a:r>
              <a:rPr lang="en-US" sz="2500" dirty="0">
                <a:solidFill>
                  <a:srgbClr val="D4A937"/>
                </a:solidFill>
                <a:latin typeface="Cambria" pitchFamily="34" charset="0"/>
                <a:ea typeface="Cambria" pitchFamily="34" charset="-122"/>
                <a:cs typeface="Cambria" pitchFamily="34" charset="-120"/>
              </a:rPr>
              <a:t>Thank you — happy to take questions</a:t>
            </a:r>
            <a:endParaRPr lang="en-US" sz="2500" dirty="0"/>
          </a:p>
        </p:txBody>
      </p:sp>
      <p:sp>
        <p:nvSpPr>
          <p:cNvPr id="17" name="Text 15"/>
          <p:cNvSpPr/>
          <p:nvPr/>
        </p:nvSpPr>
        <p:spPr>
          <a:xfrm>
            <a:off x="640080" y="5943600"/>
            <a:ext cx="10881360" cy="365760"/>
          </a:xfrm>
          <a:prstGeom prst="rect">
            <a:avLst/>
          </a:prstGeom>
          <a:noFill/>
          <a:ln/>
        </p:spPr>
        <p:txBody>
          <a:bodyPr wrap="square" lIns="0" tIns="0" rIns="0" bIns="0" rtlCol="0" anchor="ctr"/>
          <a:lstStyle/>
          <a:p>
            <a:pPr indent="0" marL="0">
              <a:buNone/>
            </a:pPr>
            <a:r>
              <a:rPr lang="en-US" sz="1300" dirty="0">
                <a:solidFill>
                  <a:srgbClr val="97B0A2"/>
                </a:solidFill>
                <a:latin typeface="Courier New" pitchFamily="34" charset="0"/>
                <a:ea typeface="Courier New" pitchFamily="34" charset="-122"/>
                <a:cs typeface="Courier New" pitchFamily="34" charset="-120"/>
              </a:rPr>
              <a:t>Code: github.com/YOUR-USERNAME/mesa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Mesa — CMS22204</dc:title>
  <dc:subject>PptxGenJS Presentation</dc:subject>
  <dc:creator>Asan Limbu</dc:creator>
  <cp:lastModifiedBy>Asan Limbu</cp:lastModifiedBy>
  <cp:revision>1</cp:revision>
  <dcterms:created xsi:type="dcterms:W3CDTF">2026-08-06T19:55:01Z</dcterms:created>
  <dcterms:modified xsi:type="dcterms:W3CDTF">2026-08-06T19:55:01Z</dcterms:modified>
</cp:coreProperties>
</file>