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SAY: "I built Mesa, a website for booking restaurant tables. I will explain it quickly, then spend most of the time showing it working."
Then move on. Do not linger on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"Most independent restaurants still take bookings over the phone into a paper diary. That leads to tables getting double-booked, groups seated at tables too small, and no-shows nobody wrote down.
And from the customer side, you cannot find out what is free without ringing up — usually while they are busy serving.
Mesa solves both: the customer sees real availability and books it themselves."
Optional, if it feels natural: I picked this because working out whether a table is free is genuinely hard — it is not a simple lookup. That sets up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slide that answers "what is it?"
Assume they have never seen it. Walk the four boxes left to right:
SAY: "You tell it Friday at half seven for four people. It checks every table in all six restaurants. Anywhere that cannot seat four at that time simply does not appear. And when you book, it tells you which table you are getting before you confirm."
THE KEY LINE: "A listings site tells you a restaurant exists. Mesa tells you whether you can sit down."
If they remember one thing, make it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Run through the two lists quickly — they are self-explanatory.
SPEND YOUR TIME ON THE BOTTOM BOX:
SAY: "A manager should only be able to touch their own restaurant. My first version just checked whether you were a manager at all — which meant any manager could read every other restaurant's bookings. Checking someone's role is not the same as checking what they own. I will show you this working later."
Admitting the first version was wrong is stronger than pretending you got it right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Point at each box top to bottom:
SAY: "React is the website you see. It sends requests to an Express API. The API asks the booking rules whether a table is free. And Prisma is what talks to the database."
THEN THE RIGHT-HAND BOX — this is the point of the slide:
SAY: "I deliberately kept the booking rules separate. They are just functions — no database, no web server. That is the only reason I could test them properly."
If asked: yes, one Express process serves both the website and the API. npm start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YOUR BEST SLIDE — take your time and answer each question out loud.
1. IS 20:00 TO 20:00 A CLASH?
   No. If a booking ends at 20:00 the table is free at 20:00. I used "less than" rather than    "less than or equal to". Sounds tiny, but get it wrong and you refuse bookings you could take.
2. WHICH TABLE FOR TWO PEOPLE?
   The smallest one that fits. My first version gave them whatever was free — so two people could    end up using a table for six, and then a group of six has nowhere to sit.
3. WHAT IF TWO PEOPLE BOOK AT ONCE?
   If you check the table is free and then save the booking, there is a tiny gap where both people    are told yes. I had to re-check inside a database transaction. I will show you a test for this.
Framing them as questions you got wrong is much stronger than presenting finished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Read each line and add one sentence.
PASSWORDS: bcrypt. Even I cannot read them. If the database leaked, nobody's account is handed over.
TOKEN: it is a JWT. It is signed, not encrypted — anyone can read what is inside, but they cannot change it without my secret key.
EVERY REQUEST: I look the user up in the database rather than trusting what the token says. A token lasts a week; an account might not.
LOGIN ERRORS: wrong password and unknown email give the exact same message. Otherwise you could use the login form to work out which emails are registered.
THE 404: if you ask for another restaurant's booking you get "not found", not "not allowed". "Not allowed" would confirm the booking exists, which already tells you too much.
WORTH ADDING: I originally hid pages in React, but anyone can call the API directly. The front end is not security — all the real checks are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SQLITE: it is just a file, so this runs on any machine with nothing to install. If I deployed it I would switch to PostgreSQL and the design would not change.
PRISMA: writing SQL by joining strings together is where injection bugs come from. Prisma also gives me the database design as a file I can version.
CONTEXT: the only genuinely global things are who is logged in and the pop-up messages. Redux for two values felt like too much.
THE DJANGO POINT: say it plainly and without apology. Django's ORM is a Python library; it cannot run on a Node back end. I took the requirement to mean "use an ORM instead of hand-written SQL".
If pushed: the same requirements also specify Node, so the two cannot both be met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 THIS IS 75% OF THE MARK.
BEFORE YOU START:
  npm run db:seed      (fresh data)
  npm start            (check localhost:4000 loads)
  Two browser windows, one logged in as each manager
  A terminal ready for npm test
1. SEARCH — pick a date, time and party size. Point out that places that cannot seat you do not appear.
2. SEE WHAT IS FREE — open a restaurant, pick a time, the plan repaints.
3. BOOK IT — note that it names your table BEFORE you confirm.
4. TRY AGAIN — same slot, refused, and it offers you other times instead of just failing.
5. OTHER MANAGER — this is the security point from slide 4. Do it slowly.    SAY: "This manager owns a different restaurant, so as far as the system is concerned this booking does not exist."
6. TESTS — 65 of them, about a second. THE BIG ONE: two people booking the last table at the same moment.    SAY: "Only one gets it. That is the transaction working, not luck."
IF THE 3D IS SLOW ON THE PROJECTOR: System Settings &gt; Accessibility &gt; turn on Reduce Motion. It falls back to a flat plan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SAY: "The number is not really the point. What matters is what they test — the things that would look completely fine in a demo but be wrong in real life."
Pick two to explain:
  - Bookings that touch end to end: one finishes at 20:00, the next starts at 20:00. Not a clash.
  - Two people booking at once: the important one. I show this running in the demo.
SAY: "I could test the booking rules this thoroughly because they are separated out — no database, no server."
IF ASKED WHAT IS MISSING: tests for the React side. I did not write any and I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DO NOT SKIP THIS.
Say them plainly, not apologetically. These are decisions made under a deadline, not failures.
NOT DEPLOYED: everything is configured through environment variables so it is ready to go, but ready to deploy is not the same as deployed.
NO FRONT-END TESTS: all 65 are on the back end. This is the first thing I would fix.
SQLITE: fine for this, and it makes the project easy for anyone to run. It would not cope with several servers at once — that is when you move to PostgreSQL.
Volunteering your own gaps is the easiest way to sound like you understand your own project, and it takes the sting out of the obvious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then questions.
One sentence each:
  1. Knowing someone is a manager does not tell you which restaurant is theirs.
  2. The double-booking bug is invisible until you deliberately go looking for it.
  3. The booking rules touch nothing else, which is why I could test them.
  4. Time zones, midnight, and bookings that touch end to end all caught me out.
QUESTIONS YOU SHOULD EXPECT:
  Why SQLite? — Runs anywhere with nothing to install. Would be PostgreSQL if deployed.
  Why not Django? — It is Python; the same requirements also specify Node.
  How does the concurrency test work? — Two requests at once; one gets 201, the other 409.
  Why 404 not 403? — 403 would confirm the booking exists.
  What is in the token? — User id, role, and an expiry date. Nothing secret.
  What next? — Deploy it, and write tests for the front end.
IF YOU DO NOT KNOW: say so, and say how you would find out. Better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822960" y="2011680"/>
            <a:ext cx="7315200" cy="1371600"/>
          </a:xfrm>
          <a:prstGeom prst="rect">
            <a:avLst/>
          </a:prstGeom>
          <a:noFill/>
          <a:ln/>
        </p:spPr>
        <p:txBody>
          <a:bodyPr wrap="square" lIns="0" tIns="0" rIns="0" bIns="0" rtlCol="0" anchor="ctr"/>
          <a:lstStyle/>
          <a:p>
            <a:pPr indent="0" marL="0">
              <a:buNone/>
            </a:pPr>
            <a:r>
              <a:rPr lang="en-US" sz="9600" b="1" dirty="0">
                <a:solidFill>
                  <a:srgbClr val="D4A937"/>
                </a:solidFill>
                <a:latin typeface="Cambria" pitchFamily="34" charset="0"/>
                <a:ea typeface="Cambria" pitchFamily="34" charset="-122"/>
                <a:cs typeface="Cambria" pitchFamily="34" charset="-120"/>
              </a:rPr>
              <a:t>Mesa</a:t>
            </a:r>
            <a:endParaRPr lang="en-US" sz="9600" dirty="0"/>
          </a:p>
        </p:txBody>
      </p:sp>
      <p:sp>
        <p:nvSpPr>
          <p:cNvPr id="3" name="Text 1"/>
          <p:cNvSpPr/>
          <p:nvPr/>
        </p:nvSpPr>
        <p:spPr>
          <a:xfrm>
            <a:off x="868680" y="3383280"/>
            <a:ext cx="8229600" cy="548640"/>
          </a:xfrm>
          <a:prstGeom prst="rect">
            <a:avLst/>
          </a:prstGeom>
          <a:noFill/>
          <a:ln/>
        </p:spPr>
        <p:txBody>
          <a:bodyPr wrap="square" lIns="0" tIns="0" rIns="0" bIns="0" rtlCol="0" anchor="ctr"/>
          <a:lstStyle/>
          <a:p>
            <a:pPr indent="0" marL="0">
              <a:buNone/>
            </a:pPr>
            <a:r>
              <a:rPr lang="en-US" sz="2400" dirty="0">
                <a:solidFill>
                  <a:srgbClr val="F5F0E6"/>
                </a:solidFill>
                <a:latin typeface="Calibri" pitchFamily="34" charset="0"/>
                <a:ea typeface="Calibri" pitchFamily="34" charset="-122"/>
                <a:cs typeface="Calibri" pitchFamily="34" charset="-120"/>
              </a:rPr>
              <a:t>Book a restaurant table online</a:t>
            </a:r>
            <a:endParaRPr lang="en-US" sz="2400" dirty="0"/>
          </a:p>
        </p:txBody>
      </p:sp>
      <p:sp>
        <p:nvSpPr>
          <p:cNvPr id="4" name="Shape 2"/>
          <p:cNvSpPr/>
          <p:nvPr/>
        </p:nvSpPr>
        <p:spPr>
          <a:xfrm>
            <a:off x="868680" y="4297680"/>
            <a:ext cx="2743200" cy="0"/>
          </a:xfrm>
          <a:prstGeom prst="line">
            <a:avLst/>
          </a:prstGeom>
          <a:noFill/>
          <a:ln w="25400">
            <a:solidFill>
              <a:srgbClr val="D4A937"/>
            </a:solidFill>
            <a:prstDash val="solid"/>
          </a:ln>
        </p:spPr>
      </p:sp>
      <p:sp>
        <p:nvSpPr>
          <p:cNvPr id="5" name="Text 3"/>
          <p:cNvSpPr/>
          <p:nvPr/>
        </p:nvSpPr>
        <p:spPr>
          <a:xfrm>
            <a:off x="868680" y="4572000"/>
            <a:ext cx="7315200" cy="822960"/>
          </a:xfrm>
          <a:prstGeom prst="rect">
            <a:avLst/>
          </a:prstGeom>
          <a:noFill/>
          <a:ln/>
        </p:spPr>
        <p:txBody>
          <a:bodyPr wrap="square" lIns="0" tIns="0" rIns="0" bIns="0" rtlCol="0" anchor="ctr"/>
          <a:lstStyle/>
          <a:p>
            <a:pPr indent="0" marL="0">
              <a:lnSpc>
                <a:spcPts val="2600"/>
              </a:lnSpc>
              <a:buNone/>
            </a:pPr>
            <a:r>
              <a:rPr lang="en-US" sz="1600" b="1" dirty="0">
                <a:solidFill>
                  <a:srgbClr val="F5F0E6"/>
                </a:solidFill>
                <a:latin typeface="Calibri" pitchFamily="34" charset="0"/>
                <a:ea typeface="Calibri" pitchFamily="34" charset="-122"/>
                <a:cs typeface="Calibri" pitchFamily="34" charset="-120"/>
              </a:rPr>
              <a:t>Asan Limbu</a:t>
            </a:r>
            <a:endParaRPr lang="en-US" sz="1600" dirty="0"/>
          </a:p>
          <a:p>
            <a:pPr indent="0" marL="0">
              <a:lnSpc>
                <a:spcPts val="2600"/>
              </a:lnSpc>
              <a:buNone/>
            </a:pPr>
            <a:r>
              <a:rPr lang="en-US" sz="1600" dirty="0">
                <a:solidFill>
                  <a:srgbClr val="F5F0E6"/>
                </a:solidFill>
                <a:latin typeface="Calibri" pitchFamily="34" charset="0"/>
                <a:ea typeface="Calibri" pitchFamily="34" charset="-122"/>
                <a:cs typeface="Calibri" pitchFamily="34" charset="-120"/>
              </a:rPr>
              <a:t>CMS22204 · Level 5</a:t>
            </a:r>
            <a:endParaRPr lang="en-US" sz="1600" dirty="0"/>
          </a:p>
        </p:txBody>
      </p:sp>
      <p:sp>
        <p:nvSpPr>
          <p:cNvPr id="6" name="Shape 4"/>
          <p:cNvSpPr/>
          <p:nvPr/>
        </p:nvSpPr>
        <p:spPr>
          <a:xfrm>
            <a:off x="9509760" y="1737360"/>
            <a:ext cx="777240" cy="777240"/>
          </a:xfrm>
          <a:prstGeom prst="roundRect">
            <a:avLst>
              <a:gd name="adj" fmla="val 14118"/>
            </a:avLst>
          </a:prstGeom>
          <a:solidFill>
            <a:srgbClr val="102B23"/>
          </a:solidFill>
          <a:ln w="19050">
            <a:solidFill>
              <a:srgbClr val="62796E"/>
            </a:solidFill>
            <a:prstDash val="solid"/>
          </a:ln>
        </p:spPr>
      </p:sp>
      <p:sp>
        <p:nvSpPr>
          <p:cNvPr id="7" name="Shape 5"/>
          <p:cNvSpPr/>
          <p:nvPr/>
        </p:nvSpPr>
        <p:spPr>
          <a:xfrm>
            <a:off x="10515600" y="1737360"/>
            <a:ext cx="777240" cy="777240"/>
          </a:xfrm>
          <a:prstGeom prst="roundRect">
            <a:avLst>
              <a:gd name="adj" fmla="val 14118"/>
            </a:avLst>
          </a:prstGeom>
          <a:solidFill>
            <a:srgbClr val="102B23"/>
          </a:solidFill>
          <a:ln w="19050">
            <a:solidFill>
              <a:srgbClr val="62796E"/>
            </a:solidFill>
            <a:prstDash val="solid"/>
          </a:ln>
        </p:spPr>
      </p:sp>
      <p:sp>
        <p:nvSpPr>
          <p:cNvPr id="8" name="Shape 6"/>
          <p:cNvSpPr/>
          <p:nvPr/>
        </p:nvSpPr>
        <p:spPr>
          <a:xfrm>
            <a:off x="9509760" y="2743200"/>
            <a:ext cx="777240" cy="777240"/>
          </a:xfrm>
          <a:prstGeom prst="roundRect">
            <a:avLst>
              <a:gd name="adj" fmla="val 14118"/>
            </a:avLst>
          </a:prstGeom>
          <a:solidFill>
            <a:srgbClr val="102B23"/>
          </a:solidFill>
          <a:ln w="19050">
            <a:solidFill>
              <a:srgbClr val="62796E"/>
            </a:solidFill>
            <a:prstDash val="solid"/>
          </a:ln>
        </p:spPr>
      </p:sp>
      <p:sp>
        <p:nvSpPr>
          <p:cNvPr id="9" name="Shape 7"/>
          <p:cNvSpPr/>
          <p:nvPr/>
        </p:nvSpPr>
        <p:spPr>
          <a:xfrm>
            <a:off x="10515600" y="2743200"/>
            <a:ext cx="777240" cy="777240"/>
          </a:xfrm>
          <a:prstGeom prst="roundRect">
            <a:avLst>
              <a:gd name="adj" fmla="val 14118"/>
            </a:avLst>
          </a:prstGeom>
          <a:solidFill>
            <a:srgbClr val="102B23"/>
          </a:solidFill>
          <a:ln w="19050">
            <a:solidFill>
              <a:srgbClr val="62796E"/>
            </a:solidFill>
            <a:prstDash val="solid"/>
          </a:ln>
        </p:spPr>
      </p:sp>
      <p:sp>
        <p:nvSpPr>
          <p:cNvPr id="10" name="Shape 8"/>
          <p:cNvSpPr/>
          <p:nvPr/>
        </p:nvSpPr>
        <p:spPr>
          <a:xfrm>
            <a:off x="10012680" y="3749040"/>
            <a:ext cx="777240" cy="777240"/>
          </a:xfrm>
          <a:prstGeom prst="roundRect">
            <a:avLst>
              <a:gd name="adj" fmla="val 14118"/>
            </a:avLst>
          </a:prstGeom>
          <a:solidFill>
            <a:srgbClr val="D4A937"/>
          </a:solidFill>
          <a:ln w="19050">
            <a:solidFill>
              <a:srgbClr val="F5D7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The problem</a:t>
            </a:r>
            <a:endParaRPr lang="en-US" sz="4000" dirty="0"/>
          </a:p>
        </p:txBody>
      </p:sp>
      <p:sp>
        <p:nvSpPr>
          <p:cNvPr id="3" name="Shape 1"/>
          <p:cNvSpPr/>
          <p:nvPr/>
        </p:nvSpPr>
        <p:spPr>
          <a:xfrm>
            <a:off x="731520" y="1828800"/>
            <a:ext cx="5120640" cy="2011680"/>
          </a:xfrm>
          <a:prstGeom prst="roundRect">
            <a:avLst>
              <a:gd name="adj" fmla="val 4545"/>
            </a:avLst>
          </a:prstGeom>
          <a:solidFill>
            <a:srgbClr val="102B23"/>
          </a:solidFill>
          <a:ln w="12700">
            <a:solidFill>
              <a:srgbClr val="17392E"/>
            </a:solidFill>
            <a:prstDash val="solid"/>
          </a:ln>
        </p:spPr>
      </p:sp>
      <p:sp>
        <p:nvSpPr>
          <p:cNvPr id="4" name="Text 2"/>
          <p:cNvSpPr/>
          <p:nvPr/>
        </p:nvSpPr>
        <p:spPr>
          <a:xfrm>
            <a:off x="1051560" y="2103120"/>
            <a:ext cx="4572000" cy="365760"/>
          </a:xfrm>
          <a:prstGeom prst="rect">
            <a:avLst/>
          </a:prstGeom>
          <a:noFill/>
          <a:ln/>
        </p:spPr>
        <p:txBody>
          <a:bodyPr wrap="square" lIns="0" tIns="0" rIns="0" bIns="0" rtlCol="0" anchor="ctr"/>
          <a:lstStyle/>
          <a:p>
            <a:pPr indent="0" marL="0">
              <a:buNone/>
            </a:pPr>
            <a:r>
              <a:rPr lang="en-US" sz="1400" b="1" spc="200" kern="0" dirty="0">
                <a:solidFill>
                  <a:srgbClr val="D4A937"/>
                </a:solidFill>
                <a:latin typeface="Calibri" pitchFamily="34" charset="0"/>
                <a:ea typeface="Calibri" pitchFamily="34" charset="-122"/>
                <a:cs typeface="Calibri" pitchFamily="34" charset="-120"/>
              </a:rPr>
              <a:t>Restaurants</a:t>
            </a:r>
            <a:endParaRPr lang="en-US" sz="1400" dirty="0"/>
          </a:p>
        </p:txBody>
      </p:sp>
      <p:sp>
        <p:nvSpPr>
          <p:cNvPr id="5" name="Text 3"/>
          <p:cNvSpPr/>
          <p:nvPr/>
        </p:nvSpPr>
        <p:spPr>
          <a:xfrm>
            <a:off x="1051560" y="2606040"/>
            <a:ext cx="4572000" cy="1005840"/>
          </a:xfrm>
          <a:prstGeom prst="rect">
            <a:avLst/>
          </a:prstGeom>
          <a:noFill/>
          <a:ln/>
        </p:spPr>
        <p:txBody>
          <a:bodyPr wrap="square" lIns="0" tIns="0" rIns="0" bIns="0" rtlCol="0" anchor="ctr"/>
          <a:lstStyle/>
          <a:p>
            <a:pPr indent="0" marL="0">
              <a:lnSpc>
                <a:spcPts val="3000"/>
              </a:lnSpc>
              <a:buNone/>
            </a:pPr>
            <a:r>
              <a:rPr lang="en-US" sz="2000" dirty="0">
                <a:solidFill>
                  <a:srgbClr val="F5F0E6"/>
                </a:solidFill>
                <a:latin typeface="Calibri" pitchFamily="34" charset="0"/>
                <a:ea typeface="Calibri" pitchFamily="34" charset="-122"/>
                <a:cs typeface="Calibri" pitchFamily="34" charset="-120"/>
              </a:rPr>
              <a:t>Still booking on paper.</a:t>
            </a:r>
            <a:endParaRPr lang="en-US" sz="2000" dirty="0"/>
          </a:p>
          <a:p>
            <a:pPr indent="0" marL="0">
              <a:lnSpc>
                <a:spcPts val="3000"/>
              </a:lnSpc>
              <a:buNone/>
            </a:pPr>
            <a:r>
              <a:rPr lang="en-US" sz="2000" dirty="0">
                <a:solidFill>
                  <a:srgbClr val="F5F0E6"/>
                </a:solidFill>
                <a:latin typeface="Calibri" pitchFamily="34" charset="0"/>
                <a:ea typeface="Calibri" pitchFamily="34" charset="-122"/>
                <a:cs typeface="Calibri" pitchFamily="34" charset="-120"/>
              </a:rPr>
              <a:t>Double-bookings and no-shows.</a:t>
            </a:r>
            <a:endParaRPr lang="en-US" sz="2000" dirty="0"/>
          </a:p>
        </p:txBody>
      </p:sp>
      <p:sp>
        <p:nvSpPr>
          <p:cNvPr id="6" name="Shape 4"/>
          <p:cNvSpPr/>
          <p:nvPr/>
        </p:nvSpPr>
        <p:spPr>
          <a:xfrm>
            <a:off x="6309360" y="1828800"/>
            <a:ext cx="5120640" cy="2011680"/>
          </a:xfrm>
          <a:prstGeom prst="roundRect">
            <a:avLst>
              <a:gd name="adj" fmla="val 4545"/>
            </a:avLst>
          </a:prstGeom>
          <a:solidFill>
            <a:srgbClr val="102B23"/>
          </a:solidFill>
          <a:ln w="12700">
            <a:solidFill>
              <a:srgbClr val="17392E"/>
            </a:solidFill>
            <a:prstDash val="solid"/>
          </a:ln>
        </p:spPr>
      </p:sp>
      <p:sp>
        <p:nvSpPr>
          <p:cNvPr id="7" name="Text 5"/>
          <p:cNvSpPr/>
          <p:nvPr/>
        </p:nvSpPr>
        <p:spPr>
          <a:xfrm>
            <a:off x="6629400" y="2103120"/>
            <a:ext cx="4572000" cy="365760"/>
          </a:xfrm>
          <a:prstGeom prst="rect">
            <a:avLst/>
          </a:prstGeom>
          <a:noFill/>
          <a:ln/>
        </p:spPr>
        <p:txBody>
          <a:bodyPr wrap="square" lIns="0" tIns="0" rIns="0" bIns="0" rtlCol="0" anchor="ctr"/>
          <a:lstStyle/>
          <a:p>
            <a:pPr indent="0" marL="0">
              <a:buNone/>
            </a:pPr>
            <a:r>
              <a:rPr lang="en-US" sz="1400" b="1" spc="200" kern="0" dirty="0">
                <a:solidFill>
                  <a:srgbClr val="C2683A"/>
                </a:solidFill>
                <a:latin typeface="Calibri" pitchFamily="34" charset="0"/>
                <a:ea typeface="Calibri" pitchFamily="34" charset="-122"/>
                <a:cs typeface="Calibri" pitchFamily="34" charset="-120"/>
              </a:rPr>
              <a:t>Customers</a:t>
            </a:r>
            <a:endParaRPr lang="en-US" sz="1400" dirty="0"/>
          </a:p>
        </p:txBody>
      </p:sp>
      <p:sp>
        <p:nvSpPr>
          <p:cNvPr id="8" name="Text 6"/>
          <p:cNvSpPr/>
          <p:nvPr/>
        </p:nvSpPr>
        <p:spPr>
          <a:xfrm>
            <a:off x="6629400" y="2606040"/>
            <a:ext cx="4572000" cy="1005840"/>
          </a:xfrm>
          <a:prstGeom prst="rect">
            <a:avLst/>
          </a:prstGeom>
          <a:noFill/>
          <a:ln/>
        </p:spPr>
        <p:txBody>
          <a:bodyPr wrap="square" lIns="0" tIns="0" rIns="0" bIns="0" rtlCol="0" anchor="ctr"/>
          <a:lstStyle/>
          <a:p>
            <a:pPr indent="0" marL="0">
              <a:lnSpc>
                <a:spcPts val="3000"/>
              </a:lnSpc>
              <a:buNone/>
            </a:pPr>
            <a:r>
              <a:rPr lang="en-US" sz="2000" dirty="0">
                <a:solidFill>
                  <a:srgbClr val="F5F0E6"/>
                </a:solidFill>
                <a:latin typeface="Calibri" pitchFamily="34" charset="0"/>
                <a:ea typeface="Calibri" pitchFamily="34" charset="-122"/>
                <a:cs typeface="Calibri" pitchFamily="34" charset="-120"/>
              </a:rPr>
              <a:t>Have to phone up</a:t>
            </a:r>
            <a:endParaRPr lang="en-US" sz="2000" dirty="0"/>
          </a:p>
          <a:p>
            <a:pPr indent="0" marL="0">
              <a:lnSpc>
                <a:spcPts val="3000"/>
              </a:lnSpc>
              <a:buNone/>
            </a:pPr>
            <a:r>
              <a:rPr lang="en-US" sz="2000" dirty="0">
                <a:solidFill>
                  <a:srgbClr val="F5F0E6"/>
                </a:solidFill>
                <a:latin typeface="Calibri" pitchFamily="34" charset="0"/>
                <a:ea typeface="Calibri" pitchFamily="34" charset="-122"/>
                <a:cs typeface="Calibri" pitchFamily="34" charset="-120"/>
              </a:rPr>
              <a:t>to find out what is free.</a:t>
            </a:r>
            <a:endParaRPr lang="en-US" sz="2000" dirty="0"/>
          </a:p>
        </p:txBody>
      </p:sp>
      <p:sp>
        <p:nvSpPr>
          <p:cNvPr id="9" name="Shape 7"/>
          <p:cNvSpPr/>
          <p:nvPr/>
        </p:nvSpPr>
        <p:spPr>
          <a:xfrm>
            <a:off x="731520" y="4297680"/>
            <a:ext cx="10698480" cy="1737360"/>
          </a:xfrm>
          <a:prstGeom prst="roundRect">
            <a:avLst>
              <a:gd name="adj" fmla="val 5263"/>
            </a:avLst>
          </a:prstGeom>
          <a:solidFill>
            <a:srgbClr val="17392E"/>
          </a:solidFill>
          <a:ln w="12700">
            <a:solidFill>
              <a:srgbClr val="17392E"/>
            </a:solidFill>
            <a:prstDash val="solid"/>
          </a:ln>
        </p:spPr>
      </p:sp>
      <p:sp>
        <p:nvSpPr>
          <p:cNvPr id="10" name="Text 8"/>
          <p:cNvSpPr/>
          <p:nvPr/>
        </p:nvSpPr>
        <p:spPr>
          <a:xfrm>
            <a:off x="1051560" y="4617720"/>
            <a:ext cx="10058400" cy="457200"/>
          </a:xfrm>
          <a:prstGeom prst="rect">
            <a:avLst/>
          </a:prstGeom>
          <a:noFill/>
          <a:ln/>
        </p:spPr>
        <p:txBody>
          <a:bodyPr wrap="square" lIns="0" tIns="0" rIns="0" bIns="0" rtlCol="0" anchor="ctr"/>
          <a:lstStyle/>
          <a:p>
            <a:pPr indent="0" marL="0">
              <a:buNone/>
            </a:pPr>
            <a:r>
              <a:rPr lang="en-US" sz="3000" b="1" dirty="0">
                <a:solidFill>
                  <a:srgbClr val="F5D77A"/>
                </a:solidFill>
                <a:latin typeface="Cambria" pitchFamily="34" charset="0"/>
                <a:ea typeface="Cambria" pitchFamily="34" charset="-122"/>
                <a:cs typeface="Cambria" pitchFamily="34" charset="-120"/>
              </a:rPr>
              <a:t>Mesa fixes both sides.</a:t>
            </a:r>
            <a:endParaRPr lang="en-US" sz="3000" dirty="0"/>
          </a:p>
        </p:txBody>
      </p:sp>
      <p:sp>
        <p:nvSpPr>
          <p:cNvPr id="11" name="Text 9"/>
          <p:cNvSpPr/>
          <p:nvPr/>
        </p:nvSpPr>
        <p:spPr>
          <a:xfrm>
            <a:off x="1051560" y="5212080"/>
            <a:ext cx="10058400" cy="457200"/>
          </a:xfrm>
          <a:prstGeom prst="rect">
            <a:avLst/>
          </a:prstGeom>
          <a:noFill/>
          <a:ln/>
        </p:spPr>
        <p:txBody>
          <a:bodyPr wrap="square" lIns="0" tIns="0" rIns="0" bIns="0" rtlCol="0" anchor="ctr"/>
          <a:lstStyle/>
          <a:p>
            <a:pPr indent="0" marL="0">
              <a:buNone/>
            </a:pPr>
            <a:r>
              <a:rPr lang="en-US" sz="1800" dirty="0">
                <a:solidFill>
                  <a:srgbClr val="F5F0E6"/>
                </a:solidFill>
                <a:latin typeface="Calibri" pitchFamily="34" charset="0"/>
                <a:ea typeface="Calibri" pitchFamily="34" charset="-122"/>
                <a:cs typeface="Calibri" pitchFamily="34" charset="-120"/>
              </a:rPr>
              <a:t>You see what is genuinely free, and you book it yourself.</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What Mesa is</a:t>
            </a:r>
            <a:endParaRPr lang="en-US" sz="4000" dirty="0"/>
          </a:p>
        </p:txBody>
      </p:sp>
      <p:sp>
        <p:nvSpPr>
          <p:cNvPr id="3" name="Shape 1"/>
          <p:cNvSpPr/>
          <p:nvPr/>
        </p:nvSpPr>
        <p:spPr>
          <a:xfrm>
            <a:off x="731520" y="1737360"/>
            <a:ext cx="10698480" cy="1097280"/>
          </a:xfrm>
          <a:prstGeom prst="roundRect">
            <a:avLst>
              <a:gd name="adj" fmla="val 8333"/>
            </a:avLst>
          </a:prstGeom>
          <a:solidFill>
            <a:srgbClr val="17392E"/>
          </a:solidFill>
          <a:ln w="12700">
            <a:solidFill>
              <a:srgbClr val="17392E"/>
            </a:solidFill>
            <a:prstDash val="solid"/>
          </a:ln>
        </p:spPr>
      </p:sp>
      <p:sp>
        <p:nvSpPr>
          <p:cNvPr id="4" name="Text 2"/>
          <p:cNvSpPr/>
          <p:nvPr/>
        </p:nvSpPr>
        <p:spPr>
          <a:xfrm>
            <a:off x="1051560" y="2011680"/>
            <a:ext cx="10058400" cy="548640"/>
          </a:xfrm>
          <a:prstGeom prst="rect">
            <a:avLst/>
          </a:prstGeom>
          <a:noFill/>
          <a:ln/>
        </p:spPr>
        <p:txBody>
          <a:bodyPr wrap="square" lIns="0" tIns="0" rIns="0" bIns="0" rtlCol="0" anchor="ctr"/>
          <a:lstStyle/>
          <a:p>
            <a:pPr indent="0" marL="0">
              <a:buNone/>
            </a:pPr>
            <a:r>
              <a:rPr lang="en-US" sz="3000" b="1" dirty="0">
                <a:solidFill>
                  <a:srgbClr val="F5D77A"/>
                </a:solidFill>
                <a:latin typeface="Cambria" pitchFamily="34" charset="0"/>
                <a:ea typeface="Cambria" pitchFamily="34" charset="-122"/>
                <a:cs typeface="Cambria" pitchFamily="34" charset="-120"/>
              </a:rPr>
              <a:t>A website that finds you a table and books it.</a:t>
            </a:r>
            <a:endParaRPr lang="en-US" sz="3000" dirty="0"/>
          </a:p>
        </p:txBody>
      </p:sp>
      <p:sp>
        <p:nvSpPr>
          <p:cNvPr id="5" name="Shape 3"/>
          <p:cNvSpPr/>
          <p:nvPr/>
        </p:nvSpPr>
        <p:spPr>
          <a:xfrm>
            <a:off x="731520" y="3200400"/>
            <a:ext cx="2560320" cy="2103120"/>
          </a:xfrm>
          <a:prstGeom prst="roundRect">
            <a:avLst>
              <a:gd name="adj" fmla="val 4348"/>
            </a:avLst>
          </a:prstGeom>
          <a:solidFill>
            <a:srgbClr val="102B23"/>
          </a:solidFill>
          <a:ln w="12700">
            <a:solidFill>
              <a:srgbClr val="17392E"/>
            </a:solidFill>
            <a:prstDash val="solid"/>
          </a:ln>
        </p:spPr>
      </p:sp>
      <p:sp>
        <p:nvSpPr>
          <p:cNvPr id="6" name="Shape 4"/>
          <p:cNvSpPr/>
          <p:nvPr/>
        </p:nvSpPr>
        <p:spPr>
          <a:xfrm>
            <a:off x="1005840" y="3474720"/>
            <a:ext cx="548640" cy="548640"/>
          </a:xfrm>
          <a:prstGeom prst="ellipse">
            <a:avLst/>
          </a:prstGeom>
          <a:solidFill>
            <a:srgbClr val="D4A937"/>
          </a:solidFill>
          <a:ln/>
        </p:spPr>
      </p:sp>
      <p:sp>
        <p:nvSpPr>
          <p:cNvPr id="7" name="Text 5"/>
          <p:cNvSpPr/>
          <p:nvPr/>
        </p:nvSpPr>
        <p:spPr>
          <a:xfrm>
            <a:off x="1005840" y="347472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1</a:t>
            </a:r>
            <a:endParaRPr lang="en-US" sz="1900" dirty="0"/>
          </a:p>
        </p:txBody>
      </p:sp>
      <p:sp>
        <p:nvSpPr>
          <p:cNvPr id="8" name="Text 6"/>
          <p:cNvSpPr/>
          <p:nvPr/>
        </p:nvSpPr>
        <p:spPr>
          <a:xfrm>
            <a:off x="1005840" y="4206240"/>
            <a:ext cx="2011680" cy="5486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Say what you want</a:t>
            </a:r>
            <a:endParaRPr lang="en-US" sz="1600" dirty="0"/>
          </a:p>
        </p:txBody>
      </p:sp>
      <p:sp>
        <p:nvSpPr>
          <p:cNvPr id="9" name="Text 7"/>
          <p:cNvSpPr/>
          <p:nvPr/>
        </p:nvSpPr>
        <p:spPr>
          <a:xfrm>
            <a:off x="1005840" y="4709160"/>
            <a:ext cx="2011680" cy="45720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Friday, 7:30, four people</a:t>
            </a:r>
            <a:endParaRPr lang="en-US" sz="1250" dirty="0"/>
          </a:p>
        </p:txBody>
      </p:sp>
      <p:sp>
        <p:nvSpPr>
          <p:cNvPr id="10" name="Shape 8"/>
          <p:cNvSpPr/>
          <p:nvPr/>
        </p:nvSpPr>
        <p:spPr>
          <a:xfrm>
            <a:off x="3474720" y="3200400"/>
            <a:ext cx="2560320" cy="2103120"/>
          </a:xfrm>
          <a:prstGeom prst="roundRect">
            <a:avLst>
              <a:gd name="adj" fmla="val 4348"/>
            </a:avLst>
          </a:prstGeom>
          <a:solidFill>
            <a:srgbClr val="102B23"/>
          </a:solidFill>
          <a:ln w="12700">
            <a:solidFill>
              <a:srgbClr val="17392E"/>
            </a:solidFill>
            <a:prstDash val="solid"/>
          </a:ln>
        </p:spPr>
      </p:sp>
      <p:sp>
        <p:nvSpPr>
          <p:cNvPr id="11" name="Shape 9"/>
          <p:cNvSpPr/>
          <p:nvPr/>
        </p:nvSpPr>
        <p:spPr>
          <a:xfrm>
            <a:off x="3749040" y="3474720"/>
            <a:ext cx="548640" cy="548640"/>
          </a:xfrm>
          <a:prstGeom prst="ellipse">
            <a:avLst/>
          </a:prstGeom>
          <a:solidFill>
            <a:srgbClr val="D4A937"/>
          </a:solidFill>
          <a:ln/>
        </p:spPr>
      </p:sp>
      <p:sp>
        <p:nvSpPr>
          <p:cNvPr id="12" name="Text 10"/>
          <p:cNvSpPr/>
          <p:nvPr/>
        </p:nvSpPr>
        <p:spPr>
          <a:xfrm>
            <a:off x="3749040" y="347472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2</a:t>
            </a:r>
            <a:endParaRPr lang="en-US" sz="1900" dirty="0"/>
          </a:p>
        </p:txBody>
      </p:sp>
      <p:sp>
        <p:nvSpPr>
          <p:cNvPr id="13" name="Text 11"/>
          <p:cNvSpPr/>
          <p:nvPr/>
        </p:nvSpPr>
        <p:spPr>
          <a:xfrm>
            <a:off x="3749040" y="4206240"/>
            <a:ext cx="2011680" cy="5486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It checks every table</a:t>
            </a:r>
            <a:endParaRPr lang="en-US" sz="1600" dirty="0"/>
          </a:p>
        </p:txBody>
      </p:sp>
      <p:sp>
        <p:nvSpPr>
          <p:cNvPr id="14" name="Text 12"/>
          <p:cNvSpPr/>
          <p:nvPr/>
        </p:nvSpPr>
        <p:spPr>
          <a:xfrm>
            <a:off x="3749040" y="4709160"/>
            <a:ext cx="2011680" cy="45720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In all six restaurants</a:t>
            </a:r>
            <a:endParaRPr lang="en-US" sz="1250" dirty="0"/>
          </a:p>
        </p:txBody>
      </p:sp>
      <p:sp>
        <p:nvSpPr>
          <p:cNvPr id="15" name="Shape 13"/>
          <p:cNvSpPr/>
          <p:nvPr/>
        </p:nvSpPr>
        <p:spPr>
          <a:xfrm>
            <a:off x="6217920" y="3200400"/>
            <a:ext cx="2560320" cy="2103120"/>
          </a:xfrm>
          <a:prstGeom prst="roundRect">
            <a:avLst>
              <a:gd name="adj" fmla="val 4348"/>
            </a:avLst>
          </a:prstGeom>
          <a:solidFill>
            <a:srgbClr val="102B23"/>
          </a:solidFill>
          <a:ln w="12700">
            <a:solidFill>
              <a:srgbClr val="17392E"/>
            </a:solidFill>
            <a:prstDash val="solid"/>
          </a:ln>
        </p:spPr>
      </p:sp>
      <p:sp>
        <p:nvSpPr>
          <p:cNvPr id="16" name="Shape 14"/>
          <p:cNvSpPr/>
          <p:nvPr/>
        </p:nvSpPr>
        <p:spPr>
          <a:xfrm>
            <a:off x="6492240" y="3474720"/>
            <a:ext cx="548640" cy="548640"/>
          </a:xfrm>
          <a:prstGeom prst="ellipse">
            <a:avLst/>
          </a:prstGeom>
          <a:solidFill>
            <a:srgbClr val="D4A937"/>
          </a:solidFill>
          <a:ln/>
        </p:spPr>
      </p:sp>
      <p:sp>
        <p:nvSpPr>
          <p:cNvPr id="17" name="Text 15"/>
          <p:cNvSpPr/>
          <p:nvPr/>
        </p:nvSpPr>
        <p:spPr>
          <a:xfrm>
            <a:off x="6492240" y="347472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3</a:t>
            </a:r>
            <a:endParaRPr lang="en-US" sz="1900" dirty="0"/>
          </a:p>
        </p:txBody>
      </p:sp>
      <p:sp>
        <p:nvSpPr>
          <p:cNvPr id="18" name="Text 16"/>
          <p:cNvSpPr/>
          <p:nvPr/>
        </p:nvSpPr>
        <p:spPr>
          <a:xfrm>
            <a:off x="6492240" y="4206240"/>
            <a:ext cx="2011680" cy="5486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You see what fits</a:t>
            </a:r>
            <a:endParaRPr lang="en-US" sz="1600" dirty="0"/>
          </a:p>
        </p:txBody>
      </p:sp>
      <p:sp>
        <p:nvSpPr>
          <p:cNvPr id="19" name="Text 17"/>
          <p:cNvSpPr/>
          <p:nvPr/>
        </p:nvSpPr>
        <p:spPr>
          <a:xfrm>
            <a:off x="6492240" y="4709160"/>
            <a:ext cx="2011680" cy="45720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Places that cannot seat you disappear</a:t>
            </a:r>
            <a:endParaRPr lang="en-US" sz="1250" dirty="0"/>
          </a:p>
        </p:txBody>
      </p:sp>
      <p:sp>
        <p:nvSpPr>
          <p:cNvPr id="20" name="Shape 18"/>
          <p:cNvSpPr/>
          <p:nvPr/>
        </p:nvSpPr>
        <p:spPr>
          <a:xfrm>
            <a:off x="8961120" y="3200400"/>
            <a:ext cx="2560320" cy="2103120"/>
          </a:xfrm>
          <a:prstGeom prst="roundRect">
            <a:avLst>
              <a:gd name="adj" fmla="val 4348"/>
            </a:avLst>
          </a:prstGeom>
          <a:solidFill>
            <a:srgbClr val="102B23"/>
          </a:solidFill>
          <a:ln w="12700">
            <a:solidFill>
              <a:srgbClr val="17392E"/>
            </a:solidFill>
            <a:prstDash val="solid"/>
          </a:ln>
        </p:spPr>
      </p:sp>
      <p:sp>
        <p:nvSpPr>
          <p:cNvPr id="21" name="Shape 19"/>
          <p:cNvSpPr/>
          <p:nvPr/>
        </p:nvSpPr>
        <p:spPr>
          <a:xfrm>
            <a:off x="9235440" y="3474720"/>
            <a:ext cx="548640" cy="548640"/>
          </a:xfrm>
          <a:prstGeom prst="ellipse">
            <a:avLst/>
          </a:prstGeom>
          <a:solidFill>
            <a:srgbClr val="D4A937"/>
          </a:solidFill>
          <a:ln/>
        </p:spPr>
      </p:sp>
      <p:sp>
        <p:nvSpPr>
          <p:cNvPr id="22" name="Text 20"/>
          <p:cNvSpPr/>
          <p:nvPr/>
        </p:nvSpPr>
        <p:spPr>
          <a:xfrm>
            <a:off x="9235440" y="347472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4</a:t>
            </a:r>
            <a:endParaRPr lang="en-US" sz="1900" dirty="0"/>
          </a:p>
        </p:txBody>
      </p:sp>
      <p:sp>
        <p:nvSpPr>
          <p:cNvPr id="23" name="Text 21"/>
          <p:cNvSpPr/>
          <p:nvPr/>
        </p:nvSpPr>
        <p:spPr>
          <a:xfrm>
            <a:off x="9235440" y="4206240"/>
            <a:ext cx="2011680" cy="5486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You book it</a:t>
            </a:r>
            <a:endParaRPr lang="en-US" sz="1600" dirty="0"/>
          </a:p>
        </p:txBody>
      </p:sp>
      <p:sp>
        <p:nvSpPr>
          <p:cNvPr id="24" name="Text 22"/>
          <p:cNvSpPr/>
          <p:nvPr/>
        </p:nvSpPr>
        <p:spPr>
          <a:xfrm>
            <a:off x="9235440" y="4709160"/>
            <a:ext cx="2011680" cy="45720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It names your table first</a:t>
            </a:r>
            <a:endParaRPr lang="en-US" sz="1250" dirty="0"/>
          </a:p>
        </p:txBody>
      </p:sp>
      <p:sp>
        <p:nvSpPr>
          <p:cNvPr id="25" name="Text 23"/>
          <p:cNvSpPr/>
          <p:nvPr/>
        </p:nvSpPr>
        <p:spPr>
          <a:xfrm>
            <a:off x="731520" y="5669280"/>
            <a:ext cx="10698480" cy="457200"/>
          </a:xfrm>
          <a:prstGeom prst="rect">
            <a:avLst/>
          </a:prstGeom>
          <a:noFill/>
          <a:ln/>
        </p:spPr>
        <p:txBody>
          <a:bodyPr wrap="square" lIns="0" tIns="0" rIns="0" bIns="0" rtlCol="0" anchor="ctr"/>
          <a:lstStyle/>
          <a:p>
            <a:pPr indent="0" marL="0">
              <a:buNone/>
            </a:pPr>
            <a:r>
              <a:rPr lang="en-US" sz="1500" i="1" dirty="0">
                <a:solidFill>
                  <a:srgbClr val="62796E"/>
                </a:solidFill>
                <a:latin typeface="Calibri" pitchFamily="34" charset="0"/>
                <a:ea typeface="Calibri" pitchFamily="34" charset="-122"/>
                <a:cs typeface="Calibri" pitchFamily="34" charset="-120"/>
              </a:rPr>
              <a:t>"Mesa" is Spanish for table.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Two kinds of user</a:t>
            </a:r>
            <a:endParaRPr lang="en-US" sz="4000" dirty="0"/>
          </a:p>
        </p:txBody>
      </p:sp>
      <p:sp>
        <p:nvSpPr>
          <p:cNvPr id="3" name="Shape 1"/>
          <p:cNvSpPr/>
          <p:nvPr/>
        </p:nvSpPr>
        <p:spPr>
          <a:xfrm>
            <a:off x="731520" y="1828800"/>
            <a:ext cx="5120640" cy="2377440"/>
          </a:xfrm>
          <a:prstGeom prst="roundRect">
            <a:avLst>
              <a:gd name="adj" fmla="val 3846"/>
            </a:avLst>
          </a:prstGeom>
          <a:solidFill>
            <a:srgbClr val="102B23"/>
          </a:solidFill>
          <a:ln w="12700">
            <a:solidFill>
              <a:srgbClr val="17392E"/>
            </a:solidFill>
            <a:prstDash val="solid"/>
          </a:ln>
        </p:spPr>
      </p:sp>
      <p:sp>
        <p:nvSpPr>
          <p:cNvPr id="4" name="Text 2"/>
          <p:cNvSpPr/>
          <p:nvPr/>
        </p:nvSpPr>
        <p:spPr>
          <a:xfrm>
            <a:off x="1051560" y="2103120"/>
            <a:ext cx="4572000" cy="457200"/>
          </a:xfrm>
          <a:prstGeom prst="rect">
            <a:avLst/>
          </a:prstGeom>
          <a:noFill/>
          <a:ln/>
        </p:spPr>
        <p:txBody>
          <a:bodyPr wrap="square" lIns="0" tIns="0" rIns="0" bIns="0" rtlCol="0" anchor="ctr"/>
          <a:lstStyle/>
          <a:p>
            <a:pPr indent="0" marL="0">
              <a:buNone/>
            </a:pPr>
            <a:r>
              <a:rPr lang="en-US" sz="2600" b="1" dirty="0">
                <a:solidFill>
                  <a:srgbClr val="D4A937"/>
                </a:solidFill>
                <a:latin typeface="Cambria" pitchFamily="34" charset="0"/>
                <a:ea typeface="Cambria" pitchFamily="34" charset="-122"/>
                <a:cs typeface="Cambria" pitchFamily="34" charset="-120"/>
              </a:rPr>
              <a:t>Customer</a:t>
            </a:r>
            <a:endParaRPr lang="en-US" sz="2600" dirty="0"/>
          </a:p>
        </p:txBody>
      </p:sp>
      <p:sp>
        <p:nvSpPr>
          <p:cNvPr id="5" name="Text 3"/>
          <p:cNvSpPr/>
          <p:nvPr/>
        </p:nvSpPr>
        <p:spPr>
          <a:xfrm>
            <a:off x="1051560" y="2697480"/>
            <a:ext cx="4572000" cy="1371600"/>
          </a:xfrm>
          <a:prstGeom prst="rect">
            <a:avLst/>
          </a:prstGeom>
          <a:noFill/>
          <a:ln/>
        </p:spPr>
        <p:txBody>
          <a:bodyPr wrap="square" lIns="0" tIns="0" rIns="0" bIns="0" rtlCol="0" anchor="ctr"/>
          <a:lstStyle/>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Search restaurants</a:t>
            </a:r>
            <a:endParaRPr lang="en-US" sz="1700" dirty="0"/>
          </a:p>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Book a table</a:t>
            </a:r>
            <a:endParaRPr lang="en-US" sz="1700" dirty="0"/>
          </a:p>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Cancel their own bookings</a:t>
            </a:r>
            <a:endParaRPr lang="en-US" sz="1700" dirty="0"/>
          </a:p>
        </p:txBody>
      </p:sp>
      <p:sp>
        <p:nvSpPr>
          <p:cNvPr id="6" name="Shape 4"/>
          <p:cNvSpPr/>
          <p:nvPr/>
        </p:nvSpPr>
        <p:spPr>
          <a:xfrm>
            <a:off x="6309360" y="1828800"/>
            <a:ext cx="5120640" cy="2377440"/>
          </a:xfrm>
          <a:prstGeom prst="roundRect">
            <a:avLst>
              <a:gd name="adj" fmla="val 3846"/>
            </a:avLst>
          </a:prstGeom>
          <a:solidFill>
            <a:srgbClr val="102B23"/>
          </a:solidFill>
          <a:ln w="12700">
            <a:solidFill>
              <a:srgbClr val="17392E"/>
            </a:solidFill>
            <a:prstDash val="solid"/>
          </a:ln>
        </p:spPr>
      </p:sp>
      <p:sp>
        <p:nvSpPr>
          <p:cNvPr id="7" name="Text 5"/>
          <p:cNvSpPr/>
          <p:nvPr/>
        </p:nvSpPr>
        <p:spPr>
          <a:xfrm>
            <a:off x="6629400" y="2103120"/>
            <a:ext cx="4572000" cy="457200"/>
          </a:xfrm>
          <a:prstGeom prst="rect">
            <a:avLst/>
          </a:prstGeom>
          <a:noFill/>
          <a:ln/>
        </p:spPr>
        <p:txBody>
          <a:bodyPr wrap="square" lIns="0" tIns="0" rIns="0" bIns="0" rtlCol="0" anchor="ctr"/>
          <a:lstStyle/>
          <a:p>
            <a:pPr indent="0" marL="0">
              <a:buNone/>
            </a:pPr>
            <a:r>
              <a:rPr lang="en-US" sz="2600" b="1" dirty="0">
                <a:solidFill>
                  <a:srgbClr val="C2683A"/>
                </a:solidFill>
                <a:latin typeface="Cambria" pitchFamily="34" charset="0"/>
                <a:ea typeface="Cambria" pitchFamily="34" charset="-122"/>
                <a:cs typeface="Cambria" pitchFamily="34" charset="-120"/>
              </a:rPr>
              <a:t>Restaurant manager</a:t>
            </a:r>
            <a:endParaRPr lang="en-US" sz="2600" dirty="0"/>
          </a:p>
        </p:txBody>
      </p:sp>
      <p:sp>
        <p:nvSpPr>
          <p:cNvPr id="8" name="Text 6"/>
          <p:cNvSpPr/>
          <p:nvPr/>
        </p:nvSpPr>
        <p:spPr>
          <a:xfrm>
            <a:off x="6629400" y="2697480"/>
            <a:ext cx="4572000" cy="1371600"/>
          </a:xfrm>
          <a:prstGeom prst="rect">
            <a:avLst/>
          </a:prstGeom>
          <a:noFill/>
          <a:ln/>
        </p:spPr>
        <p:txBody>
          <a:bodyPr wrap="square" lIns="0" tIns="0" rIns="0" bIns="0" rtlCol="0" anchor="ctr"/>
          <a:lstStyle/>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See tonight's bookings</a:t>
            </a:r>
            <a:endParaRPr lang="en-US" sz="1700" dirty="0"/>
          </a:p>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Mark seated or no-show</a:t>
            </a:r>
            <a:endParaRPr lang="en-US" sz="1700" dirty="0"/>
          </a:p>
          <a:p>
            <a:pPr marL="342900" indent="-342900">
              <a:spcAft>
                <a:spcPts val="800"/>
              </a:spcAft>
              <a:buSzPct val="100000"/>
              <a:buChar char="•"/>
            </a:pPr>
            <a:r>
              <a:rPr lang="en-US" sz="1700" dirty="0">
                <a:solidFill>
                  <a:srgbClr val="F5F0E6"/>
                </a:solidFill>
                <a:latin typeface="Calibri" pitchFamily="34" charset="0"/>
                <a:ea typeface="Calibri" pitchFamily="34" charset="-122"/>
                <a:cs typeface="Calibri" pitchFamily="34" charset="-120"/>
              </a:rPr>
              <a:t>Dashboard of the numbers</a:t>
            </a:r>
            <a:endParaRPr lang="en-US" sz="1700" dirty="0"/>
          </a:p>
        </p:txBody>
      </p:sp>
      <p:sp>
        <p:nvSpPr>
          <p:cNvPr id="9" name="Shape 7"/>
          <p:cNvSpPr/>
          <p:nvPr/>
        </p:nvSpPr>
        <p:spPr>
          <a:xfrm>
            <a:off x="731520" y="4572000"/>
            <a:ext cx="10698480" cy="1463040"/>
          </a:xfrm>
          <a:prstGeom prst="roundRect">
            <a:avLst>
              <a:gd name="adj" fmla="val 6250"/>
            </a:avLst>
          </a:prstGeom>
          <a:solidFill>
            <a:srgbClr val="17392E"/>
          </a:solidFill>
          <a:ln w="12700">
            <a:solidFill>
              <a:srgbClr val="17392E"/>
            </a:solidFill>
            <a:prstDash val="solid"/>
          </a:ln>
        </p:spPr>
      </p:sp>
      <p:sp>
        <p:nvSpPr>
          <p:cNvPr id="10" name="Text 8"/>
          <p:cNvSpPr/>
          <p:nvPr/>
        </p:nvSpPr>
        <p:spPr>
          <a:xfrm>
            <a:off x="1051560" y="4892040"/>
            <a:ext cx="10058400" cy="457200"/>
          </a:xfrm>
          <a:prstGeom prst="rect">
            <a:avLst/>
          </a:prstGeom>
          <a:noFill/>
          <a:ln/>
        </p:spPr>
        <p:txBody>
          <a:bodyPr wrap="square" lIns="0" tIns="0" rIns="0" bIns="0" rtlCol="0" anchor="ctr"/>
          <a:lstStyle/>
          <a:p>
            <a:pPr indent="0" marL="0">
              <a:buNone/>
            </a:pPr>
            <a:r>
              <a:rPr lang="en-US" sz="2600" b="1" dirty="0">
                <a:solidFill>
                  <a:srgbClr val="F5D77A"/>
                </a:solidFill>
                <a:latin typeface="Cambria" pitchFamily="34" charset="0"/>
                <a:ea typeface="Cambria" pitchFamily="34" charset="-122"/>
                <a:cs typeface="Cambria" pitchFamily="34" charset="-120"/>
              </a:rPr>
              <a:t>A manager can only see their own restaurant.</a:t>
            </a:r>
            <a:endParaRPr lang="en-US" sz="2600" dirty="0"/>
          </a:p>
        </p:txBody>
      </p:sp>
      <p:sp>
        <p:nvSpPr>
          <p:cNvPr id="11" name="Text 9"/>
          <p:cNvSpPr/>
          <p:nvPr/>
        </p:nvSpPr>
        <p:spPr>
          <a:xfrm>
            <a:off x="1051560" y="5440680"/>
            <a:ext cx="10058400" cy="365760"/>
          </a:xfrm>
          <a:prstGeom prst="rect">
            <a:avLst/>
          </a:prstGeom>
          <a:noFill/>
          <a:ln/>
        </p:spPr>
        <p:txBody>
          <a:bodyPr wrap="square" lIns="0" tIns="0" rIns="0" bIns="0" rtlCol="0" anchor="ctr"/>
          <a:lstStyle/>
          <a:p>
            <a:pPr indent="0" marL="0">
              <a:buNone/>
            </a:pPr>
            <a:r>
              <a:rPr lang="en-US" sz="1600" i="1" dirty="0">
                <a:solidFill>
                  <a:srgbClr val="F5F0E6"/>
                </a:solidFill>
                <a:latin typeface="Calibri" pitchFamily="34" charset="0"/>
                <a:ea typeface="Calibri" pitchFamily="34" charset="-122"/>
                <a:cs typeface="Calibri" pitchFamily="34" charset="-120"/>
              </a:rPr>
              <a:t>My first version got this wrong.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How it is built</a:t>
            </a:r>
            <a:endParaRPr lang="en-US" sz="4000" dirty="0"/>
          </a:p>
        </p:txBody>
      </p:sp>
      <p:sp>
        <p:nvSpPr>
          <p:cNvPr id="3" name="Shape 1"/>
          <p:cNvSpPr/>
          <p:nvPr/>
        </p:nvSpPr>
        <p:spPr>
          <a:xfrm>
            <a:off x="731520" y="1920240"/>
            <a:ext cx="6949440" cy="868680"/>
          </a:xfrm>
          <a:prstGeom prst="roundRect">
            <a:avLst>
              <a:gd name="adj" fmla="val 10526"/>
            </a:avLst>
          </a:prstGeom>
          <a:solidFill>
            <a:srgbClr val="102B23"/>
          </a:solidFill>
          <a:ln w="12700">
            <a:solidFill>
              <a:srgbClr val="17392E"/>
            </a:solidFill>
            <a:prstDash val="solid"/>
          </a:ln>
        </p:spPr>
      </p:sp>
      <p:sp>
        <p:nvSpPr>
          <p:cNvPr id="4" name="Text 2"/>
          <p:cNvSpPr/>
          <p:nvPr/>
        </p:nvSpPr>
        <p:spPr>
          <a:xfrm>
            <a:off x="1051560" y="2029968"/>
            <a:ext cx="2743200" cy="640080"/>
          </a:xfrm>
          <a:prstGeom prst="rect">
            <a:avLst/>
          </a:prstGeom>
          <a:noFill/>
          <a:ln/>
        </p:spPr>
        <p:txBody>
          <a:bodyPr wrap="square" lIns="0" tIns="0" rIns="0" bIns="0" rtlCol="0" anchor="ctr"/>
          <a:lstStyle/>
          <a:p>
            <a:pPr indent="0" marL="0">
              <a:buNone/>
            </a:pPr>
            <a:r>
              <a:rPr lang="en-US" sz="2000" b="1" dirty="0">
                <a:solidFill>
                  <a:srgbClr val="F5F0E6"/>
                </a:solidFill>
                <a:latin typeface="Calibri" pitchFamily="34" charset="0"/>
                <a:ea typeface="Calibri" pitchFamily="34" charset="-122"/>
                <a:cs typeface="Calibri" pitchFamily="34" charset="-120"/>
              </a:rPr>
              <a:t>React</a:t>
            </a:r>
            <a:endParaRPr lang="en-US" sz="2000" dirty="0"/>
          </a:p>
        </p:txBody>
      </p:sp>
      <p:sp>
        <p:nvSpPr>
          <p:cNvPr id="5" name="Text 3"/>
          <p:cNvSpPr/>
          <p:nvPr/>
        </p:nvSpPr>
        <p:spPr>
          <a:xfrm>
            <a:off x="3931920" y="2029968"/>
            <a:ext cx="3566160" cy="640080"/>
          </a:xfrm>
          <a:prstGeom prst="rect">
            <a:avLst/>
          </a:prstGeom>
          <a:noFill/>
          <a:ln/>
        </p:spPr>
        <p:txBody>
          <a:bodyPr wrap="square" lIns="0" tIns="0" rIns="0" bIns="0" rtlCol="0" anchor="ctr"/>
          <a:lstStyle/>
          <a:p>
            <a:pPr indent="0" marL="0">
              <a:buNone/>
            </a:pPr>
            <a:r>
              <a:rPr lang="en-US" sz="1500" dirty="0">
                <a:solidFill>
                  <a:srgbClr val="97B0A2"/>
                </a:solidFill>
                <a:latin typeface="Calibri" pitchFamily="34" charset="0"/>
                <a:ea typeface="Calibri" pitchFamily="34" charset="-122"/>
                <a:cs typeface="Calibri" pitchFamily="34" charset="-120"/>
              </a:rPr>
              <a:t>What you see in the browser</a:t>
            </a:r>
            <a:endParaRPr lang="en-US" sz="1500" dirty="0"/>
          </a:p>
        </p:txBody>
      </p:sp>
      <p:sp>
        <p:nvSpPr>
          <p:cNvPr id="6" name="Shape 4"/>
          <p:cNvSpPr/>
          <p:nvPr/>
        </p:nvSpPr>
        <p:spPr>
          <a:xfrm>
            <a:off x="4206240" y="2788920"/>
            <a:ext cx="0" cy="182880"/>
          </a:xfrm>
          <a:prstGeom prst="line">
            <a:avLst/>
          </a:prstGeom>
          <a:noFill/>
          <a:ln w="25400">
            <a:solidFill>
              <a:srgbClr val="D4A937"/>
            </a:solidFill>
            <a:prstDash val="solid"/>
            <a:tailEnd type="triangle"/>
          </a:ln>
        </p:spPr>
      </p:sp>
      <p:sp>
        <p:nvSpPr>
          <p:cNvPr id="7" name="Shape 5"/>
          <p:cNvSpPr/>
          <p:nvPr/>
        </p:nvSpPr>
        <p:spPr>
          <a:xfrm>
            <a:off x="731520" y="2971800"/>
            <a:ext cx="6949440" cy="868680"/>
          </a:xfrm>
          <a:prstGeom prst="roundRect">
            <a:avLst>
              <a:gd name="adj" fmla="val 10526"/>
            </a:avLst>
          </a:prstGeom>
          <a:solidFill>
            <a:srgbClr val="102B23"/>
          </a:solidFill>
          <a:ln w="12700">
            <a:solidFill>
              <a:srgbClr val="17392E"/>
            </a:solidFill>
            <a:prstDash val="solid"/>
          </a:ln>
        </p:spPr>
      </p:sp>
      <p:sp>
        <p:nvSpPr>
          <p:cNvPr id="8" name="Text 6"/>
          <p:cNvSpPr/>
          <p:nvPr/>
        </p:nvSpPr>
        <p:spPr>
          <a:xfrm>
            <a:off x="1051560" y="3081528"/>
            <a:ext cx="2743200" cy="640080"/>
          </a:xfrm>
          <a:prstGeom prst="rect">
            <a:avLst/>
          </a:prstGeom>
          <a:noFill/>
          <a:ln/>
        </p:spPr>
        <p:txBody>
          <a:bodyPr wrap="square" lIns="0" tIns="0" rIns="0" bIns="0" rtlCol="0" anchor="ctr"/>
          <a:lstStyle/>
          <a:p>
            <a:pPr indent="0" marL="0">
              <a:buNone/>
            </a:pPr>
            <a:r>
              <a:rPr lang="en-US" sz="2000" b="1" dirty="0">
                <a:solidFill>
                  <a:srgbClr val="F5F0E6"/>
                </a:solidFill>
                <a:latin typeface="Calibri" pitchFamily="34" charset="0"/>
                <a:ea typeface="Calibri" pitchFamily="34" charset="-122"/>
                <a:cs typeface="Calibri" pitchFamily="34" charset="-120"/>
              </a:rPr>
              <a:t>Express API</a:t>
            </a:r>
            <a:endParaRPr lang="en-US" sz="2000" dirty="0"/>
          </a:p>
        </p:txBody>
      </p:sp>
      <p:sp>
        <p:nvSpPr>
          <p:cNvPr id="9" name="Text 7"/>
          <p:cNvSpPr/>
          <p:nvPr/>
        </p:nvSpPr>
        <p:spPr>
          <a:xfrm>
            <a:off x="3931920" y="3081528"/>
            <a:ext cx="3566160" cy="640080"/>
          </a:xfrm>
          <a:prstGeom prst="rect">
            <a:avLst/>
          </a:prstGeom>
          <a:noFill/>
          <a:ln/>
        </p:spPr>
        <p:txBody>
          <a:bodyPr wrap="square" lIns="0" tIns="0" rIns="0" bIns="0" rtlCol="0" anchor="ctr"/>
          <a:lstStyle/>
          <a:p>
            <a:pPr indent="0" marL="0">
              <a:buNone/>
            </a:pPr>
            <a:r>
              <a:rPr lang="en-US" sz="1500" dirty="0">
                <a:solidFill>
                  <a:srgbClr val="97B0A2"/>
                </a:solidFill>
                <a:latin typeface="Calibri" pitchFamily="34" charset="0"/>
                <a:ea typeface="Calibri" pitchFamily="34" charset="-122"/>
                <a:cs typeface="Calibri" pitchFamily="34" charset="-120"/>
              </a:rPr>
              <a:t>Handles the requests</a:t>
            </a:r>
            <a:endParaRPr lang="en-US" sz="1500" dirty="0"/>
          </a:p>
        </p:txBody>
      </p:sp>
      <p:sp>
        <p:nvSpPr>
          <p:cNvPr id="10" name="Shape 8"/>
          <p:cNvSpPr/>
          <p:nvPr/>
        </p:nvSpPr>
        <p:spPr>
          <a:xfrm>
            <a:off x="4206240" y="3840480"/>
            <a:ext cx="0" cy="182880"/>
          </a:xfrm>
          <a:prstGeom prst="line">
            <a:avLst/>
          </a:prstGeom>
          <a:noFill/>
          <a:ln w="25400">
            <a:solidFill>
              <a:srgbClr val="D4A937"/>
            </a:solidFill>
            <a:prstDash val="solid"/>
            <a:tailEnd type="triangle"/>
          </a:ln>
        </p:spPr>
      </p:sp>
      <p:sp>
        <p:nvSpPr>
          <p:cNvPr id="11" name="Shape 9"/>
          <p:cNvSpPr/>
          <p:nvPr/>
        </p:nvSpPr>
        <p:spPr>
          <a:xfrm>
            <a:off x="731520" y="4023360"/>
            <a:ext cx="6949440" cy="868680"/>
          </a:xfrm>
          <a:prstGeom prst="roundRect">
            <a:avLst>
              <a:gd name="adj" fmla="val 10526"/>
            </a:avLst>
          </a:prstGeom>
          <a:solidFill>
            <a:srgbClr val="17392E"/>
          </a:solidFill>
          <a:ln w="12700">
            <a:solidFill>
              <a:srgbClr val="17392E"/>
            </a:solidFill>
            <a:prstDash val="solid"/>
          </a:ln>
        </p:spPr>
      </p:sp>
      <p:sp>
        <p:nvSpPr>
          <p:cNvPr id="12" name="Text 10"/>
          <p:cNvSpPr/>
          <p:nvPr/>
        </p:nvSpPr>
        <p:spPr>
          <a:xfrm>
            <a:off x="1051560" y="4133088"/>
            <a:ext cx="2743200" cy="640080"/>
          </a:xfrm>
          <a:prstGeom prst="rect">
            <a:avLst/>
          </a:prstGeom>
          <a:noFill/>
          <a:ln/>
        </p:spPr>
        <p:txBody>
          <a:bodyPr wrap="square" lIns="0" tIns="0" rIns="0" bIns="0" rtlCol="0" anchor="ctr"/>
          <a:lstStyle/>
          <a:p>
            <a:pPr indent="0" marL="0">
              <a:buNone/>
            </a:pPr>
            <a:r>
              <a:rPr lang="en-US" sz="2000" b="1" dirty="0">
                <a:solidFill>
                  <a:srgbClr val="F5D77A"/>
                </a:solidFill>
                <a:latin typeface="Calibri" pitchFamily="34" charset="0"/>
                <a:ea typeface="Calibri" pitchFamily="34" charset="-122"/>
                <a:cs typeface="Calibri" pitchFamily="34" charset="-120"/>
              </a:rPr>
              <a:t>Booking rules</a:t>
            </a:r>
            <a:endParaRPr lang="en-US" sz="2000" dirty="0"/>
          </a:p>
        </p:txBody>
      </p:sp>
      <p:sp>
        <p:nvSpPr>
          <p:cNvPr id="13" name="Text 11"/>
          <p:cNvSpPr/>
          <p:nvPr/>
        </p:nvSpPr>
        <p:spPr>
          <a:xfrm>
            <a:off x="3931920" y="4133088"/>
            <a:ext cx="3566160" cy="640080"/>
          </a:xfrm>
          <a:prstGeom prst="rect">
            <a:avLst/>
          </a:prstGeom>
          <a:noFill/>
          <a:ln/>
        </p:spPr>
        <p:txBody>
          <a:bodyPr wrap="square" lIns="0" tIns="0" rIns="0" bIns="0" rtlCol="0" anchor="ctr"/>
          <a:lstStyle/>
          <a:p>
            <a:pPr indent="0" marL="0">
              <a:buNone/>
            </a:pPr>
            <a:r>
              <a:rPr lang="en-US" sz="1500" dirty="0">
                <a:solidFill>
                  <a:srgbClr val="97B0A2"/>
                </a:solidFill>
                <a:latin typeface="Calibri" pitchFamily="34" charset="0"/>
                <a:ea typeface="Calibri" pitchFamily="34" charset="-122"/>
                <a:cs typeface="Calibri" pitchFamily="34" charset="-120"/>
              </a:rPr>
              <a:t>Works out what is free</a:t>
            </a:r>
            <a:endParaRPr lang="en-US" sz="1500" dirty="0"/>
          </a:p>
        </p:txBody>
      </p:sp>
      <p:sp>
        <p:nvSpPr>
          <p:cNvPr id="14" name="Shape 12"/>
          <p:cNvSpPr/>
          <p:nvPr/>
        </p:nvSpPr>
        <p:spPr>
          <a:xfrm>
            <a:off x="4206240" y="4892040"/>
            <a:ext cx="0" cy="182880"/>
          </a:xfrm>
          <a:prstGeom prst="line">
            <a:avLst/>
          </a:prstGeom>
          <a:noFill/>
          <a:ln w="25400">
            <a:solidFill>
              <a:srgbClr val="D4A937"/>
            </a:solidFill>
            <a:prstDash val="solid"/>
            <a:tailEnd type="triangle"/>
          </a:ln>
        </p:spPr>
      </p:sp>
      <p:sp>
        <p:nvSpPr>
          <p:cNvPr id="15" name="Shape 13"/>
          <p:cNvSpPr/>
          <p:nvPr/>
        </p:nvSpPr>
        <p:spPr>
          <a:xfrm>
            <a:off x="731520" y="5074920"/>
            <a:ext cx="6949440" cy="868680"/>
          </a:xfrm>
          <a:prstGeom prst="roundRect">
            <a:avLst>
              <a:gd name="adj" fmla="val 10526"/>
            </a:avLst>
          </a:prstGeom>
          <a:solidFill>
            <a:srgbClr val="102B23"/>
          </a:solidFill>
          <a:ln w="12700">
            <a:solidFill>
              <a:srgbClr val="17392E"/>
            </a:solidFill>
            <a:prstDash val="solid"/>
          </a:ln>
        </p:spPr>
      </p:sp>
      <p:sp>
        <p:nvSpPr>
          <p:cNvPr id="16" name="Text 14"/>
          <p:cNvSpPr/>
          <p:nvPr/>
        </p:nvSpPr>
        <p:spPr>
          <a:xfrm>
            <a:off x="1051560" y="5184648"/>
            <a:ext cx="2743200" cy="640080"/>
          </a:xfrm>
          <a:prstGeom prst="rect">
            <a:avLst/>
          </a:prstGeom>
          <a:noFill/>
          <a:ln/>
        </p:spPr>
        <p:txBody>
          <a:bodyPr wrap="square" lIns="0" tIns="0" rIns="0" bIns="0" rtlCol="0" anchor="ctr"/>
          <a:lstStyle/>
          <a:p>
            <a:pPr indent="0" marL="0">
              <a:buNone/>
            </a:pPr>
            <a:r>
              <a:rPr lang="en-US" sz="2000" b="1" dirty="0">
                <a:solidFill>
                  <a:srgbClr val="F5F0E6"/>
                </a:solidFill>
                <a:latin typeface="Calibri" pitchFamily="34" charset="0"/>
                <a:ea typeface="Calibri" pitchFamily="34" charset="-122"/>
                <a:cs typeface="Calibri" pitchFamily="34" charset="-120"/>
              </a:rPr>
              <a:t>Prisma + SQLite</a:t>
            </a:r>
            <a:endParaRPr lang="en-US" sz="2000" dirty="0"/>
          </a:p>
        </p:txBody>
      </p:sp>
      <p:sp>
        <p:nvSpPr>
          <p:cNvPr id="17" name="Text 15"/>
          <p:cNvSpPr/>
          <p:nvPr/>
        </p:nvSpPr>
        <p:spPr>
          <a:xfrm>
            <a:off x="3931920" y="5184648"/>
            <a:ext cx="3566160" cy="640080"/>
          </a:xfrm>
          <a:prstGeom prst="rect">
            <a:avLst/>
          </a:prstGeom>
          <a:noFill/>
          <a:ln/>
        </p:spPr>
        <p:txBody>
          <a:bodyPr wrap="square" lIns="0" tIns="0" rIns="0" bIns="0" rtlCol="0" anchor="ctr"/>
          <a:lstStyle/>
          <a:p>
            <a:pPr indent="0" marL="0">
              <a:buNone/>
            </a:pPr>
            <a:r>
              <a:rPr lang="en-US" sz="1500" dirty="0">
                <a:solidFill>
                  <a:srgbClr val="97B0A2"/>
                </a:solidFill>
                <a:latin typeface="Calibri" pitchFamily="34" charset="0"/>
                <a:ea typeface="Calibri" pitchFamily="34" charset="-122"/>
                <a:cs typeface="Calibri" pitchFamily="34" charset="-120"/>
              </a:rPr>
              <a:t>Stores everything</a:t>
            </a:r>
            <a:endParaRPr lang="en-US" sz="1500" dirty="0"/>
          </a:p>
        </p:txBody>
      </p:sp>
      <p:sp>
        <p:nvSpPr>
          <p:cNvPr id="18" name="Shape 16"/>
          <p:cNvSpPr/>
          <p:nvPr/>
        </p:nvSpPr>
        <p:spPr>
          <a:xfrm>
            <a:off x="8138160" y="1920240"/>
            <a:ext cx="3291840" cy="3657600"/>
          </a:xfrm>
          <a:prstGeom prst="roundRect">
            <a:avLst>
              <a:gd name="adj" fmla="val 2778"/>
            </a:avLst>
          </a:prstGeom>
          <a:solidFill>
            <a:srgbClr val="102B23"/>
          </a:solidFill>
          <a:ln w="12700">
            <a:solidFill>
              <a:srgbClr val="17392E"/>
            </a:solidFill>
            <a:prstDash val="solid"/>
          </a:ln>
        </p:spPr>
      </p:sp>
      <p:sp>
        <p:nvSpPr>
          <p:cNvPr id="19" name="Text 17"/>
          <p:cNvSpPr/>
          <p:nvPr/>
        </p:nvSpPr>
        <p:spPr>
          <a:xfrm>
            <a:off x="8458200" y="2240280"/>
            <a:ext cx="2743200" cy="457200"/>
          </a:xfrm>
          <a:prstGeom prst="rect">
            <a:avLst/>
          </a:prstGeom>
          <a:noFill/>
          <a:ln/>
        </p:spPr>
        <p:txBody>
          <a:bodyPr wrap="square" lIns="0" tIns="0" rIns="0" bIns="0" rtlCol="0" anchor="ctr"/>
          <a:lstStyle/>
          <a:p>
            <a:pPr indent="0" marL="0">
              <a:buNone/>
            </a:pPr>
            <a:r>
              <a:rPr lang="en-US" sz="2200" b="1" dirty="0">
                <a:solidFill>
                  <a:srgbClr val="D4A937"/>
                </a:solidFill>
                <a:latin typeface="Cambria" pitchFamily="34" charset="0"/>
                <a:ea typeface="Cambria" pitchFamily="34" charset="-122"/>
                <a:cs typeface="Cambria" pitchFamily="34" charset="-120"/>
              </a:rPr>
              <a:t>Why separate?</a:t>
            </a:r>
            <a:endParaRPr lang="en-US" sz="2200" dirty="0"/>
          </a:p>
        </p:txBody>
      </p:sp>
      <p:sp>
        <p:nvSpPr>
          <p:cNvPr id="20" name="Text 18"/>
          <p:cNvSpPr/>
          <p:nvPr/>
        </p:nvSpPr>
        <p:spPr>
          <a:xfrm>
            <a:off x="8458200" y="2880360"/>
            <a:ext cx="2743200" cy="237744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The booking rules do not touch the database or the internet.</a:t>
            </a:r>
            <a:endParaRPr lang="en-US" sz="1600" dirty="0"/>
          </a:p>
          <a:p>
            <a:pPr indent="0" marL="0">
              <a:buNone/>
            </a:pPr>
            <a:endParaRPr lang="en-US" sz="1600" dirty="0"/>
          </a:p>
          <a:p>
            <a:pPr indent="0" marL="0">
              <a:buNone/>
            </a:pPr>
            <a:r>
              <a:rPr lang="en-US" sz="1600" dirty="0">
                <a:solidFill>
                  <a:srgbClr val="F5F0E6"/>
                </a:solidFill>
                <a:latin typeface="Calibri" pitchFamily="34" charset="0"/>
                <a:ea typeface="Calibri" pitchFamily="34" charset="-122"/>
                <a:cs typeface="Calibri" pitchFamily="34" charset="-120"/>
              </a:rPr>
              <a:t>So I can test them on their own.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The hard part</a:t>
            </a:r>
            <a:endParaRPr lang="en-US" sz="4000" dirty="0"/>
          </a:p>
        </p:txBody>
      </p:sp>
      <p:sp>
        <p:nvSpPr>
          <p:cNvPr id="3" name="Text 1"/>
          <p:cNvSpPr/>
          <p:nvPr/>
        </p:nvSpPr>
        <p:spPr>
          <a:xfrm>
            <a:off x="731520" y="1371600"/>
            <a:ext cx="10698480" cy="411480"/>
          </a:xfrm>
          <a:prstGeom prst="rect">
            <a:avLst/>
          </a:prstGeom>
          <a:noFill/>
          <a:ln/>
        </p:spPr>
        <p:txBody>
          <a:bodyPr wrap="square" lIns="0" tIns="0" rIns="0" bIns="0" rtlCol="0" anchor="ctr"/>
          <a:lstStyle/>
          <a:p>
            <a:pPr indent="0" marL="0">
              <a:buNone/>
            </a:pPr>
            <a:r>
              <a:rPr lang="en-US" sz="1900" dirty="0">
                <a:solidFill>
                  <a:srgbClr val="97B0A2"/>
                </a:solidFill>
                <a:latin typeface="Calibri" pitchFamily="34" charset="0"/>
                <a:ea typeface="Calibri" pitchFamily="34" charset="-122"/>
                <a:cs typeface="Calibri" pitchFamily="34" charset="-120"/>
              </a:rPr>
              <a:t>Deciding whether a table is free</a:t>
            </a:r>
            <a:endParaRPr lang="en-US" sz="1900" dirty="0"/>
          </a:p>
        </p:txBody>
      </p:sp>
      <p:sp>
        <p:nvSpPr>
          <p:cNvPr id="4" name="Shape 2"/>
          <p:cNvSpPr/>
          <p:nvPr/>
        </p:nvSpPr>
        <p:spPr>
          <a:xfrm>
            <a:off x="731520" y="2331720"/>
            <a:ext cx="594360" cy="594360"/>
          </a:xfrm>
          <a:prstGeom prst="ellipse">
            <a:avLst/>
          </a:prstGeom>
          <a:solidFill>
            <a:srgbClr val="D4A937"/>
          </a:solidFill>
          <a:ln/>
        </p:spPr>
      </p:sp>
      <p:sp>
        <p:nvSpPr>
          <p:cNvPr id="5" name="Text 3"/>
          <p:cNvSpPr/>
          <p:nvPr/>
        </p:nvSpPr>
        <p:spPr>
          <a:xfrm>
            <a:off x="731520" y="2331720"/>
            <a:ext cx="594360" cy="59436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600200" y="2194560"/>
            <a:ext cx="9784080" cy="868680"/>
          </a:xfrm>
          <a:prstGeom prst="rect">
            <a:avLst/>
          </a:prstGeom>
          <a:noFill/>
          <a:ln/>
        </p:spPr>
        <p:txBody>
          <a:bodyPr wrap="square" lIns="0" tIns="0" rIns="0" bIns="0" rtlCol="0" anchor="ctr"/>
          <a:lstStyle/>
          <a:p>
            <a:pPr indent="0" marL="0">
              <a:buNone/>
            </a:pPr>
            <a:r>
              <a:rPr lang="en-US" sz="2800" b="1" dirty="0">
                <a:solidFill>
                  <a:srgbClr val="F5F0E6"/>
                </a:solidFill>
                <a:latin typeface="Cambria" pitchFamily="34" charset="0"/>
                <a:ea typeface="Cambria" pitchFamily="34" charset="-122"/>
                <a:cs typeface="Cambria" pitchFamily="34" charset="-120"/>
              </a:rPr>
              <a:t>Is 20:00 to 20:00 a clash?</a:t>
            </a:r>
            <a:endParaRPr lang="en-US" sz="2800" dirty="0"/>
          </a:p>
        </p:txBody>
      </p:sp>
      <p:sp>
        <p:nvSpPr>
          <p:cNvPr id="7" name="Shape 5"/>
          <p:cNvSpPr/>
          <p:nvPr/>
        </p:nvSpPr>
        <p:spPr>
          <a:xfrm>
            <a:off x="731520" y="3703320"/>
            <a:ext cx="594360" cy="594360"/>
          </a:xfrm>
          <a:prstGeom prst="ellipse">
            <a:avLst/>
          </a:prstGeom>
          <a:solidFill>
            <a:srgbClr val="D4A937"/>
          </a:solidFill>
          <a:ln/>
        </p:spPr>
      </p:sp>
      <p:sp>
        <p:nvSpPr>
          <p:cNvPr id="8" name="Text 6"/>
          <p:cNvSpPr/>
          <p:nvPr/>
        </p:nvSpPr>
        <p:spPr>
          <a:xfrm>
            <a:off x="731520" y="3703320"/>
            <a:ext cx="594360" cy="59436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1600200" y="3566160"/>
            <a:ext cx="9784080" cy="868680"/>
          </a:xfrm>
          <a:prstGeom prst="rect">
            <a:avLst/>
          </a:prstGeom>
          <a:noFill/>
          <a:ln/>
        </p:spPr>
        <p:txBody>
          <a:bodyPr wrap="square" lIns="0" tIns="0" rIns="0" bIns="0" rtlCol="0" anchor="ctr"/>
          <a:lstStyle/>
          <a:p>
            <a:pPr indent="0" marL="0">
              <a:buNone/>
            </a:pPr>
            <a:r>
              <a:rPr lang="en-US" sz="2800" b="1" dirty="0">
                <a:solidFill>
                  <a:srgbClr val="F5F0E6"/>
                </a:solidFill>
                <a:latin typeface="Cambria" pitchFamily="34" charset="0"/>
                <a:ea typeface="Cambria" pitchFamily="34" charset="-122"/>
                <a:cs typeface="Cambria" pitchFamily="34" charset="-120"/>
              </a:rPr>
              <a:t>Which table should two people get?</a:t>
            </a:r>
            <a:endParaRPr lang="en-US" sz="2800" dirty="0"/>
          </a:p>
        </p:txBody>
      </p:sp>
      <p:sp>
        <p:nvSpPr>
          <p:cNvPr id="10" name="Shape 8"/>
          <p:cNvSpPr/>
          <p:nvPr/>
        </p:nvSpPr>
        <p:spPr>
          <a:xfrm>
            <a:off x="731520" y="5074920"/>
            <a:ext cx="594360" cy="594360"/>
          </a:xfrm>
          <a:prstGeom prst="ellipse">
            <a:avLst/>
          </a:prstGeom>
          <a:solidFill>
            <a:srgbClr val="D4A937"/>
          </a:solidFill>
          <a:ln/>
        </p:spPr>
      </p:sp>
      <p:sp>
        <p:nvSpPr>
          <p:cNvPr id="11" name="Text 9"/>
          <p:cNvSpPr/>
          <p:nvPr/>
        </p:nvSpPr>
        <p:spPr>
          <a:xfrm>
            <a:off x="731520" y="5074920"/>
            <a:ext cx="594360" cy="59436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1600200" y="4937760"/>
            <a:ext cx="9784080" cy="868680"/>
          </a:xfrm>
          <a:prstGeom prst="rect">
            <a:avLst/>
          </a:prstGeom>
          <a:noFill/>
          <a:ln/>
        </p:spPr>
        <p:txBody>
          <a:bodyPr wrap="square" lIns="0" tIns="0" rIns="0" bIns="0" rtlCol="0" anchor="ctr"/>
          <a:lstStyle/>
          <a:p>
            <a:pPr indent="0" marL="0">
              <a:buNone/>
            </a:pPr>
            <a:r>
              <a:rPr lang="en-US" sz="2800" b="1" dirty="0">
                <a:solidFill>
                  <a:srgbClr val="F5F0E6"/>
                </a:solidFill>
                <a:latin typeface="Cambria" pitchFamily="34" charset="0"/>
                <a:ea typeface="Cambria" pitchFamily="34" charset="-122"/>
                <a:cs typeface="Cambria" pitchFamily="34" charset="-120"/>
              </a:rPr>
              <a:t>What if two people book at once?</a:t>
            </a:r>
            <a:endParaRPr lang="en-US" sz="2800" dirty="0"/>
          </a:p>
        </p:txBody>
      </p:sp>
      <p:sp>
        <p:nvSpPr>
          <p:cNvPr id="13" name="Shape 11"/>
          <p:cNvSpPr/>
          <p:nvPr/>
        </p:nvSpPr>
        <p:spPr>
          <a:xfrm>
            <a:off x="731520" y="5806440"/>
            <a:ext cx="10698480" cy="777240"/>
          </a:xfrm>
          <a:prstGeom prst="roundRect">
            <a:avLst>
              <a:gd name="adj" fmla="val 11765"/>
            </a:avLst>
          </a:prstGeom>
          <a:solidFill>
            <a:srgbClr val="17392E"/>
          </a:solidFill>
          <a:ln w="12700">
            <a:solidFill>
              <a:srgbClr val="17392E"/>
            </a:solidFill>
            <a:prstDash val="solid"/>
          </a:ln>
        </p:spPr>
      </p:sp>
      <p:sp>
        <p:nvSpPr>
          <p:cNvPr id="14" name="Text 12"/>
          <p:cNvSpPr/>
          <p:nvPr/>
        </p:nvSpPr>
        <p:spPr>
          <a:xfrm>
            <a:off x="1051560" y="5989320"/>
            <a:ext cx="10058400" cy="411480"/>
          </a:xfrm>
          <a:prstGeom prst="rect">
            <a:avLst/>
          </a:prstGeom>
          <a:noFill/>
          <a:ln/>
        </p:spPr>
        <p:txBody>
          <a:bodyPr wrap="square" lIns="0" tIns="0" rIns="0" bIns="0" rtlCol="0" anchor="ctr"/>
          <a:lstStyle/>
          <a:p>
            <a:pPr indent="0" marL="0">
              <a:buNone/>
            </a:pPr>
            <a:r>
              <a:rPr lang="en-US" sz="1900" i="1" dirty="0">
                <a:solidFill>
                  <a:srgbClr val="F5D77A"/>
                </a:solidFill>
                <a:latin typeface="Calibri" pitchFamily="34" charset="0"/>
                <a:ea typeface="Calibri" pitchFamily="34" charset="-122"/>
                <a:cs typeface="Calibri" pitchFamily="34" charset="-120"/>
              </a:rPr>
              <a:t>I got all three wrong the first time.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Keeping it secure</a:t>
            </a:r>
            <a:endParaRPr lang="en-US" sz="4000" dirty="0"/>
          </a:p>
        </p:txBody>
      </p:sp>
      <p:sp>
        <p:nvSpPr>
          <p:cNvPr id="3" name="Shape 1"/>
          <p:cNvSpPr/>
          <p:nvPr/>
        </p:nvSpPr>
        <p:spPr>
          <a:xfrm>
            <a:off x="731520" y="1828800"/>
            <a:ext cx="10698480" cy="777240"/>
          </a:xfrm>
          <a:prstGeom prst="roundRect">
            <a:avLst>
              <a:gd name="adj" fmla="val 11765"/>
            </a:avLst>
          </a:prstGeom>
          <a:solidFill>
            <a:srgbClr val="102B23"/>
          </a:solidFill>
          <a:ln w="12700">
            <a:solidFill>
              <a:srgbClr val="17392E"/>
            </a:solidFill>
            <a:prstDash val="solid"/>
          </a:ln>
        </p:spPr>
      </p:sp>
      <p:sp>
        <p:nvSpPr>
          <p:cNvPr id="4" name="Text 2"/>
          <p:cNvSpPr/>
          <p:nvPr/>
        </p:nvSpPr>
        <p:spPr>
          <a:xfrm>
            <a:off x="1097280" y="1920240"/>
            <a:ext cx="4754880" cy="594360"/>
          </a:xfrm>
          <a:prstGeom prst="rect">
            <a:avLst/>
          </a:prstGeom>
          <a:noFill/>
          <a:ln/>
        </p:spPr>
        <p:txBody>
          <a:bodyPr wrap="square" lIns="0" tIns="0" rIns="0" bIns="0" rtlCol="0" anchor="ctr"/>
          <a:lstStyle/>
          <a:p>
            <a:pPr indent="0" marL="0">
              <a:buNone/>
            </a:pPr>
            <a:r>
              <a:rPr lang="en-US" sz="1900" b="1" dirty="0">
                <a:solidFill>
                  <a:srgbClr val="D4A937"/>
                </a:solidFill>
                <a:latin typeface="Calibri" pitchFamily="34" charset="0"/>
                <a:ea typeface="Calibri" pitchFamily="34" charset="-122"/>
                <a:cs typeface="Calibri" pitchFamily="34" charset="-120"/>
              </a:rPr>
              <a:t>Passwords are hashed</a:t>
            </a:r>
            <a:endParaRPr lang="en-US" sz="1900" dirty="0"/>
          </a:p>
        </p:txBody>
      </p:sp>
      <p:sp>
        <p:nvSpPr>
          <p:cNvPr id="5" name="Text 3"/>
          <p:cNvSpPr/>
          <p:nvPr/>
        </p:nvSpPr>
        <p:spPr>
          <a:xfrm>
            <a:off x="6035040" y="1920240"/>
            <a:ext cx="5029200" cy="59436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I cannot read them either</a:t>
            </a:r>
            <a:endParaRPr lang="en-US" sz="1600" dirty="0"/>
          </a:p>
        </p:txBody>
      </p:sp>
      <p:sp>
        <p:nvSpPr>
          <p:cNvPr id="6" name="Shape 4"/>
          <p:cNvSpPr/>
          <p:nvPr/>
        </p:nvSpPr>
        <p:spPr>
          <a:xfrm>
            <a:off x="731520" y="2743200"/>
            <a:ext cx="10698480" cy="777240"/>
          </a:xfrm>
          <a:prstGeom prst="roundRect">
            <a:avLst>
              <a:gd name="adj" fmla="val 11765"/>
            </a:avLst>
          </a:prstGeom>
          <a:solidFill>
            <a:srgbClr val="102B23"/>
          </a:solidFill>
          <a:ln w="12700">
            <a:solidFill>
              <a:srgbClr val="17392E"/>
            </a:solidFill>
            <a:prstDash val="solid"/>
          </a:ln>
        </p:spPr>
      </p:sp>
      <p:sp>
        <p:nvSpPr>
          <p:cNvPr id="7" name="Text 5"/>
          <p:cNvSpPr/>
          <p:nvPr/>
        </p:nvSpPr>
        <p:spPr>
          <a:xfrm>
            <a:off x="1097280" y="2834640"/>
            <a:ext cx="4754880" cy="594360"/>
          </a:xfrm>
          <a:prstGeom prst="rect">
            <a:avLst/>
          </a:prstGeom>
          <a:noFill/>
          <a:ln/>
        </p:spPr>
        <p:txBody>
          <a:bodyPr wrap="square" lIns="0" tIns="0" rIns="0" bIns="0" rtlCol="0" anchor="ctr"/>
          <a:lstStyle/>
          <a:p>
            <a:pPr indent="0" marL="0">
              <a:buNone/>
            </a:pPr>
            <a:r>
              <a:rPr lang="en-US" sz="1900" b="1" dirty="0">
                <a:solidFill>
                  <a:srgbClr val="D4A937"/>
                </a:solidFill>
                <a:latin typeface="Calibri" pitchFamily="34" charset="0"/>
                <a:ea typeface="Calibri" pitchFamily="34" charset="-122"/>
                <a:cs typeface="Calibri" pitchFamily="34" charset="-120"/>
              </a:rPr>
              <a:t>Login gives you a token</a:t>
            </a:r>
            <a:endParaRPr lang="en-US" sz="1900" dirty="0"/>
          </a:p>
        </p:txBody>
      </p:sp>
      <p:sp>
        <p:nvSpPr>
          <p:cNvPr id="8" name="Text 6"/>
          <p:cNvSpPr/>
          <p:nvPr/>
        </p:nvSpPr>
        <p:spPr>
          <a:xfrm>
            <a:off x="6035040" y="2834640"/>
            <a:ext cx="5029200" cy="59436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Signed, so it cannot be faked</a:t>
            </a:r>
            <a:endParaRPr lang="en-US" sz="1600" dirty="0"/>
          </a:p>
        </p:txBody>
      </p:sp>
      <p:sp>
        <p:nvSpPr>
          <p:cNvPr id="9" name="Shape 7"/>
          <p:cNvSpPr/>
          <p:nvPr/>
        </p:nvSpPr>
        <p:spPr>
          <a:xfrm>
            <a:off x="731520" y="3657600"/>
            <a:ext cx="10698480" cy="777240"/>
          </a:xfrm>
          <a:prstGeom prst="roundRect">
            <a:avLst>
              <a:gd name="adj" fmla="val 11765"/>
            </a:avLst>
          </a:prstGeom>
          <a:solidFill>
            <a:srgbClr val="102B23"/>
          </a:solidFill>
          <a:ln w="12700">
            <a:solidFill>
              <a:srgbClr val="17392E"/>
            </a:solidFill>
            <a:prstDash val="solid"/>
          </a:ln>
        </p:spPr>
      </p:sp>
      <p:sp>
        <p:nvSpPr>
          <p:cNvPr id="10" name="Text 8"/>
          <p:cNvSpPr/>
          <p:nvPr/>
        </p:nvSpPr>
        <p:spPr>
          <a:xfrm>
            <a:off x="1097280" y="3749040"/>
            <a:ext cx="4754880" cy="594360"/>
          </a:xfrm>
          <a:prstGeom prst="rect">
            <a:avLst/>
          </a:prstGeom>
          <a:noFill/>
          <a:ln/>
        </p:spPr>
        <p:txBody>
          <a:bodyPr wrap="square" lIns="0" tIns="0" rIns="0" bIns="0" rtlCol="0" anchor="ctr"/>
          <a:lstStyle/>
          <a:p>
            <a:pPr indent="0" marL="0">
              <a:buNone/>
            </a:pPr>
            <a:r>
              <a:rPr lang="en-US" sz="1900" b="1" dirty="0">
                <a:solidFill>
                  <a:srgbClr val="D4A937"/>
                </a:solidFill>
                <a:latin typeface="Calibri" pitchFamily="34" charset="0"/>
                <a:ea typeface="Calibri" pitchFamily="34" charset="-122"/>
                <a:cs typeface="Calibri" pitchFamily="34" charset="-120"/>
              </a:rPr>
              <a:t>Checked on every request</a:t>
            </a:r>
            <a:endParaRPr lang="en-US" sz="1900" dirty="0"/>
          </a:p>
        </p:txBody>
      </p:sp>
      <p:sp>
        <p:nvSpPr>
          <p:cNvPr id="11" name="Text 9"/>
          <p:cNvSpPr/>
          <p:nvPr/>
        </p:nvSpPr>
        <p:spPr>
          <a:xfrm>
            <a:off x="6035040" y="3749040"/>
            <a:ext cx="5029200" cy="59436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The server never trusts the browser</a:t>
            </a:r>
            <a:endParaRPr lang="en-US" sz="1600" dirty="0"/>
          </a:p>
        </p:txBody>
      </p:sp>
      <p:sp>
        <p:nvSpPr>
          <p:cNvPr id="12" name="Shape 10"/>
          <p:cNvSpPr/>
          <p:nvPr/>
        </p:nvSpPr>
        <p:spPr>
          <a:xfrm>
            <a:off x="731520" y="4572000"/>
            <a:ext cx="10698480" cy="777240"/>
          </a:xfrm>
          <a:prstGeom prst="roundRect">
            <a:avLst>
              <a:gd name="adj" fmla="val 11765"/>
            </a:avLst>
          </a:prstGeom>
          <a:solidFill>
            <a:srgbClr val="102B23"/>
          </a:solidFill>
          <a:ln w="12700">
            <a:solidFill>
              <a:srgbClr val="17392E"/>
            </a:solidFill>
            <a:prstDash val="solid"/>
          </a:ln>
        </p:spPr>
      </p:sp>
      <p:sp>
        <p:nvSpPr>
          <p:cNvPr id="13" name="Text 11"/>
          <p:cNvSpPr/>
          <p:nvPr/>
        </p:nvSpPr>
        <p:spPr>
          <a:xfrm>
            <a:off x="1097280" y="4663440"/>
            <a:ext cx="4754880" cy="594360"/>
          </a:xfrm>
          <a:prstGeom prst="rect">
            <a:avLst/>
          </a:prstGeom>
          <a:noFill/>
          <a:ln/>
        </p:spPr>
        <p:txBody>
          <a:bodyPr wrap="square" lIns="0" tIns="0" rIns="0" bIns="0" rtlCol="0" anchor="ctr"/>
          <a:lstStyle/>
          <a:p>
            <a:pPr indent="0" marL="0">
              <a:buNone/>
            </a:pPr>
            <a:r>
              <a:rPr lang="en-US" sz="1900" b="1" dirty="0">
                <a:solidFill>
                  <a:srgbClr val="D4A937"/>
                </a:solidFill>
                <a:latin typeface="Calibri" pitchFamily="34" charset="0"/>
                <a:ea typeface="Calibri" pitchFamily="34" charset="-122"/>
                <a:cs typeface="Calibri" pitchFamily="34" charset="-120"/>
              </a:rPr>
              <a:t>Login errors are identical</a:t>
            </a:r>
            <a:endParaRPr lang="en-US" sz="1900" dirty="0"/>
          </a:p>
        </p:txBody>
      </p:sp>
      <p:sp>
        <p:nvSpPr>
          <p:cNvPr id="14" name="Text 12"/>
          <p:cNvSpPr/>
          <p:nvPr/>
        </p:nvSpPr>
        <p:spPr>
          <a:xfrm>
            <a:off x="6035040" y="4663440"/>
            <a:ext cx="5029200" cy="59436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You cannot fish for real emails</a:t>
            </a:r>
            <a:endParaRPr lang="en-US" sz="1600" dirty="0"/>
          </a:p>
        </p:txBody>
      </p:sp>
      <p:sp>
        <p:nvSpPr>
          <p:cNvPr id="15" name="Shape 13"/>
          <p:cNvSpPr/>
          <p:nvPr/>
        </p:nvSpPr>
        <p:spPr>
          <a:xfrm>
            <a:off x="731520" y="5486400"/>
            <a:ext cx="10698480" cy="777240"/>
          </a:xfrm>
          <a:prstGeom prst="roundRect">
            <a:avLst>
              <a:gd name="adj" fmla="val 11765"/>
            </a:avLst>
          </a:prstGeom>
          <a:solidFill>
            <a:srgbClr val="102B23"/>
          </a:solidFill>
          <a:ln w="12700">
            <a:solidFill>
              <a:srgbClr val="17392E"/>
            </a:solidFill>
            <a:prstDash val="solid"/>
          </a:ln>
        </p:spPr>
      </p:sp>
      <p:sp>
        <p:nvSpPr>
          <p:cNvPr id="16" name="Text 14"/>
          <p:cNvSpPr/>
          <p:nvPr/>
        </p:nvSpPr>
        <p:spPr>
          <a:xfrm>
            <a:off x="1097280" y="5577840"/>
            <a:ext cx="4754880" cy="594360"/>
          </a:xfrm>
          <a:prstGeom prst="rect">
            <a:avLst/>
          </a:prstGeom>
          <a:noFill/>
          <a:ln/>
        </p:spPr>
        <p:txBody>
          <a:bodyPr wrap="square" lIns="0" tIns="0" rIns="0" bIns="0" rtlCol="0" anchor="ctr"/>
          <a:lstStyle/>
          <a:p>
            <a:pPr indent="0" marL="0">
              <a:buNone/>
            </a:pPr>
            <a:r>
              <a:rPr lang="en-US" sz="1900" b="1" dirty="0">
                <a:solidFill>
                  <a:srgbClr val="D4A937"/>
                </a:solidFill>
                <a:latin typeface="Calibri" pitchFamily="34" charset="0"/>
                <a:ea typeface="Calibri" pitchFamily="34" charset="-122"/>
                <a:cs typeface="Calibri" pitchFamily="34" charset="-120"/>
              </a:rPr>
              <a:t>Other restaurants: 404</a:t>
            </a:r>
            <a:endParaRPr lang="en-US" sz="1900" dirty="0"/>
          </a:p>
        </p:txBody>
      </p:sp>
      <p:sp>
        <p:nvSpPr>
          <p:cNvPr id="17" name="Text 15"/>
          <p:cNvSpPr/>
          <p:nvPr/>
        </p:nvSpPr>
        <p:spPr>
          <a:xfrm>
            <a:off x="6035040" y="5577840"/>
            <a:ext cx="5029200" cy="59436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Not "no" — "does not exist"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Choices I made</a:t>
            </a:r>
            <a:endParaRPr lang="en-US" sz="4000" dirty="0"/>
          </a:p>
        </p:txBody>
      </p:sp>
      <p:sp>
        <p:nvSpPr>
          <p:cNvPr id="3" name="Text 1"/>
          <p:cNvSpPr/>
          <p:nvPr/>
        </p:nvSpPr>
        <p:spPr>
          <a:xfrm>
            <a:off x="731520" y="1828800"/>
            <a:ext cx="2743200" cy="822960"/>
          </a:xfrm>
          <a:prstGeom prst="rect">
            <a:avLst/>
          </a:prstGeom>
          <a:noFill/>
          <a:ln/>
        </p:spPr>
        <p:txBody>
          <a:bodyPr wrap="square" lIns="0" tIns="0" rIns="0" bIns="0" rtlCol="0" anchor="ctr"/>
          <a:lstStyle/>
          <a:p>
            <a:pPr indent="0" marL="0">
              <a:buNone/>
            </a:pPr>
            <a:r>
              <a:rPr lang="en-US" sz="2600" b="1" dirty="0">
                <a:solidFill>
                  <a:srgbClr val="D4A937"/>
                </a:solidFill>
                <a:latin typeface="Cambria" pitchFamily="34" charset="0"/>
                <a:ea typeface="Cambria" pitchFamily="34" charset="-122"/>
                <a:cs typeface="Cambria" pitchFamily="34" charset="-120"/>
              </a:rPr>
              <a:t>SQLite</a:t>
            </a:r>
            <a:endParaRPr lang="en-US" sz="2600" dirty="0"/>
          </a:p>
        </p:txBody>
      </p:sp>
      <p:sp>
        <p:nvSpPr>
          <p:cNvPr id="4" name="Text 2"/>
          <p:cNvSpPr/>
          <p:nvPr/>
        </p:nvSpPr>
        <p:spPr>
          <a:xfrm>
            <a:off x="3657600" y="1828800"/>
            <a:ext cx="7772400" cy="82296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Runs anywhere. No database server to install.</a:t>
            </a:r>
            <a:endParaRPr lang="en-US" sz="1700" dirty="0"/>
          </a:p>
        </p:txBody>
      </p:sp>
      <p:sp>
        <p:nvSpPr>
          <p:cNvPr id="5" name="Text 3"/>
          <p:cNvSpPr/>
          <p:nvPr/>
        </p:nvSpPr>
        <p:spPr>
          <a:xfrm>
            <a:off x="731520" y="2761488"/>
            <a:ext cx="2743200" cy="822960"/>
          </a:xfrm>
          <a:prstGeom prst="rect">
            <a:avLst/>
          </a:prstGeom>
          <a:noFill/>
          <a:ln/>
        </p:spPr>
        <p:txBody>
          <a:bodyPr wrap="square" lIns="0" tIns="0" rIns="0" bIns="0" rtlCol="0" anchor="ctr"/>
          <a:lstStyle/>
          <a:p>
            <a:pPr indent="0" marL="0">
              <a:buNone/>
            </a:pPr>
            <a:r>
              <a:rPr lang="en-US" sz="2600" b="1" dirty="0">
                <a:solidFill>
                  <a:srgbClr val="D4A937"/>
                </a:solidFill>
                <a:latin typeface="Cambria" pitchFamily="34" charset="0"/>
                <a:ea typeface="Cambria" pitchFamily="34" charset="-122"/>
                <a:cs typeface="Cambria" pitchFamily="34" charset="-120"/>
              </a:rPr>
              <a:t>Prisma</a:t>
            </a:r>
            <a:endParaRPr lang="en-US" sz="2600" dirty="0"/>
          </a:p>
        </p:txBody>
      </p:sp>
      <p:sp>
        <p:nvSpPr>
          <p:cNvPr id="6" name="Text 4"/>
          <p:cNvSpPr/>
          <p:nvPr/>
        </p:nvSpPr>
        <p:spPr>
          <a:xfrm>
            <a:off x="3657600" y="2761488"/>
            <a:ext cx="7772400" cy="82296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Safer than writing SQL by hand.</a:t>
            </a:r>
            <a:endParaRPr lang="en-US" sz="1700" dirty="0"/>
          </a:p>
        </p:txBody>
      </p:sp>
      <p:sp>
        <p:nvSpPr>
          <p:cNvPr id="7" name="Text 5"/>
          <p:cNvSpPr/>
          <p:nvPr/>
        </p:nvSpPr>
        <p:spPr>
          <a:xfrm>
            <a:off x="731520" y="3694176"/>
            <a:ext cx="2743200" cy="822960"/>
          </a:xfrm>
          <a:prstGeom prst="rect">
            <a:avLst/>
          </a:prstGeom>
          <a:noFill/>
          <a:ln/>
        </p:spPr>
        <p:txBody>
          <a:bodyPr wrap="square" lIns="0" tIns="0" rIns="0" bIns="0" rtlCol="0" anchor="ctr"/>
          <a:lstStyle/>
          <a:p>
            <a:pPr indent="0" marL="0">
              <a:buNone/>
            </a:pPr>
            <a:r>
              <a:rPr lang="en-US" sz="2600" b="1" dirty="0">
                <a:solidFill>
                  <a:srgbClr val="D4A937"/>
                </a:solidFill>
                <a:latin typeface="Cambria" pitchFamily="34" charset="0"/>
                <a:ea typeface="Cambria" pitchFamily="34" charset="-122"/>
                <a:cs typeface="Cambria" pitchFamily="34" charset="-120"/>
              </a:rPr>
              <a:t>React Context</a:t>
            </a:r>
            <a:endParaRPr lang="en-US" sz="2600" dirty="0"/>
          </a:p>
        </p:txBody>
      </p:sp>
      <p:sp>
        <p:nvSpPr>
          <p:cNvPr id="8" name="Text 6"/>
          <p:cNvSpPr/>
          <p:nvPr/>
        </p:nvSpPr>
        <p:spPr>
          <a:xfrm>
            <a:off x="3657600" y="3694176"/>
            <a:ext cx="7772400" cy="82296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Only two things are global. Redux would be overkill.</a:t>
            </a:r>
            <a:endParaRPr lang="en-US" sz="1700" dirty="0"/>
          </a:p>
        </p:txBody>
      </p:sp>
      <p:sp>
        <p:nvSpPr>
          <p:cNvPr id="9" name="Text 7"/>
          <p:cNvSpPr/>
          <p:nvPr/>
        </p:nvSpPr>
        <p:spPr>
          <a:xfrm>
            <a:off x="731520" y="4626864"/>
            <a:ext cx="2743200" cy="822960"/>
          </a:xfrm>
          <a:prstGeom prst="rect">
            <a:avLst/>
          </a:prstGeom>
          <a:noFill/>
          <a:ln/>
        </p:spPr>
        <p:txBody>
          <a:bodyPr wrap="square" lIns="0" tIns="0" rIns="0" bIns="0" rtlCol="0" anchor="ctr"/>
          <a:lstStyle/>
          <a:p>
            <a:pPr indent="0" marL="0">
              <a:buNone/>
            </a:pPr>
            <a:r>
              <a:rPr lang="en-US" sz="2600" b="1" dirty="0">
                <a:solidFill>
                  <a:srgbClr val="D4A937"/>
                </a:solidFill>
                <a:latin typeface="Cambria" pitchFamily="34" charset="0"/>
                <a:ea typeface="Cambria" pitchFamily="34" charset="-122"/>
                <a:cs typeface="Cambria" pitchFamily="34" charset="-120"/>
              </a:rPr>
              <a:t>Vite</a:t>
            </a:r>
            <a:endParaRPr lang="en-US" sz="2600" dirty="0"/>
          </a:p>
        </p:txBody>
      </p:sp>
      <p:sp>
        <p:nvSpPr>
          <p:cNvPr id="10" name="Text 8"/>
          <p:cNvSpPr/>
          <p:nvPr/>
        </p:nvSpPr>
        <p:spPr>
          <a:xfrm>
            <a:off x="3657600" y="4626864"/>
            <a:ext cx="7772400" cy="82296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Create React App is deprecated.</a:t>
            </a:r>
            <a:endParaRPr lang="en-US" sz="1700" dirty="0"/>
          </a:p>
        </p:txBody>
      </p:sp>
      <p:sp>
        <p:nvSpPr>
          <p:cNvPr id="11" name="Shape 9"/>
          <p:cNvSpPr/>
          <p:nvPr/>
        </p:nvSpPr>
        <p:spPr>
          <a:xfrm>
            <a:off x="731520" y="5623560"/>
            <a:ext cx="10698480" cy="960120"/>
          </a:xfrm>
          <a:prstGeom prst="roundRect">
            <a:avLst>
              <a:gd name="adj" fmla="val 9524"/>
            </a:avLst>
          </a:prstGeom>
          <a:solidFill>
            <a:srgbClr val="17392E"/>
          </a:solidFill>
          <a:ln w="12700">
            <a:solidFill>
              <a:srgbClr val="17392E"/>
            </a:solidFill>
            <a:prstDash val="solid"/>
          </a:ln>
        </p:spPr>
      </p:sp>
      <p:sp>
        <p:nvSpPr>
          <p:cNvPr id="12" name="Text 10"/>
          <p:cNvSpPr/>
          <p:nvPr/>
        </p:nvSpPr>
        <p:spPr>
          <a:xfrm>
            <a:off x="1051560" y="5806440"/>
            <a:ext cx="10058400" cy="64008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Django is Python, so it cannot run on Node. I used Prisma instead, and explained why in the report.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731520" y="914400"/>
            <a:ext cx="10698480" cy="1005840"/>
          </a:xfrm>
          <a:prstGeom prst="rect">
            <a:avLst/>
          </a:prstGeom>
          <a:noFill/>
          <a:ln/>
        </p:spPr>
        <p:txBody>
          <a:bodyPr wrap="square" lIns="0" tIns="0" rIns="0" bIns="0" rtlCol="0" anchor="ctr"/>
          <a:lstStyle/>
          <a:p>
            <a:pPr indent="0" marL="0">
              <a:buNone/>
            </a:pPr>
            <a:r>
              <a:rPr lang="en-US" sz="4800" b="1" dirty="0">
                <a:solidFill>
                  <a:srgbClr val="D4A937"/>
                </a:solidFill>
                <a:latin typeface="Cambria" pitchFamily="34" charset="0"/>
                <a:ea typeface="Cambria" pitchFamily="34" charset="-122"/>
                <a:cs typeface="Cambria" pitchFamily="34" charset="-120"/>
              </a:rPr>
              <a:t>Let me show you</a:t>
            </a:r>
            <a:endParaRPr lang="en-US" sz="4800" dirty="0"/>
          </a:p>
        </p:txBody>
      </p:sp>
      <p:sp>
        <p:nvSpPr>
          <p:cNvPr id="3" name="Shape 1"/>
          <p:cNvSpPr/>
          <p:nvPr/>
        </p:nvSpPr>
        <p:spPr>
          <a:xfrm>
            <a:off x="731520" y="2377440"/>
            <a:ext cx="548640" cy="548640"/>
          </a:xfrm>
          <a:prstGeom prst="ellipse">
            <a:avLst/>
          </a:prstGeom>
          <a:solidFill>
            <a:srgbClr val="D4A937"/>
          </a:solidFill>
          <a:ln/>
        </p:spPr>
      </p:sp>
      <p:sp>
        <p:nvSpPr>
          <p:cNvPr id="4" name="Text 2"/>
          <p:cNvSpPr/>
          <p:nvPr/>
        </p:nvSpPr>
        <p:spPr>
          <a:xfrm>
            <a:off x="731520" y="237744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1</a:t>
            </a:r>
            <a:endParaRPr lang="en-US" sz="1900" dirty="0"/>
          </a:p>
        </p:txBody>
      </p:sp>
      <p:sp>
        <p:nvSpPr>
          <p:cNvPr id="5" name="Text 3"/>
          <p:cNvSpPr/>
          <p:nvPr/>
        </p:nvSpPr>
        <p:spPr>
          <a:xfrm>
            <a:off x="1600200" y="2359152"/>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Search for a table</a:t>
            </a:r>
            <a:endParaRPr lang="en-US" sz="2600" dirty="0"/>
          </a:p>
        </p:txBody>
      </p:sp>
      <p:sp>
        <p:nvSpPr>
          <p:cNvPr id="6" name="Shape 4"/>
          <p:cNvSpPr/>
          <p:nvPr/>
        </p:nvSpPr>
        <p:spPr>
          <a:xfrm>
            <a:off x="731520" y="3090672"/>
            <a:ext cx="548640" cy="548640"/>
          </a:xfrm>
          <a:prstGeom prst="ellipse">
            <a:avLst/>
          </a:prstGeom>
          <a:solidFill>
            <a:srgbClr val="D4A937"/>
          </a:solidFill>
          <a:ln/>
        </p:spPr>
      </p:sp>
      <p:sp>
        <p:nvSpPr>
          <p:cNvPr id="7" name="Text 5"/>
          <p:cNvSpPr/>
          <p:nvPr/>
        </p:nvSpPr>
        <p:spPr>
          <a:xfrm>
            <a:off x="731520" y="3090672"/>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2</a:t>
            </a:r>
            <a:endParaRPr lang="en-US" sz="1900" dirty="0"/>
          </a:p>
        </p:txBody>
      </p:sp>
      <p:sp>
        <p:nvSpPr>
          <p:cNvPr id="8" name="Text 6"/>
          <p:cNvSpPr/>
          <p:nvPr/>
        </p:nvSpPr>
        <p:spPr>
          <a:xfrm>
            <a:off x="1600200" y="3072384"/>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See what is free</a:t>
            </a:r>
            <a:endParaRPr lang="en-US" sz="2600" dirty="0"/>
          </a:p>
        </p:txBody>
      </p:sp>
      <p:sp>
        <p:nvSpPr>
          <p:cNvPr id="9" name="Shape 7"/>
          <p:cNvSpPr/>
          <p:nvPr/>
        </p:nvSpPr>
        <p:spPr>
          <a:xfrm>
            <a:off x="731520" y="3803904"/>
            <a:ext cx="548640" cy="548640"/>
          </a:xfrm>
          <a:prstGeom prst="ellipse">
            <a:avLst/>
          </a:prstGeom>
          <a:solidFill>
            <a:srgbClr val="D4A937"/>
          </a:solidFill>
          <a:ln/>
        </p:spPr>
      </p:sp>
      <p:sp>
        <p:nvSpPr>
          <p:cNvPr id="10" name="Text 8"/>
          <p:cNvSpPr/>
          <p:nvPr/>
        </p:nvSpPr>
        <p:spPr>
          <a:xfrm>
            <a:off x="731520" y="3803904"/>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3</a:t>
            </a:r>
            <a:endParaRPr lang="en-US" sz="1900" dirty="0"/>
          </a:p>
        </p:txBody>
      </p:sp>
      <p:sp>
        <p:nvSpPr>
          <p:cNvPr id="11" name="Text 9"/>
          <p:cNvSpPr/>
          <p:nvPr/>
        </p:nvSpPr>
        <p:spPr>
          <a:xfrm>
            <a:off x="1600200" y="3785616"/>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Book it</a:t>
            </a:r>
            <a:endParaRPr lang="en-US" sz="2600" dirty="0"/>
          </a:p>
        </p:txBody>
      </p:sp>
      <p:sp>
        <p:nvSpPr>
          <p:cNvPr id="12" name="Shape 10"/>
          <p:cNvSpPr/>
          <p:nvPr/>
        </p:nvSpPr>
        <p:spPr>
          <a:xfrm>
            <a:off x="731520" y="4517136"/>
            <a:ext cx="548640" cy="548640"/>
          </a:xfrm>
          <a:prstGeom prst="ellipse">
            <a:avLst/>
          </a:prstGeom>
          <a:solidFill>
            <a:srgbClr val="D4A937"/>
          </a:solidFill>
          <a:ln/>
        </p:spPr>
      </p:sp>
      <p:sp>
        <p:nvSpPr>
          <p:cNvPr id="13" name="Text 11"/>
          <p:cNvSpPr/>
          <p:nvPr/>
        </p:nvSpPr>
        <p:spPr>
          <a:xfrm>
            <a:off x="731520" y="4517136"/>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4</a:t>
            </a:r>
            <a:endParaRPr lang="en-US" sz="1900" dirty="0"/>
          </a:p>
        </p:txBody>
      </p:sp>
      <p:sp>
        <p:nvSpPr>
          <p:cNvPr id="14" name="Text 12"/>
          <p:cNvSpPr/>
          <p:nvPr/>
        </p:nvSpPr>
        <p:spPr>
          <a:xfrm>
            <a:off x="1600200" y="4498848"/>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Try to book it twice</a:t>
            </a:r>
            <a:endParaRPr lang="en-US" sz="2600" dirty="0"/>
          </a:p>
        </p:txBody>
      </p:sp>
      <p:sp>
        <p:nvSpPr>
          <p:cNvPr id="15" name="Shape 13"/>
          <p:cNvSpPr/>
          <p:nvPr/>
        </p:nvSpPr>
        <p:spPr>
          <a:xfrm>
            <a:off x="731520" y="5230368"/>
            <a:ext cx="548640" cy="548640"/>
          </a:xfrm>
          <a:prstGeom prst="ellipse">
            <a:avLst/>
          </a:prstGeom>
          <a:solidFill>
            <a:srgbClr val="D4A937"/>
          </a:solidFill>
          <a:ln/>
        </p:spPr>
      </p:sp>
      <p:sp>
        <p:nvSpPr>
          <p:cNvPr id="16" name="Text 14"/>
          <p:cNvSpPr/>
          <p:nvPr/>
        </p:nvSpPr>
        <p:spPr>
          <a:xfrm>
            <a:off x="731520" y="5230368"/>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5</a:t>
            </a:r>
            <a:endParaRPr lang="en-US" sz="1900" dirty="0"/>
          </a:p>
        </p:txBody>
      </p:sp>
      <p:sp>
        <p:nvSpPr>
          <p:cNvPr id="17" name="Text 15"/>
          <p:cNvSpPr/>
          <p:nvPr/>
        </p:nvSpPr>
        <p:spPr>
          <a:xfrm>
            <a:off x="1600200" y="5212080"/>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Log in as another manager</a:t>
            </a:r>
            <a:endParaRPr lang="en-US" sz="2600" dirty="0"/>
          </a:p>
        </p:txBody>
      </p:sp>
      <p:sp>
        <p:nvSpPr>
          <p:cNvPr id="18" name="Shape 16"/>
          <p:cNvSpPr/>
          <p:nvPr/>
        </p:nvSpPr>
        <p:spPr>
          <a:xfrm>
            <a:off x="731520" y="5943600"/>
            <a:ext cx="548640" cy="548640"/>
          </a:xfrm>
          <a:prstGeom prst="ellipse">
            <a:avLst/>
          </a:prstGeom>
          <a:solidFill>
            <a:srgbClr val="D4A937"/>
          </a:solidFill>
          <a:ln/>
        </p:spPr>
      </p:sp>
      <p:sp>
        <p:nvSpPr>
          <p:cNvPr id="19" name="Text 17"/>
          <p:cNvSpPr/>
          <p:nvPr/>
        </p:nvSpPr>
        <p:spPr>
          <a:xfrm>
            <a:off x="731520" y="5943600"/>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6</a:t>
            </a:r>
            <a:endParaRPr lang="en-US" sz="1900" dirty="0"/>
          </a:p>
        </p:txBody>
      </p:sp>
      <p:sp>
        <p:nvSpPr>
          <p:cNvPr id="20" name="Text 18"/>
          <p:cNvSpPr/>
          <p:nvPr/>
        </p:nvSpPr>
        <p:spPr>
          <a:xfrm>
            <a:off x="1600200" y="5925312"/>
            <a:ext cx="9784080" cy="585216"/>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Run the tests</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Testing</a:t>
            </a:r>
            <a:endParaRPr lang="en-US" sz="4000" dirty="0"/>
          </a:p>
        </p:txBody>
      </p:sp>
      <p:sp>
        <p:nvSpPr>
          <p:cNvPr id="3" name="Text 1"/>
          <p:cNvSpPr/>
          <p:nvPr/>
        </p:nvSpPr>
        <p:spPr>
          <a:xfrm>
            <a:off x="731520" y="1737360"/>
            <a:ext cx="3108960" cy="1737360"/>
          </a:xfrm>
          <a:prstGeom prst="rect">
            <a:avLst/>
          </a:prstGeom>
          <a:noFill/>
          <a:ln/>
        </p:spPr>
        <p:txBody>
          <a:bodyPr wrap="square" lIns="0" tIns="0" rIns="0" bIns="0" rtlCol="0" anchor="ctr"/>
          <a:lstStyle/>
          <a:p>
            <a:pPr indent="0" marL="0">
              <a:buNone/>
            </a:pPr>
            <a:r>
              <a:rPr lang="en-US" sz="11000" b="1" dirty="0">
                <a:solidFill>
                  <a:srgbClr val="D4A937"/>
                </a:solidFill>
                <a:latin typeface="Cambria" pitchFamily="34" charset="0"/>
                <a:ea typeface="Cambria" pitchFamily="34" charset="-122"/>
                <a:cs typeface="Cambria" pitchFamily="34" charset="-120"/>
              </a:rPr>
              <a:t>65</a:t>
            </a:r>
            <a:endParaRPr lang="en-US" sz="11000" dirty="0"/>
          </a:p>
        </p:txBody>
      </p:sp>
      <p:sp>
        <p:nvSpPr>
          <p:cNvPr id="4" name="Text 2"/>
          <p:cNvSpPr/>
          <p:nvPr/>
        </p:nvSpPr>
        <p:spPr>
          <a:xfrm>
            <a:off x="822960" y="3429000"/>
            <a:ext cx="3108960" cy="914400"/>
          </a:xfrm>
          <a:prstGeom prst="rect">
            <a:avLst/>
          </a:prstGeom>
          <a:noFill/>
          <a:ln/>
        </p:spPr>
        <p:txBody>
          <a:bodyPr wrap="square" lIns="0" tIns="0" rIns="0" bIns="0" rtlCol="0" anchor="ctr"/>
          <a:lstStyle/>
          <a:p>
            <a:pPr indent="0" marL="0">
              <a:lnSpc>
                <a:spcPts val="2400"/>
              </a:lnSpc>
              <a:buNone/>
            </a:pPr>
            <a:r>
              <a:rPr lang="en-US" sz="1700" dirty="0">
                <a:solidFill>
                  <a:srgbClr val="97B0A2"/>
                </a:solidFill>
                <a:latin typeface="Calibri" pitchFamily="34" charset="0"/>
                <a:ea typeface="Calibri" pitchFamily="34" charset="-122"/>
                <a:cs typeface="Calibri" pitchFamily="34" charset="-120"/>
              </a:rPr>
              <a:t>tests, running in</a:t>
            </a:r>
            <a:endParaRPr lang="en-US" sz="1700" dirty="0"/>
          </a:p>
          <a:p>
            <a:pPr indent="0" marL="0">
              <a:lnSpc>
                <a:spcPts val="2400"/>
              </a:lnSpc>
              <a:buNone/>
            </a:pPr>
            <a:r>
              <a:rPr lang="en-US" sz="1700" dirty="0">
                <a:solidFill>
                  <a:srgbClr val="97B0A2"/>
                </a:solidFill>
                <a:latin typeface="Calibri" pitchFamily="34" charset="0"/>
                <a:ea typeface="Calibri" pitchFamily="34" charset="-122"/>
                <a:cs typeface="Calibri" pitchFamily="34" charset="-120"/>
              </a:rPr>
              <a:t>about one second</a:t>
            </a:r>
            <a:endParaRPr lang="en-US" sz="1700" dirty="0"/>
          </a:p>
        </p:txBody>
      </p:sp>
      <p:sp>
        <p:nvSpPr>
          <p:cNvPr id="5" name="Shape 3"/>
          <p:cNvSpPr/>
          <p:nvPr/>
        </p:nvSpPr>
        <p:spPr>
          <a:xfrm>
            <a:off x="4480560" y="1783080"/>
            <a:ext cx="6949440" cy="621792"/>
          </a:xfrm>
          <a:prstGeom prst="roundRect">
            <a:avLst>
              <a:gd name="adj" fmla="val 14706"/>
            </a:avLst>
          </a:prstGeom>
          <a:solidFill>
            <a:srgbClr val="102B23"/>
          </a:solidFill>
          <a:ln w="12700">
            <a:solidFill>
              <a:srgbClr val="17392E"/>
            </a:solidFill>
            <a:prstDash val="solid"/>
          </a:ln>
        </p:spPr>
      </p:sp>
      <p:sp>
        <p:nvSpPr>
          <p:cNvPr id="6" name="Text 4"/>
          <p:cNvSpPr/>
          <p:nvPr/>
        </p:nvSpPr>
        <p:spPr>
          <a:xfrm>
            <a:off x="4800600" y="1819656"/>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Bookings that touch end to end</a:t>
            </a:r>
            <a:endParaRPr lang="en-US" sz="1700" dirty="0"/>
          </a:p>
        </p:txBody>
      </p:sp>
      <p:sp>
        <p:nvSpPr>
          <p:cNvPr id="7" name="Shape 5"/>
          <p:cNvSpPr/>
          <p:nvPr/>
        </p:nvSpPr>
        <p:spPr>
          <a:xfrm>
            <a:off x="4480560" y="2532888"/>
            <a:ext cx="6949440" cy="621792"/>
          </a:xfrm>
          <a:prstGeom prst="roundRect">
            <a:avLst>
              <a:gd name="adj" fmla="val 14706"/>
            </a:avLst>
          </a:prstGeom>
          <a:solidFill>
            <a:srgbClr val="102B23"/>
          </a:solidFill>
          <a:ln w="12700">
            <a:solidFill>
              <a:srgbClr val="17392E"/>
            </a:solidFill>
            <a:prstDash val="solid"/>
          </a:ln>
        </p:spPr>
      </p:sp>
      <p:sp>
        <p:nvSpPr>
          <p:cNvPr id="8" name="Text 6"/>
          <p:cNvSpPr/>
          <p:nvPr/>
        </p:nvSpPr>
        <p:spPr>
          <a:xfrm>
            <a:off x="4800600" y="2569464"/>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Cancelling frees the table again</a:t>
            </a:r>
            <a:endParaRPr lang="en-US" sz="1700" dirty="0"/>
          </a:p>
        </p:txBody>
      </p:sp>
      <p:sp>
        <p:nvSpPr>
          <p:cNvPr id="9" name="Shape 7"/>
          <p:cNvSpPr/>
          <p:nvPr/>
        </p:nvSpPr>
        <p:spPr>
          <a:xfrm>
            <a:off x="4480560" y="3282696"/>
            <a:ext cx="6949440" cy="621792"/>
          </a:xfrm>
          <a:prstGeom prst="roundRect">
            <a:avLst>
              <a:gd name="adj" fmla="val 14706"/>
            </a:avLst>
          </a:prstGeom>
          <a:solidFill>
            <a:srgbClr val="102B23"/>
          </a:solidFill>
          <a:ln w="12700">
            <a:solidFill>
              <a:srgbClr val="17392E"/>
            </a:solidFill>
            <a:prstDash val="solid"/>
          </a:ln>
        </p:spPr>
      </p:sp>
      <p:sp>
        <p:nvSpPr>
          <p:cNvPr id="10" name="Text 8"/>
          <p:cNvSpPr/>
          <p:nvPr/>
        </p:nvSpPr>
        <p:spPr>
          <a:xfrm>
            <a:off x="4800600" y="3319272"/>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Restaurants open past midnight</a:t>
            </a:r>
            <a:endParaRPr lang="en-US" sz="1700" dirty="0"/>
          </a:p>
        </p:txBody>
      </p:sp>
      <p:sp>
        <p:nvSpPr>
          <p:cNvPr id="11" name="Shape 9"/>
          <p:cNvSpPr/>
          <p:nvPr/>
        </p:nvSpPr>
        <p:spPr>
          <a:xfrm>
            <a:off x="4480560" y="4032504"/>
            <a:ext cx="6949440" cy="621792"/>
          </a:xfrm>
          <a:prstGeom prst="roundRect">
            <a:avLst>
              <a:gd name="adj" fmla="val 14706"/>
            </a:avLst>
          </a:prstGeom>
          <a:solidFill>
            <a:srgbClr val="102B23"/>
          </a:solidFill>
          <a:ln w="12700">
            <a:solidFill>
              <a:srgbClr val="17392E"/>
            </a:solidFill>
            <a:prstDash val="solid"/>
          </a:ln>
        </p:spPr>
      </p:sp>
      <p:sp>
        <p:nvSpPr>
          <p:cNvPr id="12" name="Text 10"/>
          <p:cNvSpPr/>
          <p:nvPr/>
        </p:nvSpPr>
        <p:spPr>
          <a:xfrm>
            <a:off x="4800600" y="4069080"/>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Two people booking at once</a:t>
            </a:r>
            <a:endParaRPr lang="en-US" sz="1700" dirty="0"/>
          </a:p>
        </p:txBody>
      </p:sp>
      <p:sp>
        <p:nvSpPr>
          <p:cNvPr id="13" name="Shape 11"/>
          <p:cNvSpPr/>
          <p:nvPr/>
        </p:nvSpPr>
        <p:spPr>
          <a:xfrm>
            <a:off x="4480560" y="4782312"/>
            <a:ext cx="6949440" cy="621792"/>
          </a:xfrm>
          <a:prstGeom prst="roundRect">
            <a:avLst>
              <a:gd name="adj" fmla="val 14706"/>
            </a:avLst>
          </a:prstGeom>
          <a:solidFill>
            <a:srgbClr val="102B23"/>
          </a:solidFill>
          <a:ln w="12700">
            <a:solidFill>
              <a:srgbClr val="17392E"/>
            </a:solidFill>
            <a:prstDash val="solid"/>
          </a:ln>
        </p:spPr>
      </p:sp>
      <p:sp>
        <p:nvSpPr>
          <p:cNvPr id="14" name="Text 12"/>
          <p:cNvSpPr/>
          <p:nvPr/>
        </p:nvSpPr>
        <p:spPr>
          <a:xfrm>
            <a:off x="4800600" y="4818888"/>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Managers seeing other restaurants</a:t>
            </a:r>
            <a:endParaRPr lang="en-US" sz="1700" dirty="0"/>
          </a:p>
        </p:txBody>
      </p:sp>
      <p:sp>
        <p:nvSpPr>
          <p:cNvPr id="15" name="Shape 13"/>
          <p:cNvSpPr/>
          <p:nvPr/>
        </p:nvSpPr>
        <p:spPr>
          <a:xfrm>
            <a:off x="4480560" y="5532120"/>
            <a:ext cx="6949440" cy="621792"/>
          </a:xfrm>
          <a:prstGeom prst="roundRect">
            <a:avLst>
              <a:gd name="adj" fmla="val 14706"/>
            </a:avLst>
          </a:prstGeom>
          <a:solidFill>
            <a:srgbClr val="102B23"/>
          </a:solidFill>
          <a:ln w="12700">
            <a:solidFill>
              <a:srgbClr val="17392E"/>
            </a:solidFill>
            <a:prstDash val="solid"/>
          </a:ln>
        </p:spPr>
      </p:sp>
      <p:sp>
        <p:nvSpPr>
          <p:cNvPr id="16" name="Text 14"/>
          <p:cNvSpPr/>
          <p:nvPr/>
        </p:nvSpPr>
        <p:spPr>
          <a:xfrm>
            <a:off x="4800600" y="5568696"/>
            <a:ext cx="6400800" cy="548640"/>
          </a:xfrm>
          <a:prstGeom prst="rect">
            <a:avLst/>
          </a:prstGeom>
          <a:noFill/>
          <a:ln/>
        </p:spPr>
        <p:txBody>
          <a:bodyPr wrap="square" lIns="0" tIns="0" rIns="0" bIns="0" rtlCol="0" anchor="ctr"/>
          <a:lstStyle/>
          <a:p>
            <a:pPr indent="0" marL="0">
              <a:buNone/>
            </a:pPr>
            <a:r>
              <a:rPr lang="en-US" sz="1700" dirty="0">
                <a:solidFill>
                  <a:srgbClr val="F5F0E6"/>
                </a:solidFill>
                <a:latin typeface="Calibri" pitchFamily="34" charset="0"/>
                <a:ea typeface="Calibri" pitchFamily="34" charset="-122"/>
                <a:cs typeface="Calibri" pitchFamily="34" charset="-120"/>
              </a:rPr>
              <a:t>Login not leaking which emails exist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731520" y="502920"/>
            <a:ext cx="10698480" cy="868680"/>
          </a:xfrm>
          <a:prstGeom prst="rect">
            <a:avLst/>
          </a:prstGeom>
          <a:noFill/>
          <a:ln/>
        </p:spPr>
        <p:txBody>
          <a:bodyPr wrap="square" lIns="0" tIns="0" rIns="0" bIns="0" rtlCol="0" anchor="ctr"/>
          <a:lstStyle/>
          <a:p>
            <a:pPr indent="0" marL="0">
              <a:buNone/>
            </a:pPr>
            <a:r>
              <a:rPr lang="en-US" sz="4000" b="1" dirty="0">
                <a:solidFill>
                  <a:srgbClr val="F5F0E6"/>
                </a:solidFill>
                <a:latin typeface="Cambria" pitchFamily="34" charset="0"/>
                <a:ea typeface="Cambria" pitchFamily="34" charset="-122"/>
                <a:cs typeface="Cambria" pitchFamily="34" charset="-120"/>
              </a:rPr>
              <a:t>What I did not finish</a:t>
            </a:r>
            <a:endParaRPr lang="en-US" sz="4000" dirty="0"/>
          </a:p>
        </p:txBody>
      </p:sp>
      <p:sp>
        <p:nvSpPr>
          <p:cNvPr id="3" name="Shape 1"/>
          <p:cNvSpPr/>
          <p:nvPr/>
        </p:nvSpPr>
        <p:spPr>
          <a:xfrm>
            <a:off x="731520" y="1920240"/>
            <a:ext cx="10698480" cy="868680"/>
          </a:xfrm>
          <a:prstGeom prst="roundRect">
            <a:avLst>
              <a:gd name="adj" fmla="val 10526"/>
            </a:avLst>
          </a:prstGeom>
          <a:solidFill>
            <a:srgbClr val="102B23"/>
          </a:solidFill>
          <a:ln w="12700">
            <a:solidFill>
              <a:srgbClr val="17392E"/>
            </a:solidFill>
            <a:prstDash val="solid"/>
          </a:ln>
        </p:spPr>
      </p:sp>
      <p:sp>
        <p:nvSpPr>
          <p:cNvPr id="4" name="Text 2"/>
          <p:cNvSpPr/>
          <p:nvPr/>
        </p:nvSpPr>
        <p:spPr>
          <a:xfrm>
            <a:off x="1097280" y="2039112"/>
            <a:ext cx="4754880" cy="640080"/>
          </a:xfrm>
          <a:prstGeom prst="rect">
            <a:avLst/>
          </a:prstGeom>
          <a:noFill/>
          <a:ln/>
        </p:spPr>
        <p:txBody>
          <a:bodyPr wrap="square" lIns="0" tIns="0" rIns="0" bIns="0" rtlCol="0" anchor="ctr"/>
          <a:lstStyle/>
          <a:p>
            <a:pPr indent="0" marL="0">
              <a:buNone/>
            </a:pPr>
            <a:r>
              <a:rPr lang="en-US" sz="2000" b="1" dirty="0">
                <a:solidFill>
                  <a:srgbClr val="C2683A"/>
                </a:solidFill>
                <a:latin typeface="Calibri" pitchFamily="34" charset="0"/>
                <a:ea typeface="Calibri" pitchFamily="34" charset="-122"/>
                <a:cs typeface="Calibri" pitchFamily="34" charset="-120"/>
              </a:rPr>
              <a:t>Not deployed</a:t>
            </a:r>
            <a:endParaRPr lang="en-US" sz="2000" dirty="0"/>
          </a:p>
        </p:txBody>
      </p:sp>
      <p:sp>
        <p:nvSpPr>
          <p:cNvPr id="5" name="Text 3"/>
          <p:cNvSpPr/>
          <p:nvPr/>
        </p:nvSpPr>
        <p:spPr>
          <a:xfrm>
            <a:off x="6035040" y="2039112"/>
            <a:ext cx="5029200" cy="640080"/>
          </a:xfrm>
          <a:prstGeom prst="rect">
            <a:avLst/>
          </a:prstGeom>
          <a:noFill/>
          <a:ln/>
        </p:spPr>
        <p:txBody>
          <a:bodyPr wrap="square" lIns="0" tIns="0" rIns="0" bIns="0" rtlCol="0" anchor="ctr"/>
          <a:lstStyle/>
          <a:p>
            <a:pPr indent="0" marL="0">
              <a:buNone/>
            </a:pPr>
            <a:r>
              <a:rPr lang="en-US" sz="1600" dirty="0">
                <a:solidFill>
                  <a:srgbClr val="97B0A2"/>
                </a:solidFill>
                <a:latin typeface="Calibri" pitchFamily="34" charset="0"/>
                <a:ea typeface="Calibri" pitchFamily="34" charset="-122"/>
                <a:cs typeface="Calibri" pitchFamily="34" charset="-120"/>
              </a:rPr>
              <a:t>It runs on my machine, not online</a:t>
            </a:r>
            <a:endParaRPr lang="en-US" sz="1600" dirty="0"/>
          </a:p>
        </p:txBody>
      </p:sp>
      <p:sp>
        <p:nvSpPr>
          <p:cNvPr id="6" name="Shape 4"/>
          <p:cNvSpPr/>
          <p:nvPr/>
        </p:nvSpPr>
        <p:spPr>
          <a:xfrm>
            <a:off x="731520" y="2971800"/>
            <a:ext cx="10698480" cy="868680"/>
          </a:xfrm>
          <a:prstGeom prst="roundRect">
            <a:avLst>
              <a:gd name="adj" fmla="val 10526"/>
            </a:avLst>
          </a:prstGeom>
          <a:solidFill>
            <a:srgbClr val="102B23"/>
          </a:solidFill>
          <a:ln w="12700">
            <a:solidFill>
              <a:srgbClr val="17392E"/>
            </a:solidFill>
            <a:prstDash val="solid"/>
          </a:ln>
        </p:spPr>
      </p:sp>
      <p:sp>
        <p:nvSpPr>
          <p:cNvPr id="7" name="Text 5"/>
          <p:cNvSpPr/>
          <p:nvPr/>
        </p:nvSpPr>
        <p:spPr>
          <a:xfrm>
            <a:off x="1097280" y="3090672"/>
            <a:ext cx="4754880" cy="640080"/>
          </a:xfrm>
          <a:prstGeom prst="rect">
            <a:avLst/>
          </a:prstGeom>
          <a:noFill/>
          <a:ln/>
        </p:spPr>
        <p:txBody>
          <a:bodyPr wrap="square" lIns="0" tIns="0" rIns="0" bIns="0" rtlCol="0" anchor="ctr"/>
          <a:lstStyle/>
          <a:p>
            <a:pPr indent="0" marL="0">
              <a:buNone/>
            </a:pPr>
            <a:r>
              <a:rPr lang="en-US" sz="2000" b="1" dirty="0">
                <a:solidFill>
                  <a:srgbClr val="C2683A"/>
                </a:solidFill>
                <a:latin typeface="Calibri" pitchFamily="34" charset="0"/>
                <a:ea typeface="Calibri" pitchFamily="34" charset="-122"/>
                <a:cs typeface="Calibri" pitchFamily="34" charset="-120"/>
              </a:rPr>
              <a:t>No tests on the React side</a:t>
            </a:r>
            <a:endParaRPr lang="en-US" sz="2000" dirty="0"/>
          </a:p>
        </p:txBody>
      </p:sp>
      <p:sp>
        <p:nvSpPr>
          <p:cNvPr id="8" name="Text 6"/>
          <p:cNvSpPr/>
          <p:nvPr/>
        </p:nvSpPr>
        <p:spPr>
          <a:xfrm>
            <a:off x="6035040" y="3090672"/>
            <a:ext cx="5029200" cy="640080"/>
          </a:xfrm>
          <a:prstGeom prst="rect">
            <a:avLst/>
          </a:prstGeom>
          <a:noFill/>
          <a:ln/>
        </p:spPr>
        <p:txBody>
          <a:bodyPr wrap="square" lIns="0" tIns="0" rIns="0" bIns="0" rtlCol="0" anchor="ctr"/>
          <a:lstStyle/>
          <a:p>
            <a:pPr indent="0" marL="0">
              <a:buNone/>
            </a:pPr>
            <a:r>
              <a:rPr lang="en-US" sz="1600" dirty="0">
                <a:solidFill>
                  <a:srgbClr val="97B0A2"/>
                </a:solidFill>
                <a:latin typeface="Calibri" pitchFamily="34" charset="0"/>
                <a:ea typeface="Calibri" pitchFamily="34" charset="-122"/>
                <a:cs typeface="Calibri" pitchFamily="34" charset="-120"/>
              </a:rPr>
              <a:t>I checked it by hand</a:t>
            </a:r>
            <a:endParaRPr lang="en-US" sz="1600" dirty="0"/>
          </a:p>
        </p:txBody>
      </p:sp>
      <p:sp>
        <p:nvSpPr>
          <p:cNvPr id="9" name="Shape 7"/>
          <p:cNvSpPr/>
          <p:nvPr/>
        </p:nvSpPr>
        <p:spPr>
          <a:xfrm>
            <a:off x="731520" y="4023360"/>
            <a:ext cx="10698480" cy="868680"/>
          </a:xfrm>
          <a:prstGeom prst="roundRect">
            <a:avLst>
              <a:gd name="adj" fmla="val 10526"/>
            </a:avLst>
          </a:prstGeom>
          <a:solidFill>
            <a:srgbClr val="102B23"/>
          </a:solidFill>
          <a:ln w="12700">
            <a:solidFill>
              <a:srgbClr val="17392E"/>
            </a:solidFill>
            <a:prstDash val="solid"/>
          </a:ln>
        </p:spPr>
      </p:sp>
      <p:sp>
        <p:nvSpPr>
          <p:cNvPr id="10" name="Text 8"/>
          <p:cNvSpPr/>
          <p:nvPr/>
        </p:nvSpPr>
        <p:spPr>
          <a:xfrm>
            <a:off x="1097280" y="4142232"/>
            <a:ext cx="4754880" cy="640080"/>
          </a:xfrm>
          <a:prstGeom prst="rect">
            <a:avLst/>
          </a:prstGeom>
          <a:noFill/>
          <a:ln/>
        </p:spPr>
        <p:txBody>
          <a:bodyPr wrap="square" lIns="0" tIns="0" rIns="0" bIns="0" rtlCol="0" anchor="ctr"/>
          <a:lstStyle/>
          <a:p>
            <a:pPr indent="0" marL="0">
              <a:buNone/>
            </a:pPr>
            <a:r>
              <a:rPr lang="en-US" sz="2000" b="1" dirty="0">
                <a:solidFill>
                  <a:srgbClr val="C2683A"/>
                </a:solidFill>
                <a:latin typeface="Calibri" pitchFamily="34" charset="0"/>
                <a:ea typeface="Calibri" pitchFamily="34" charset="-122"/>
                <a:cs typeface="Calibri" pitchFamily="34" charset="-120"/>
              </a:rPr>
              <a:t>No Docker</a:t>
            </a:r>
            <a:endParaRPr lang="en-US" sz="2000" dirty="0"/>
          </a:p>
        </p:txBody>
      </p:sp>
      <p:sp>
        <p:nvSpPr>
          <p:cNvPr id="11" name="Text 9"/>
          <p:cNvSpPr/>
          <p:nvPr/>
        </p:nvSpPr>
        <p:spPr>
          <a:xfrm>
            <a:off x="6035040" y="4142232"/>
            <a:ext cx="5029200" cy="640080"/>
          </a:xfrm>
          <a:prstGeom prst="rect">
            <a:avLst/>
          </a:prstGeom>
          <a:noFill/>
          <a:ln/>
        </p:spPr>
        <p:txBody>
          <a:bodyPr wrap="square" lIns="0" tIns="0" rIns="0" bIns="0" rtlCol="0" anchor="ctr"/>
          <a:lstStyle/>
          <a:p>
            <a:pPr indent="0" marL="0">
              <a:buNone/>
            </a:pPr>
            <a:r>
              <a:rPr lang="en-US" sz="1600" dirty="0">
                <a:solidFill>
                  <a:srgbClr val="97B0A2"/>
                </a:solidFill>
                <a:latin typeface="Calibri" pitchFamily="34" charset="0"/>
                <a:ea typeface="Calibri" pitchFamily="34" charset="-122"/>
                <a:cs typeface="Calibri" pitchFamily="34" charset="-120"/>
              </a:rPr>
              <a:t>Would make it run anywhere identically</a:t>
            </a:r>
            <a:endParaRPr lang="en-US" sz="1600" dirty="0"/>
          </a:p>
        </p:txBody>
      </p:sp>
      <p:sp>
        <p:nvSpPr>
          <p:cNvPr id="12" name="Shape 10"/>
          <p:cNvSpPr/>
          <p:nvPr/>
        </p:nvSpPr>
        <p:spPr>
          <a:xfrm>
            <a:off x="731520" y="5074920"/>
            <a:ext cx="10698480" cy="868680"/>
          </a:xfrm>
          <a:prstGeom prst="roundRect">
            <a:avLst>
              <a:gd name="adj" fmla="val 10526"/>
            </a:avLst>
          </a:prstGeom>
          <a:solidFill>
            <a:srgbClr val="102B23"/>
          </a:solidFill>
          <a:ln w="12700">
            <a:solidFill>
              <a:srgbClr val="17392E"/>
            </a:solidFill>
            <a:prstDash val="solid"/>
          </a:ln>
        </p:spPr>
      </p:sp>
      <p:sp>
        <p:nvSpPr>
          <p:cNvPr id="13" name="Text 11"/>
          <p:cNvSpPr/>
          <p:nvPr/>
        </p:nvSpPr>
        <p:spPr>
          <a:xfrm>
            <a:off x="1097280" y="5193792"/>
            <a:ext cx="4754880" cy="640080"/>
          </a:xfrm>
          <a:prstGeom prst="rect">
            <a:avLst/>
          </a:prstGeom>
          <a:noFill/>
          <a:ln/>
        </p:spPr>
        <p:txBody>
          <a:bodyPr wrap="square" lIns="0" tIns="0" rIns="0" bIns="0" rtlCol="0" anchor="ctr"/>
          <a:lstStyle/>
          <a:p>
            <a:pPr indent="0" marL="0">
              <a:buNone/>
            </a:pPr>
            <a:r>
              <a:rPr lang="en-US" sz="2000" b="1" dirty="0">
                <a:solidFill>
                  <a:srgbClr val="C2683A"/>
                </a:solidFill>
                <a:latin typeface="Calibri" pitchFamily="34" charset="0"/>
                <a:ea typeface="Calibri" pitchFamily="34" charset="-122"/>
                <a:cs typeface="Calibri" pitchFamily="34" charset="-120"/>
              </a:rPr>
              <a:t>SQLite, not a database server</a:t>
            </a:r>
            <a:endParaRPr lang="en-US" sz="2000" dirty="0"/>
          </a:p>
        </p:txBody>
      </p:sp>
      <p:sp>
        <p:nvSpPr>
          <p:cNvPr id="14" name="Text 12"/>
          <p:cNvSpPr/>
          <p:nvPr/>
        </p:nvSpPr>
        <p:spPr>
          <a:xfrm>
            <a:off x="6035040" y="5193792"/>
            <a:ext cx="5029200" cy="640080"/>
          </a:xfrm>
          <a:prstGeom prst="rect">
            <a:avLst/>
          </a:prstGeom>
          <a:noFill/>
          <a:ln/>
        </p:spPr>
        <p:txBody>
          <a:bodyPr wrap="square" lIns="0" tIns="0" rIns="0" bIns="0" rtlCol="0" anchor="ctr"/>
          <a:lstStyle/>
          <a:p>
            <a:pPr indent="0" marL="0">
              <a:buNone/>
            </a:pPr>
            <a:r>
              <a:rPr lang="en-US" sz="1600" dirty="0">
                <a:solidFill>
                  <a:srgbClr val="97B0A2"/>
                </a:solidFill>
                <a:latin typeface="Calibri" pitchFamily="34" charset="0"/>
                <a:ea typeface="Calibri" pitchFamily="34" charset="-122"/>
                <a:cs typeface="Calibri" pitchFamily="34" charset="-120"/>
              </a:rPr>
              <a:t>Fine for one server, not for many</a:t>
            </a:r>
            <a:endParaRPr lang="en-US" sz="1600" dirty="0"/>
          </a:p>
        </p:txBody>
      </p:sp>
      <p:sp>
        <p:nvSpPr>
          <p:cNvPr id="15" name="Text 13"/>
          <p:cNvSpPr/>
          <p:nvPr/>
        </p:nvSpPr>
        <p:spPr>
          <a:xfrm>
            <a:off x="731520" y="6172200"/>
            <a:ext cx="10698480" cy="457200"/>
          </a:xfrm>
          <a:prstGeom prst="rect">
            <a:avLst/>
          </a:prstGeom>
          <a:noFill/>
          <a:ln/>
        </p:spPr>
        <p:txBody>
          <a:bodyPr wrap="square" lIns="0" tIns="0" rIns="0" bIns="0" rtlCol="0" anchor="ctr"/>
          <a:lstStyle/>
          <a:p>
            <a:pPr indent="0" marL="0">
              <a:buNone/>
            </a:pPr>
            <a:r>
              <a:rPr lang="en-US" sz="1700" i="1" dirty="0">
                <a:solidFill>
                  <a:srgbClr val="F5F0E6"/>
                </a:solidFill>
                <a:latin typeface="Calibri" pitchFamily="34" charset="0"/>
                <a:ea typeface="Calibri" pitchFamily="34" charset="-122"/>
                <a:cs typeface="Calibri" pitchFamily="34" charset="-120"/>
              </a:rPr>
              <a:t>I would rather tell you than have you find them.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200" b="1" dirty="0">
                <a:solidFill>
                  <a:srgbClr val="F5F0E6"/>
                </a:solidFill>
                <a:latin typeface="Cambria" pitchFamily="34" charset="0"/>
                <a:ea typeface="Cambria" pitchFamily="34" charset="-122"/>
                <a:cs typeface="Cambria" pitchFamily="34" charset="-120"/>
              </a:rPr>
              <a:t>What I learned</a:t>
            </a:r>
            <a:endParaRPr lang="en-US" sz="4200" dirty="0"/>
          </a:p>
        </p:txBody>
      </p:sp>
      <p:sp>
        <p:nvSpPr>
          <p:cNvPr id="3" name="Shape 1"/>
          <p:cNvSpPr/>
          <p:nvPr/>
        </p:nvSpPr>
        <p:spPr>
          <a:xfrm>
            <a:off x="731520" y="2084832"/>
            <a:ext cx="548640" cy="548640"/>
          </a:xfrm>
          <a:prstGeom prst="ellipse">
            <a:avLst/>
          </a:prstGeom>
          <a:solidFill>
            <a:srgbClr val="D4A937"/>
          </a:solidFill>
          <a:ln/>
        </p:spPr>
      </p:sp>
      <p:sp>
        <p:nvSpPr>
          <p:cNvPr id="4" name="Text 2"/>
          <p:cNvSpPr/>
          <p:nvPr/>
        </p:nvSpPr>
        <p:spPr>
          <a:xfrm>
            <a:off x="731520" y="2084832"/>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1</a:t>
            </a:r>
            <a:endParaRPr lang="en-US" sz="1900" dirty="0"/>
          </a:p>
        </p:txBody>
      </p:sp>
      <p:sp>
        <p:nvSpPr>
          <p:cNvPr id="5" name="Text 3"/>
          <p:cNvSpPr/>
          <p:nvPr/>
        </p:nvSpPr>
        <p:spPr>
          <a:xfrm>
            <a:off x="1600200" y="2011680"/>
            <a:ext cx="9784080" cy="685800"/>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A role is not a permission</a:t>
            </a:r>
            <a:endParaRPr lang="en-US" sz="2600" dirty="0"/>
          </a:p>
        </p:txBody>
      </p:sp>
      <p:sp>
        <p:nvSpPr>
          <p:cNvPr id="6" name="Shape 4"/>
          <p:cNvSpPr/>
          <p:nvPr/>
        </p:nvSpPr>
        <p:spPr>
          <a:xfrm>
            <a:off x="731520" y="3044952"/>
            <a:ext cx="548640" cy="548640"/>
          </a:xfrm>
          <a:prstGeom prst="ellipse">
            <a:avLst/>
          </a:prstGeom>
          <a:solidFill>
            <a:srgbClr val="D4A937"/>
          </a:solidFill>
          <a:ln/>
        </p:spPr>
      </p:sp>
      <p:sp>
        <p:nvSpPr>
          <p:cNvPr id="7" name="Text 5"/>
          <p:cNvSpPr/>
          <p:nvPr/>
        </p:nvSpPr>
        <p:spPr>
          <a:xfrm>
            <a:off x="731520" y="3044952"/>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2</a:t>
            </a:r>
            <a:endParaRPr lang="en-US" sz="1900" dirty="0"/>
          </a:p>
        </p:txBody>
      </p:sp>
      <p:sp>
        <p:nvSpPr>
          <p:cNvPr id="8" name="Text 6"/>
          <p:cNvSpPr/>
          <p:nvPr/>
        </p:nvSpPr>
        <p:spPr>
          <a:xfrm>
            <a:off x="1600200" y="2971800"/>
            <a:ext cx="9784080" cy="685800"/>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Some bugs only exist between two requests</a:t>
            </a:r>
            <a:endParaRPr lang="en-US" sz="2600" dirty="0"/>
          </a:p>
        </p:txBody>
      </p:sp>
      <p:sp>
        <p:nvSpPr>
          <p:cNvPr id="9" name="Shape 7"/>
          <p:cNvSpPr/>
          <p:nvPr/>
        </p:nvSpPr>
        <p:spPr>
          <a:xfrm>
            <a:off x="731520" y="4005072"/>
            <a:ext cx="548640" cy="548640"/>
          </a:xfrm>
          <a:prstGeom prst="ellipse">
            <a:avLst/>
          </a:prstGeom>
          <a:solidFill>
            <a:srgbClr val="D4A937"/>
          </a:solidFill>
          <a:ln/>
        </p:spPr>
      </p:sp>
      <p:sp>
        <p:nvSpPr>
          <p:cNvPr id="10" name="Text 8"/>
          <p:cNvSpPr/>
          <p:nvPr/>
        </p:nvSpPr>
        <p:spPr>
          <a:xfrm>
            <a:off x="731520" y="4005072"/>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3</a:t>
            </a:r>
            <a:endParaRPr lang="en-US" sz="1900" dirty="0"/>
          </a:p>
        </p:txBody>
      </p:sp>
      <p:sp>
        <p:nvSpPr>
          <p:cNvPr id="11" name="Text 9"/>
          <p:cNvSpPr/>
          <p:nvPr/>
        </p:nvSpPr>
        <p:spPr>
          <a:xfrm>
            <a:off x="1600200" y="3931920"/>
            <a:ext cx="9784080" cy="685800"/>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Keep the hard logic on its own</a:t>
            </a:r>
            <a:endParaRPr lang="en-US" sz="2600" dirty="0"/>
          </a:p>
        </p:txBody>
      </p:sp>
      <p:sp>
        <p:nvSpPr>
          <p:cNvPr id="12" name="Shape 10"/>
          <p:cNvSpPr/>
          <p:nvPr/>
        </p:nvSpPr>
        <p:spPr>
          <a:xfrm>
            <a:off x="731520" y="4965192"/>
            <a:ext cx="548640" cy="548640"/>
          </a:xfrm>
          <a:prstGeom prst="ellipse">
            <a:avLst/>
          </a:prstGeom>
          <a:solidFill>
            <a:srgbClr val="D4A937"/>
          </a:solidFill>
          <a:ln/>
        </p:spPr>
      </p:sp>
      <p:sp>
        <p:nvSpPr>
          <p:cNvPr id="13" name="Text 11"/>
          <p:cNvSpPr/>
          <p:nvPr/>
        </p:nvSpPr>
        <p:spPr>
          <a:xfrm>
            <a:off x="731520" y="4965192"/>
            <a:ext cx="548640" cy="548640"/>
          </a:xfrm>
          <a:prstGeom prst="rect">
            <a:avLst/>
          </a:prstGeom>
          <a:noFill/>
          <a:ln/>
        </p:spPr>
        <p:txBody>
          <a:bodyPr wrap="square" lIns="0" tIns="0" rIns="0" bIns="0" rtlCol="0" anchor="ctr"/>
          <a:lstStyle/>
          <a:p>
            <a:pPr algn="ctr" indent="0" marL="0">
              <a:buNone/>
            </a:pPr>
            <a:r>
              <a:rPr lang="en-US" sz="1900" b="1" dirty="0">
                <a:solidFill>
                  <a:srgbClr val="071310"/>
                </a:solidFill>
                <a:latin typeface="Calibri" pitchFamily="34" charset="0"/>
                <a:ea typeface="Calibri" pitchFamily="34" charset="-122"/>
                <a:cs typeface="Calibri" pitchFamily="34" charset="-120"/>
              </a:rPr>
              <a:t>4</a:t>
            </a:r>
            <a:endParaRPr lang="en-US" sz="1900" dirty="0"/>
          </a:p>
        </p:txBody>
      </p:sp>
      <p:sp>
        <p:nvSpPr>
          <p:cNvPr id="14" name="Text 12"/>
          <p:cNvSpPr/>
          <p:nvPr/>
        </p:nvSpPr>
        <p:spPr>
          <a:xfrm>
            <a:off x="1600200" y="4892040"/>
            <a:ext cx="9784080" cy="685800"/>
          </a:xfrm>
          <a:prstGeom prst="rect">
            <a:avLst/>
          </a:prstGeom>
          <a:noFill/>
          <a:ln/>
        </p:spPr>
        <p:txBody>
          <a:bodyPr wrap="square" lIns="0" tIns="0" rIns="0" bIns="0" rtlCol="0" anchor="ctr"/>
          <a:lstStyle/>
          <a:p>
            <a:pPr indent="0" marL="0">
              <a:buNone/>
            </a:pPr>
            <a:r>
              <a:rPr lang="en-US" sz="2600" dirty="0">
                <a:solidFill>
                  <a:srgbClr val="F5F0E6"/>
                </a:solidFill>
                <a:latin typeface="Cambria" pitchFamily="34" charset="0"/>
                <a:ea typeface="Cambria" pitchFamily="34" charset="-122"/>
                <a:cs typeface="Cambria" pitchFamily="34" charset="-120"/>
              </a:rPr>
              <a:t>Time is harder than it looks</a:t>
            </a:r>
            <a:endParaRPr lang="en-US" sz="2600" dirty="0"/>
          </a:p>
        </p:txBody>
      </p:sp>
      <p:sp>
        <p:nvSpPr>
          <p:cNvPr id="15" name="Shape 13"/>
          <p:cNvSpPr/>
          <p:nvPr/>
        </p:nvSpPr>
        <p:spPr>
          <a:xfrm>
            <a:off x="731520" y="5806440"/>
            <a:ext cx="2743200" cy="0"/>
          </a:xfrm>
          <a:prstGeom prst="line">
            <a:avLst/>
          </a:prstGeom>
          <a:noFill/>
          <a:ln w="25400">
            <a:solidFill>
              <a:srgbClr val="D4A937"/>
            </a:solidFill>
            <a:prstDash val="solid"/>
          </a:ln>
        </p:spPr>
      </p:sp>
      <p:sp>
        <p:nvSpPr>
          <p:cNvPr id="16" name="Text 14"/>
          <p:cNvSpPr/>
          <p:nvPr/>
        </p:nvSpPr>
        <p:spPr>
          <a:xfrm>
            <a:off x="731520" y="6035040"/>
            <a:ext cx="10698480" cy="548640"/>
          </a:xfrm>
          <a:prstGeom prst="rect">
            <a:avLst/>
          </a:prstGeom>
          <a:noFill/>
          <a:ln/>
        </p:spPr>
        <p:txBody>
          <a:bodyPr wrap="square" lIns="0" tIns="0" rIns="0" bIns="0" rtlCol="0" anchor="ctr"/>
          <a:lstStyle/>
          <a:p>
            <a:pPr indent="0" marL="0">
              <a:buNone/>
            </a:pPr>
            <a:r>
              <a:rPr lang="en-US" sz="3000" dirty="0">
                <a:solidFill>
                  <a:srgbClr val="D4A937"/>
                </a:solidFill>
                <a:latin typeface="Cambria" pitchFamily="34" charset="0"/>
                <a:ea typeface="Cambria" pitchFamily="34" charset="-122"/>
                <a:cs typeface="Cambria" pitchFamily="34" charset="-120"/>
              </a:rPr>
              <a:t>Thank you — any questions?</a:t>
            </a:r>
            <a:endParaRPr lang="en-US" sz="3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Mesa — CMS22204</dc:title>
  <dc:subject>PptxGenJS Presentation</dc:subject>
  <dc:creator>Asan Limbu</dc:creator>
  <cp:lastModifiedBy>Asan Limbu</cp:lastModifiedBy>
  <cp:revision>1</cp:revision>
  <dcterms:created xsi:type="dcterms:W3CDTF">2026-08-06T20:13:13Z</dcterms:created>
  <dcterms:modified xsi:type="dcterms:W3CDTF">2026-08-06T20:13:13Z</dcterms:modified>
</cp:coreProperties>
</file>