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Tests</c:v>
                </c:pt>
              </c:strCache>
            </c:strRef>
          </c:tx>
          <c:spPr>
            <a:solidFill>
              <a:schemeClr val="accent1"/>
            </a:solidFill>
            <a:ln w="9525" cap="flat">
              <a:solidFill>
                <a:srgbClr val="F9F9F9"/>
              </a:solidFill>
              <a:prstDash val="solid"/>
              <a:round/>
            </a:ln>
            <a:effectLst/>
          </c:spPr>
          <c:dPt>
            <c:idx val="0"/>
            <c:bubble3D val="0"/>
            <c:spPr>
              <a:solidFill>
                <a:srgbClr val="D4A937"/>
              </a:solidFill>
              <a:effectLst/>
            </c:spPr>
          </c:dPt>
          <c:dPt>
            <c:idx val="1"/>
            <c:bubble3D val="0"/>
            <c:spPr>
              <a:solidFill>
                <a:srgbClr val="C2683A"/>
              </a:solidFill>
              <a:effectLst/>
            </c:spPr>
          </c:dPt>
          <c:dLbls>
            <c:dLbl>
              <c:idx val="0"/>
              <c:numFmt formatCode="General" sourceLinked="0"/>
              <c:spPr/>
              <c:txPr>
                <a:bodyPr/>
                <a:lstStyle/>
                <a:p>
                  <a:pPr>
                    <a:defRPr sz="1300" b="1" i="0" u="none" strike="noStrike">
                      <a:solidFill>
                        <a:srgbClr val="071310"/>
                      </a:solidFill>
                      <a:latin typeface="Arial"/>
                    </a:defRPr>
                  </a:pPr>
                </a:p>
              </c:txPr>
              <c:showLegendKey val="0"/>
              <c:showVal val="1"/>
              <c:showCatName val="0"/>
              <c:showSerName val="0"/>
              <c:showPercent val="0"/>
              <c:showBubbleSize val="0"/>
            </c:dLbl>
            <c:dLbl>
              <c:idx val="1"/>
              <c:numFmt formatCode="General" sourceLinked="0"/>
              <c:spPr/>
              <c:txPr>
                <a:bodyPr/>
                <a:lstStyle/>
                <a:p>
                  <a:pPr>
                    <a:defRPr sz="1300" b="1" i="0" u="none" strike="noStrike">
                      <a:solidFill>
                        <a:srgbClr val="071310"/>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Unit — booking engine</c:v>
                </c:pt>
                <c:pt idx="1">
                  <c:v>Integration — API over HTTP</c:v>
                </c:pt>
              </c:strCache>
            </c:strRef>
          </c:cat>
          <c:val>
            <c:numRef>
              <c:f>Sheet1!$B$2:$B$3</c:f>
              <c:numCache>
                <c:ptCount val="2"/>
                <c:pt idx="0">
                  <c:v>35</c:v>
                </c:pt>
                <c:pt idx="1">
                  <c:v>30</c:v>
                </c:pt>
              </c:numCache>
            </c:numRef>
          </c:val>
        </c:ser>
        <c:firstSliceAng val="0"/>
        <c:holeSize val="52"/>
      </c:doughnutChart>
      <c:spPr>
        <a:noFill/>
        <a:ln>
          <a:noFill/>
        </a:ln>
        <a:effectLst/>
      </c:spPr>
    </c:plotArea>
    <c:legend>
      <c:legendPos val="b"/>
      <c:overlay val="0"/>
      <c:txPr>
        <a:bodyPr/>
        <a:lstStyle/>
        <a:p>
          <a:pPr>
            <a:defRPr sz="1100">
              <a:solidFill>
                <a:srgbClr val="F5F0E6"/>
              </a:solidFill>
            </a:defRPr>
          </a:pPr>
          <a:endParaRPr lang="en-US"/>
        </a:p>
      </c:txPr>
    </c:legend>
    <c:plotVisOnly val="1"/>
    <c:dispBlanksAs val="span"/>
  </c:chart>
  <c:spPr>
    <a:solidFill>
      <a:srgbClr val="071310"/>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30 seconds.
"Mesa is a table reservation platform for independent restaurants. The problem it solves is that most independent restaurants still take bookings by phone and paper diary."
Do not read the slide. Move to the problem quickly — the demo is what earns the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Frame it as one problem with two faces. The restaurant loses covers and gets no-shows; the diner cannot find out what is free without ringing.
The closing line is the product thesis — say it,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The bottom card is the important one and it comes up again in the demo. Ownership-scoped authorisation is harder than a role check and it is the security property the whole system rests on.
If asked why 404 and not 403: a 403 tells an attacker the record exists. 404 tells them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Walk down the stack once. Land on the fourth layer — the pure booking engine — because that is the next slide and the intellectual core of the project.
Mention that once built, the same Express process also serves the compiled React app, so it is one server on one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This is your strongest technical slide — do not rush it.
The formula fits on one line but every clause is a decision. Explain half-open intervals with the 20:00 example: it is concrete and immediately makes sense to a restaurant person.
Point 3 is the one to dwell on. It is a genuine race condition and you have a test that proves you closed it — that test comes up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The right-hand card is worth saying explicitly — it shows you understand that client-side guards are convenience, not security.
If they ask about the JWT: it is signed, not encrypted. Anyone can read the payload; nobody can alter it without the secret.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The bottom card is a deliberate challenge to the brief. Say it confidently: it is not an excuse, it is a judgement call, and it is documented in three places.
It also shows you read the brief closely enough to spot the contradiction — that is worth more than silently ignoring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minutes. THIS IS THE MARK. 75% is the demonstration.
Before you start: re-seed (npm run db:seed) so the data is fresh, and have both manager logins ready in separate windows.
Step 5 is the security payoff — do it slowly and say what is happening.
Step 6 is the strongest single moment: two simultaneous requests for the same last table, exactly one wins. Say out loud that this is the race condition being closed, not luck.
If the 3D plan stutters on the projector, turn on Reduce Motion in macOS Accessibility — it falls back to the flat plan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The point is not the number, it is what the tests target. The booking engine is pure — no database, no Express, no clock reads — which is exactly why it can be tested this directly.
The integration tests drive the real app over HTTP against its own database, so the authorisation claims are proven,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Be honest here — markers respond well to real debugging stories, and every one of these is true. Each shows a different skill: reasoning about time zones, spotting an honesty bug, bisecting a rendering failure, and a design principle about not letting content depend on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then questions.
REPLACE THE GITHUB URL on this slide once the repository is pushed.
Each item is scoped and justified rather than a wish list — payments and notifications both attack the no-show rate the dashboard already measures, which shows the roadmap follows from the data.
Likely questions: why SQLite, why Prisma over the "Django ORM", how the concurrency test works, why 404 instead of 403, and how the JWT is 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30907"/>
        </a:solidFill>
      </p:bgPr>
    </p:bg>
    <p:spTree>
      <p:nvGrpSpPr>
        <p:cNvPr id="1" name=""/>
        <p:cNvGrpSpPr/>
        <p:nvPr/>
      </p:nvGrpSpPr>
      <p:grpSpPr>
        <a:xfrm>
          <a:off x="0" y="0"/>
          <a:ext cx="0" cy="0"/>
          <a:chOff x="0" y="0"/>
          <a:chExt cx="0" cy="0"/>
        </a:xfrm>
      </p:grpSpPr>
      <p:sp>
        <p:nvSpPr>
          <p:cNvPr id="2" name="Text 0"/>
          <p:cNvSpPr/>
          <p:nvPr/>
        </p:nvSpPr>
        <p:spPr>
          <a:xfrm>
            <a:off x="822960" y="1828800"/>
            <a:ext cx="7315200" cy="1371600"/>
          </a:xfrm>
          <a:prstGeom prst="rect">
            <a:avLst/>
          </a:prstGeom>
          <a:noFill/>
          <a:ln/>
        </p:spPr>
        <p:txBody>
          <a:bodyPr wrap="square" lIns="0" tIns="0" rIns="0" bIns="0" rtlCol="0" anchor="ctr"/>
          <a:lstStyle/>
          <a:p>
            <a:pPr indent="0" marL="0">
              <a:buNone/>
            </a:pPr>
            <a:r>
              <a:rPr lang="en-US" sz="8800" b="1" dirty="0">
                <a:solidFill>
                  <a:srgbClr val="D4A937"/>
                </a:solidFill>
                <a:latin typeface="Cambria" pitchFamily="34" charset="0"/>
                <a:ea typeface="Cambria" pitchFamily="34" charset="-122"/>
                <a:cs typeface="Cambria" pitchFamily="34" charset="-120"/>
              </a:rPr>
              <a:t>Mesa</a:t>
            </a:r>
            <a:endParaRPr lang="en-US" sz="8800" dirty="0"/>
          </a:p>
        </p:txBody>
      </p:sp>
      <p:sp>
        <p:nvSpPr>
          <p:cNvPr id="3" name="Text 1"/>
          <p:cNvSpPr/>
          <p:nvPr/>
        </p:nvSpPr>
        <p:spPr>
          <a:xfrm>
            <a:off x="868680" y="3154680"/>
            <a:ext cx="8229600" cy="548640"/>
          </a:xfrm>
          <a:prstGeom prst="rect">
            <a:avLst/>
          </a:prstGeom>
          <a:noFill/>
          <a:ln/>
        </p:spPr>
        <p:txBody>
          <a:bodyPr wrap="square" lIns="0" tIns="0" rIns="0" bIns="0" rtlCol="0" anchor="ctr"/>
          <a:lstStyle/>
          <a:p>
            <a:pPr indent="0" marL="0">
              <a:buNone/>
            </a:pPr>
            <a:r>
              <a:rPr lang="en-US" sz="2600" i="1" dirty="0">
                <a:solidFill>
                  <a:srgbClr val="F5F0E6"/>
                </a:solidFill>
                <a:latin typeface="Cambria" pitchFamily="34" charset="0"/>
                <a:ea typeface="Cambria" pitchFamily="34" charset="-122"/>
                <a:cs typeface="Cambria" pitchFamily="34" charset="-120"/>
              </a:rPr>
              <a:t>See which tables are actually free.</a:t>
            </a:r>
            <a:endParaRPr lang="en-US" sz="2600" dirty="0"/>
          </a:p>
        </p:txBody>
      </p:sp>
      <p:sp>
        <p:nvSpPr>
          <p:cNvPr id="4" name="Text 2"/>
          <p:cNvSpPr/>
          <p:nvPr/>
        </p:nvSpPr>
        <p:spPr>
          <a:xfrm>
            <a:off x="868680" y="3794760"/>
            <a:ext cx="8229600" cy="365760"/>
          </a:xfrm>
          <a:prstGeom prst="rect">
            <a:avLst/>
          </a:prstGeom>
          <a:noFill/>
          <a:ln/>
        </p:spPr>
        <p:txBody>
          <a:bodyPr wrap="square" lIns="0" tIns="0" rIns="0" bIns="0" rtlCol="0" anchor="ctr"/>
          <a:lstStyle/>
          <a:p>
            <a:pPr indent="0" marL="0">
              <a:buNone/>
            </a:pPr>
            <a:r>
              <a:rPr lang="en-US" sz="1500" dirty="0">
                <a:solidFill>
                  <a:srgbClr val="97B0A2"/>
                </a:solidFill>
                <a:latin typeface="Calibri" pitchFamily="34" charset="0"/>
                <a:ea typeface="Calibri" pitchFamily="34" charset="-122"/>
                <a:cs typeface="Calibri" pitchFamily="34" charset="-120"/>
              </a:rPr>
              <a:t>A multi-restaurant table reservation platform</a:t>
            </a:r>
            <a:endParaRPr lang="en-US" sz="1500" dirty="0"/>
          </a:p>
        </p:txBody>
      </p:sp>
      <p:sp>
        <p:nvSpPr>
          <p:cNvPr id="5" name="Shape 3"/>
          <p:cNvSpPr/>
          <p:nvPr/>
        </p:nvSpPr>
        <p:spPr>
          <a:xfrm>
            <a:off x="868680" y="4480560"/>
            <a:ext cx="2926080" cy="0"/>
          </a:xfrm>
          <a:prstGeom prst="line">
            <a:avLst/>
          </a:prstGeom>
          <a:noFill/>
          <a:ln w="25400">
            <a:solidFill>
              <a:srgbClr val="D4A937"/>
            </a:solidFill>
            <a:prstDash val="solid"/>
          </a:ln>
        </p:spPr>
      </p:sp>
      <p:sp>
        <p:nvSpPr>
          <p:cNvPr id="6" name="Text 4"/>
          <p:cNvSpPr/>
          <p:nvPr/>
        </p:nvSpPr>
        <p:spPr>
          <a:xfrm>
            <a:off x="868680" y="4754880"/>
            <a:ext cx="7315200" cy="1005840"/>
          </a:xfrm>
          <a:prstGeom prst="rect">
            <a:avLst/>
          </a:prstGeom>
          <a:noFill/>
          <a:ln/>
        </p:spPr>
        <p:txBody>
          <a:bodyPr wrap="square" lIns="0" tIns="0" rIns="0" bIns="0" rtlCol="0" anchor="ctr"/>
          <a:lstStyle/>
          <a:p>
            <a:pPr indent="0" marL="0">
              <a:lnSpc>
                <a:spcPts val="2200"/>
              </a:lnSpc>
              <a:buNone/>
            </a:pPr>
            <a:r>
              <a:rPr lang="en-US" sz="1400" b="1" dirty="0">
                <a:solidFill>
                  <a:srgbClr val="F5F0E6"/>
                </a:solidFill>
                <a:latin typeface="Calibri" pitchFamily="34" charset="0"/>
                <a:ea typeface="Calibri" pitchFamily="34" charset="-122"/>
                <a:cs typeface="Calibri" pitchFamily="34" charset="-120"/>
              </a:rPr>
              <a:t>Asan Limbu</a:t>
            </a:r>
            <a:endParaRPr lang="en-US" sz="1400" dirty="0"/>
          </a:p>
          <a:p>
            <a:pPr indent="0" marL="0">
              <a:lnSpc>
                <a:spcPts val="2200"/>
              </a:lnSpc>
              <a:buNone/>
            </a:pPr>
            <a:r>
              <a:rPr lang="en-US" sz="1400" dirty="0">
                <a:solidFill>
                  <a:srgbClr val="F5F0E6"/>
                </a:solidFill>
                <a:latin typeface="Calibri" pitchFamily="34" charset="0"/>
                <a:ea typeface="Calibri" pitchFamily="34" charset="-122"/>
                <a:cs typeface="Calibri" pitchFamily="34" charset="-120"/>
              </a:rPr>
              <a:t>CMS22204 — Full Stack Application Development</a:t>
            </a:r>
            <a:endParaRPr lang="en-US" sz="1400" dirty="0"/>
          </a:p>
          <a:p>
            <a:pPr indent="0" marL="0">
              <a:lnSpc>
                <a:spcPts val="2200"/>
              </a:lnSpc>
              <a:buNone/>
            </a:pPr>
            <a:r>
              <a:rPr lang="en-US" sz="1400" dirty="0">
                <a:solidFill>
                  <a:srgbClr val="F5F0E6"/>
                </a:solidFill>
                <a:latin typeface="Calibri" pitchFamily="34" charset="0"/>
                <a:ea typeface="Calibri" pitchFamily="34" charset="-122"/>
                <a:cs typeface="Calibri" pitchFamily="34" charset="-120"/>
              </a:rPr>
              <a:t>Level 5 · Ravensbourne University London</a:t>
            </a:r>
            <a:endParaRPr lang="en-US" sz="1400" dirty="0"/>
          </a:p>
        </p:txBody>
      </p:sp>
      <p:sp>
        <p:nvSpPr>
          <p:cNvPr id="7" name="Shape 5"/>
          <p:cNvSpPr/>
          <p:nvPr/>
        </p:nvSpPr>
        <p:spPr>
          <a:xfrm>
            <a:off x="9509760" y="1371600"/>
            <a:ext cx="777240" cy="777240"/>
          </a:xfrm>
          <a:prstGeom prst="roundRect">
            <a:avLst>
              <a:gd name="adj" fmla="val 14118"/>
            </a:avLst>
          </a:prstGeom>
          <a:solidFill>
            <a:srgbClr val="102B23"/>
          </a:solidFill>
          <a:ln w="19050">
            <a:solidFill>
              <a:srgbClr val="62796E"/>
            </a:solidFill>
            <a:prstDash val="solid"/>
          </a:ln>
        </p:spPr>
      </p:sp>
      <p:sp>
        <p:nvSpPr>
          <p:cNvPr id="8" name="Shape 6"/>
          <p:cNvSpPr/>
          <p:nvPr/>
        </p:nvSpPr>
        <p:spPr>
          <a:xfrm>
            <a:off x="10515600" y="1371600"/>
            <a:ext cx="777240" cy="777240"/>
          </a:xfrm>
          <a:prstGeom prst="roundRect">
            <a:avLst>
              <a:gd name="adj" fmla="val 14118"/>
            </a:avLst>
          </a:prstGeom>
          <a:solidFill>
            <a:srgbClr val="102B23"/>
          </a:solidFill>
          <a:ln w="19050">
            <a:solidFill>
              <a:srgbClr val="62796E"/>
            </a:solidFill>
            <a:prstDash val="solid"/>
          </a:ln>
        </p:spPr>
      </p:sp>
      <p:sp>
        <p:nvSpPr>
          <p:cNvPr id="9" name="Shape 7"/>
          <p:cNvSpPr/>
          <p:nvPr/>
        </p:nvSpPr>
        <p:spPr>
          <a:xfrm>
            <a:off x="9509760" y="2377440"/>
            <a:ext cx="777240" cy="777240"/>
          </a:xfrm>
          <a:prstGeom prst="roundRect">
            <a:avLst>
              <a:gd name="adj" fmla="val 14118"/>
            </a:avLst>
          </a:prstGeom>
          <a:solidFill>
            <a:srgbClr val="102B23"/>
          </a:solidFill>
          <a:ln w="19050">
            <a:solidFill>
              <a:srgbClr val="62796E"/>
            </a:solidFill>
            <a:prstDash val="solid"/>
          </a:ln>
        </p:spPr>
      </p:sp>
      <p:sp>
        <p:nvSpPr>
          <p:cNvPr id="10" name="Shape 8"/>
          <p:cNvSpPr/>
          <p:nvPr/>
        </p:nvSpPr>
        <p:spPr>
          <a:xfrm>
            <a:off x="10515600" y="2377440"/>
            <a:ext cx="777240" cy="777240"/>
          </a:xfrm>
          <a:prstGeom prst="roundRect">
            <a:avLst>
              <a:gd name="adj" fmla="val 14118"/>
            </a:avLst>
          </a:prstGeom>
          <a:solidFill>
            <a:srgbClr val="102B23"/>
          </a:solidFill>
          <a:ln w="19050">
            <a:solidFill>
              <a:srgbClr val="62796E"/>
            </a:solidFill>
            <a:prstDash val="solid"/>
          </a:ln>
        </p:spPr>
      </p:sp>
      <p:sp>
        <p:nvSpPr>
          <p:cNvPr id="11" name="Shape 9"/>
          <p:cNvSpPr/>
          <p:nvPr/>
        </p:nvSpPr>
        <p:spPr>
          <a:xfrm>
            <a:off x="10012680" y="3383280"/>
            <a:ext cx="777240" cy="777240"/>
          </a:xfrm>
          <a:prstGeom prst="roundRect">
            <a:avLst>
              <a:gd name="adj" fmla="val 14118"/>
            </a:avLst>
          </a:prstGeom>
          <a:solidFill>
            <a:srgbClr val="D4A937"/>
          </a:solidFill>
          <a:ln w="19050">
            <a:solidFill>
              <a:srgbClr val="F5D77A"/>
            </a:solidFill>
            <a:prstDash val="solid"/>
          </a:ln>
        </p:spPr>
      </p:sp>
      <p:sp>
        <p:nvSpPr>
          <p:cNvPr id="12" name="Text 10"/>
          <p:cNvSpPr/>
          <p:nvPr/>
        </p:nvSpPr>
        <p:spPr>
          <a:xfrm>
            <a:off x="9144000" y="4343400"/>
            <a:ext cx="2468880" cy="274320"/>
          </a:xfrm>
          <a:prstGeom prst="rect">
            <a:avLst/>
          </a:prstGeom>
          <a:noFill/>
          <a:ln/>
        </p:spPr>
        <p:txBody>
          <a:bodyPr wrap="square" lIns="0" tIns="0" rIns="0" bIns="0" rtlCol="0" anchor="ctr"/>
          <a:lstStyle/>
          <a:p>
            <a:pPr algn="ctr" indent="0" marL="0">
              <a:buNone/>
            </a:pPr>
            <a:r>
              <a:rPr lang="en-US" sz="1000" dirty="0">
                <a:solidFill>
                  <a:srgbClr val="62796E"/>
                </a:solidFill>
                <a:latin typeface="Calibri" pitchFamily="34" charset="0"/>
                <a:ea typeface="Calibri" pitchFamily="34" charset="-122"/>
                <a:cs typeface="Calibri" pitchFamily="34" charset="-120"/>
              </a:rPr>
              <a:t>the floor plan, live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800" b="1" dirty="0">
                <a:solidFill>
                  <a:srgbClr val="F5F0E6"/>
                </a:solidFill>
                <a:latin typeface="Cambria" pitchFamily="34" charset="0"/>
                <a:ea typeface="Cambria" pitchFamily="34" charset="-122"/>
                <a:cs typeface="Cambria" pitchFamily="34" charset="-120"/>
              </a:rPr>
              <a:t>The problem</a:t>
            </a:r>
            <a:endParaRPr lang="en-US" sz="3800" dirty="0"/>
          </a:p>
        </p:txBody>
      </p:sp>
      <p:sp>
        <p:nvSpPr>
          <p:cNvPr id="3" name="Text 1"/>
          <p:cNvSpPr/>
          <p:nvPr/>
        </p:nvSpPr>
        <p:spPr>
          <a:xfrm>
            <a:off x="640080" y="1207008"/>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Two sides of the same gap</a:t>
            </a:r>
            <a:endParaRPr lang="en-US" sz="1400" dirty="0"/>
          </a:p>
        </p:txBody>
      </p:sp>
      <p:sp>
        <p:nvSpPr>
          <p:cNvPr id="4" name="Shape 2"/>
          <p:cNvSpPr/>
          <p:nvPr/>
        </p:nvSpPr>
        <p:spPr>
          <a:xfrm>
            <a:off x="640080" y="1828800"/>
            <a:ext cx="5303520" cy="3566160"/>
          </a:xfrm>
          <a:prstGeom prst="roundRect">
            <a:avLst>
              <a:gd name="adj" fmla="val 2308"/>
            </a:avLst>
          </a:prstGeom>
          <a:solidFill>
            <a:srgbClr val="102B23"/>
          </a:solidFill>
          <a:ln w="12700">
            <a:solidFill>
              <a:srgbClr val="17392E"/>
            </a:solidFill>
            <a:prstDash val="solid"/>
          </a:ln>
        </p:spPr>
      </p:sp>
      <p:sp>
        <p:nvSpPr>
          <p:cNvPr id="5" name="Text 3"/>
          <p:cNvSpPr/>
          <p:nvPr/>
        </p:nvSpPr>
        <p:spPr>
          <a:xfrm>
            <a:off x="960120" y="2103120"/>
            <a:ext cx="4663440" cy="365760"/>
          </a:xfrm>
          <a:prstGeom prst="rect">
            <a:avLst/>
          </a:prstGeom>
          <a:noFill/>
          <a:ln/>
        </p:spPr>
        <p:txBody>
          <a:bodyPr wrap="square" lIns="0" tIns="0" rIns="0" bIns="0" rtlCol="0" anchor="ctr"/>
          <a:lstStyle/>
          <a:p>
            <a:pPr indent="0" marL="0">
              <a:buNone/>
            </a:pPr>
            <a:r>
              <a:rPr lang="en-US" sz="2100" b="1" dirty="0">
                <a:solidFill>
                  <a:srgbClr val="D4A937"/>
                </a:solidFill>
                <a:latin typeface="Cambria" pitchFamily="34" charset="0"/>
                <a:ea typeface="Cambria" pitchFamily="34" charset="-122"/>
                <a:cs typeface="Cambria" pitchFamily="34" charset="-120"/>
              </a:rPr>
              <a:t>For the restaurant</a:t>
            </a:r>
            <a:endParaRPr lang="en-US" sz="2100" dirty="0"/>
          </a:p>
        </p:txBody>
      </p:sp>
      <p:sp>
        <p:nvSpPr>
          <p:cNvPr id="6" name="Text 4"/>
          <p:cNvSpPr/>
          <p:nvPr/>
        </p:nvSpPr>
        <p:spPr>
          <a:xfrm>
            <a:off x="960120" y="2606040"/>
            <a:ext cx="4663440" cy="256032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F5F0E6"/>
                </a:solidFill>
                <a:latin typeface="Calibri" pitchFamily="34" charset="0"/>
                <a:ea typeface="Calibri" pitchFamily="34" charset="-122"/>
                <a:cs typeface="Calibri" pitchFamily="34" charset="-120"/>
              </a:rPr>
              <a:t>Tables double-booked</a:t>
            </a:r>
            <a:endParaRPr lang="en-US" sz="1500" dirty="0"/>
          </a:p>
          <a:p>
            <a:pPr marL="342900" indent="-342900">
              <a:spcAft>
                <a:spcPts val="1000"/>
              </a:spcAft>
              <a:buSzPct val="100000"/>
              <a:buChar char="•"/>
            </a:pPr>
            <a:r>
              <a:rPr lang="en-US" sz="1500" dirty="0">
                <a:solidFill>
                  <a:srgbClr val="F5F0E6"/>
                </a:solidFill>
                <a:latin typeface="Calibri" pitchFamily="34" charset="0"/>
                <a:ea typeface="Calibri" pitchFamily="34" charset="-122"/>
                <a:cs typeface="Calibri" pitchFamily="34" charset="-120"/>
              </a:rPr>
              <a:t>Parties seated at tables too small</a:t>
            </a:r>
            <a:endParaRPr lang="en-US" sz="1500" dirty="0"/>
          </a:p>
          <a:p>
            <a:pPr marL="342900" indent="-342900">
              <a:spcAft>
                <a:spcPts val="1000"/>
              </a:spcAft>
              <a:buSzPct val="100000"/>
              <a:buChar char="•"/>
            </a:pPr>
            <a:r>
              <a:rPr lang="en-US" sz="1500" dirty="0">
                <a:solidFill>
                  <a:srgbClr val="F5F0E6"/>
                </a:solidFill>
                <a:latin typeface="Calibri" pitchFamily="34" charset="0"/>
                <a:ea typeface="Calibri" pitchFamily="34" charset="-122"/>
                <a:cs typeface="Calibri" pitchFamily="34" charset="-120"/>
              </a:rPr>
              <a:t>No-shows nobody recorded</a:t>
            </a:r>
            <a:endParaRPr lang="en-US" sz="1500" dirty="0"/>
          </a:p>
          <a:p>
            <a:pPr marL="342900" indent="-342900">
              <a:spcAft>
                <a:spcPts val="1000"/>
              </a:spcAft>
              <a:buSzPct val="100000"/>
              <a:buChar char="•"/>
            </a:pPr>
            <a:r>
              <a:rPr lang="en-US" sz="1500" dirty="0">
                <a:solidFill>
                  <a:srgbClr val="F5F0E6"/>
                </a:solidFill>
                <a:latin typeface="Calibri" pitchFamily="34" charset="0"/>
                <a:ea typeface="Calibri" pitchFamily="34" charset="-122"/>
                <a:cs typeface="Calibri" pitchFamily="34" charset="-120"/>
              </a:rPr>
              <a:t>Customers must ring during service — exactly when nobody can answer</a:t>
            </a:r>
            <a:endParaRPr lang="en-US" sz="1500" dirty="0"/>
          </a:p>
        </p:txBody>
      </p:sp>
      <p:sp>
        <p:nvSpPr>
          <p:cNvPr id="7" name="Shape 5"/>
          <p:cNvSpPr/>
          <p:nvPr/>
        </p:nvSpPr>
        <p:spPr>
          <a:xfrm>
            <a:off x="6309360" y="1828800"/>
            <a:ext cx="5212080" cy="3566160"/>
          </a:xfrm>
          <a:prstGeom prst="roundRect">
            <a:avLst>
              <a:gd name="adj" fmla="val 2308"/>
            </a:avLst>
          </a:prstGeom>
          <a:solidFill>
            <a:srgbClr val="102B23"/>
          </a:solidFill>
          <a:ln w="12700">
            <a:solidFill>
              <a:srgbClr val="17392E"/>
            </a:solidFill>
            <a:prstDash val="solid"/>
          </a:ln>
        </p:spPr>
      </p:sp>
      <p:sp>
        <p:nvSpPr>
          <p:cNvPr id="8" name="Text 6"/>
          <p:cNvSpPr/>
          <p:nvPr/>
        </p:nvSpPr>
        <p:spPr>
          <a:xfrm>
            <a:off x="6629400" y="2103120"/>
            <a:ext cx="4572000" cy="365760"/>
          </a:xfrm>
          <a:prstGeom prst="rect">
            <a:avLst/>
          </a:prstGeom>
          <a:noFill/>
          <a:ln/>
        </p:spPr>
        <p:txBody>
          <a:bodyPr wrap="square" lIns="0" tIns="0" rIns="0" bIns="0" rtlCol="0" anchor="ctr"/>
          <a:lstStyle/>
          <a:p>
            <a:pPr indent="0" marL="0">
              <a:buNone/>
            </a:pPr>
            <a:r>
              <a:rPr lang="en-US" sz="2100" b="1" dirty="0">
                <a:solidFill>
                  <a:srgbClr val="C2683A"/>
                </a:solidFill>
                <a:latin typeface="Cambria" pitchFamily="34" charset="0"/>
                <a:ea typeface="Cambria" pitchFamily="34" charset="-122"/>
                <a:cs typeface="Cambria" pitchFamily="34" charset="-120"/>
              </a:rPr>
              <a:t>For the diner</a:t>
            </a:r>
            <a:endParaRPr lang="en-US" sz="2100" dirty="0"/>
          </a:p>
        </p:txBody>
      </p:sp>
      <p:sp>
        <p:nvSpPr>
          <p:cNvPr id="9" name="Text 7"/>
          <p:cNvSpPr/>
          <p:nvPr/>
        </p:nvSpPr>
        <p:spPr>
          <a:xfrm>
            <a:off x="6629400" y="2606040"/>
            <a:ext cx="4572000" cy="256032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F5F0E6"/>
                </a:solidFill>
                <a:latin typeface="Calibri" pitchFamily="34" charset="0"/>
                <a:ea typeface="Calibri" pitchFamily="34" charset="-122"/>
                <a:cs typeface="Calibri" pitchFamily="34" charset="-120"/>
              </a:rPr>
              <a:t>No single place to see what is genuinely free</a:t>
            </a:r>
            <a:endParaRPr lang="en-US" sz="1500" dirty="0"/>
          </a:p>
          <a:p>
            <a:pPr marL="342900" indent="-342900">
              <a:spcAft>
                <a:spcPts val="1000"/>
              </a:spcAft>
              <a:buSzPct val="100000"/>
              <a:buChar char="•"/>
            </a:pPr>
            <a:r>
              <a:rPr lang="en-US" sz="1500" dirty="0">
                <a:solidFill>
                  <a:srgbClr val="F5F0E6"/>
                </a:solidFill>
                <a:latin typeface="Calibri" pitchFamily="34" charset="0"/>
                <a:ea typeface="Calibri" pitchFamily="34" charset="-122"/>
                <a:cs typeface="Calibri" pitchFamily="34" charset="-120"/>
              </a:rPr>
              <a:t>Listings show a restaurant exists — not whether it can seat four at eight</a:t>
            </a:r>
            <a:endParaRPr lang="en-US" sz="1500" dirty="0"/>
          </a:p>
          <a:p>
            <a:pPr marL="342900" indent="-342900">
              <a:spcAft>
                <a:spcPts val="1000"/>
              </a:spcAft>
              <a:buSzPct val="100000"/>
              <a:buChar char="•"/>
            </a:pPr>
            <a:r>
              <a:rPr lang="en-US" sz="1500" dirty="0">
                <a:solidFill>
                  <a:srgbClr val="F5F0E6"/>
                </a:solidFill>
                <a:latin typeface="Calibri" pitchFamily="34" charset="0"/>
                <a:ea typeface="Calibri" pitchFamily="34" charset="-122"/>
                <a:cs typeface="Calibri" pitchFamily="34" charset="-120"/>
              </a:rPr>
              <a:t>Booking means a phone call and a wait</a:t>
            </a:r>
            <a:endParaRPr lang="en-US" sz="1500" dirty="0"/>
          </a:p>
        </p:txBody>
      </p:sp>
      <p:sp>
        <p:nvSpPr>
          <p:cNvPr id="10" name="Text 8"/>
          <p:cNvSpPr/>
          <p:nvPr/>
        </p:nvSpPr>
        <p:spPr>
          <a:xfrm>
            <a:off x="640080" y="5669280"/>
            <a:ext cx="10881360" cy="457200"/>
          </a:xfrm>
          <a:prstGeom prst="rect">
            <a:avLst/>
          </a:prstGeom>
          <a:noFill/>
          <a:ln/>
        </p:spPr>
        <p:txBody>
          <a:bodyPr wrap="square" lIns="0" tIns="0" rIns="0" bIns="0" rtlCol="0" anchor="ctr"/>
          <a:lstStyle/>
          <a:p>
            <a:pPr indent="0" marL="0">
              <a:buNone/>
            </a:pPr>
            <a:r>
              <a:rPr lang="en-US" sz="1900" i="1" dirty="0">
                <a:solidFill>
                  <a:srgbClr val="D4A937"/>
                </a:solidFill>
                <a:latin typeface="Cambria" pitchFamily="34" charset="0"/>
                <a:ea typeface="Cambria" pitchFamily="34" charset="-122"/>
                <a:cs typeface="Cambria" pitchFamily="34" charset="-120"/>
              </a:rPr>
              <a:t>Mesa reads the floor plan, not a waiting list.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800" b="1" dirty="0">
                <a:solidFill>
                  <a:srgbClr val="F5F0E6"/>
                </a:solidFill>
                <a:latin typeface="Cambria" pitchFamily="34" charset="0"/>
                <a:ea typeface="Cambria" pitchFamily="34" charset="-122"/>
                <a:cs typeface="Cambria" pitchFamily="34" charset="-120"/>
              </a:rPr>
              <a:t>Two roles, one hard rule</a:t>
            </a:r>
            <a:endParaRPr lang="en-US" sz="3800" dirty="0"/>
          </a:p>
        </p:txBody>
      </p:sp>
      <p:sp>
        <p:nvSpPr>
          <p:cNvPr id="3" name="Text 1"/>
          <p:cNvSpPr/>
          <p:nvPr/>
        </p:nvSpPr>
        <p:spPr>
          <a:xfrm>
            <a:off x="640080" y="1207008"/>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Targeted user base</a:t>
            </a:r>
            <a:endParaRPr lang="en-US" sz="1400" dirty="0"/>
          </a:p>
        </p:txBody>
      </p:sp>
      <p:sp>
        <p:nvSpPr>
          <p:cNvPr id="4" name="Shape 2"/>
          <p:cNvSpPr/>
          <p:nvPr/>
        </p:nvSpPr>
        <p:spPr>
          <a:xfrm>
            <a:off x="640080" y="1828800"/>
            <a:ext cx="5303520" cy="2286000"/>
          </a:xfrm>
          <a:prstGeom prst="roundRect">
            <a:avLst>
              <a:gd name="adj" fmla="val 3600"/>
            </a:avLst>
          </a:prstGeom>
          <a:solidFill>
            <a:srgbClr val="102B23"/>
          </a:solidFill>
          <a:ln w="12700">
            <a:solidFill>
              <a:srgbClr val="17392E"/>
            </a:solidFill>
            <a:prstDash val="solid"/>
          </a:ln>
        </p:spPr>
      </p:sp>
      <p:sp>
        <p:nvSpPr>
          <p:cNvPr id="5" name="Text 3"/>
          <p:cNvSpPr/>
          <p:nvPr/>
        </p:nvSpPr>
        <p:spPr>
          <a:xfrm>
            <a:off x="960120" y="2057400"/>
            <a:ext cx="4663440" cy="320040"/>
          </a:xfrm>
          <a:prstGeom prst="rect">
            <a:avLst/>
          </a:prstGeom>
          <a:noFill/>
          <a:ln/>
        </p:spPr>
        <p:txBody>
          <a:bodyPr wrap="square" lIns="0" tIns="0" rIns="0" bIns="0" rtlCol="0" anchor="ctr"/>
          <a:lstStyle/>
          <a:p>
            <a:pPr indent="0" marL="0">
              <a:buNone/>
            </a:pPr>
            <a:r>
              <a:rPr lang="en-US" sz="1200" b="1" spc="200" kern="0" dirty="0">
                <a:solidFill>
                  <a:srgbClr val="D4A937"/>
                </a:solidFill>
                <a:latin typeface="Calibri" pitchFamily="34" charset="0"/>
                <a:ea typeface="Calibri" pitchFamily="34" charset="-122"/>
                <a:cs typeface="Calibri" pitchFamily="34" charset="-120"/>
              </a:rPr>
              <a:t>DINER</a:t>
            </a:r>
            <a:endParaRPr lang="en-US" sz="1200" dirty="0"/>
          </a:p>
        </p:txBody>
      </p:sp>
      <p:sp>
        <p:nvSpPr>
          <p:cNvPr id="6" name="Text 4"/>
          <p:cNvSpPr/>
          <p:nvPr/>
        </p:nvSpPr>
        <p:spPr>
          <a:xfrm>
            <a:off x="960120" y="2468880"/>
            <a:ext cx="4663440" cy="13716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Search and filter · check real availability · book · view, modify and cancel their own reservations</a:t>
            </a:r>
            <a:endParaRPr lang="en-US" sz="1500" dirty="0"/>
          </a:p>
        </p:txBody>
      </p:sp>
      <p:sp>
        <p:nvSpPr>
          <p:cNvPr id="7" name="Shape 5"/>
          <p:cNvSpPr/>
          <p:nvPr/>
        </p:nvSpPr>
        <p:spPr>
          <a:xfrm>
            <a:off x="6309360" y="1828800"/>
            <a:ext cx="5212080" cy="2286000"/>
          </a:xfrm>
          <a:prstGeom prst="roundRect">
            <a:avLst>
              <a:gd name="adj" fmla="val 3600"/>
            </a:avLst>
          </a:prstGeom>
          <a:solidFill>
            <a:srgbClr val="102B23"/>
          </a:solidFill>
          <a:ln w="12700">
            <a:solidFill>
              <a:srgbClr val="17392E"/>
            </a:solidFill>
            <a:prstDash val="solid"/>
          </a:ln>
        </p:spPr>
      </p:sp>
      <p:sp>
        <p:nvSpPr>
          <p:cNvPr id="8" name="Text 6"/>
          <p:cNvSpPr/>
          <p:nvPr/>
        </p:nvSpPr>
        <p:spPr>
          <a:xfrm>
            <a:off x="6629400" y="2057400"/>
            <a:ext cx="4572000" cy="320040"/>
          </a:xfrm>
          <a:prstGeom prst="rect">
            <a:avLst/>
          </a:prstGeom>
          <a:noFill/>
          <a:ln/>
        </p:spPr>
        <p:txBody>
          <a:bodyPr wrap="square" lIns="0" tIns="0" rIns="0" bIns="0" rtlCol="0" anchor="ctr"/>
          <a:lstStyle/>
          <a:p>
            <a:pPr indent="0" marL="0">
              <a:buNone/>
            </a:pPr>
            <a:r>
              <a:rPr lang="en-US" sz="1200" b="1" spc="200" kern="0" dirty="0">
                <a:solidFill>
                  <a:srgbClr val="C2683A"/>
                </a:solidFill>
                <a:latin typeface="Calibri" pitchFamily="34" charset="0"/>
                <a:ea typeface="Calibri" pitchFamily="34" charset="-122"/>
                <a:cs typeface="Calibri" pitchFamily="34" charset="-120"/>
              </a:rPr>
              <a:t>MANAGER</a:t>
            </a:r>
            <a:endParaRPr lang="en-US" sz="1200" dirty="0"/>
          </a:p>
        </p:txBody>
      </p:sp>
      <p:sp>
        <p:nvSpPr>
          <p:cNvPr id="9" name="Text 7"/>
          <p:cNvSpPr/>
          <p:nvPr/>
        </p:nvSpPr>
        <p:spPr>
          <a:xfrm>
            <a:off x="6629400" y="2468880"/>
            <a:ext cx="4572000" cy="13716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Everything a diner can, plus their own venue: tables, the reservation queue, service statuses and the dashboard</a:t>
            </a:r>
            <a:endParaRPr lang="en-US" sz="1500" dirty="0"/>
          </a:p>
        </p:txBody>
      </p:sp>
      <p:sp>
        <p:nvSpPr>
          <p:cNvPr id="10" name="Shape 8"/>
          <p:cNvSpPr/>
          <p:nvPr/>
        </p:nvSpPr>
        <p:spPr>
          <a:xfrm>
            <a:off x="640080" y="4389120"/>
            <a:ext cx="10881360" cy="1737360"/>
          </a:xfrm>
          <a:prstGeom prst="roundRect">
            <a:avLst>
              <a:gd name="adj" fmla="val 4737"/>
            </a:avLst>
          </a:prstGeom>
          <a:solidFill>
            <a:srgbClr val="17392E"/>
          </a:solidFill>
          <a:ln w="12700">
            <a:solidFill>
              <a:srgbClr val="17392E"/>
            </a:solidFill>
            <a:prstDash val="solid"/>
          </a:ln>
        </p:spPr>
      </p:sp>
      <p:sp>
        <p:nvSpPr>
          <p:cNvPr id="11" name="Text 9"/>
          <p:cNvSpPr/>
          <p:nvPr/>
        </p:nvSpPr>
        <p:spPr>
          <a:xfrm>
            <a:off x="960120" y="4617720"/>
            <a:ext cx="10241280" cy="365760"/>
          </a:xfrm>
          <a:prstGeom prst="rect">
            <a:avLst/>
          </a:prstGeom>
          <a:noFill/>
          <a:ln/>
        </p:spPr>
        <p:txBody>
          <a:bodyPr wrap="square" lIns="0" tIns="0" rIns="0" bIns="0" rtlCol="0" anchor="ctr"/>
          <a:lstStyle/>
          <a:p>
            <a:pPr indent="0" marL="0">
              <a:buNone/>
            </a:pPr>
            <a:r>
              <a:rPr lang="en-US" sz="2100" b="1" dirty="0">
                <a:solidFill>
                  <a:srgbClr val="F5D77A"/>
                </a:solidFill>
                <a:latin typeface="Cambria" pitchFamily="34" charset="0"/>
                <a:ea typeface="Cambria" pitchFamily="34" charset="-122"/>
                <a:cs typeface="Cambria" pitchFamily="34" charset="-120"/>
              </a:rPr>
              <a:t>Role alone is not enough</a:t>
            </a:r>
            <a:endParaRPr lang="en-US" sz="2100" dirty="0"/>
          </a:p>
        </p:txBody>
      </p:sp>
      <p:sp>
        <p:nvSpPr>
          <p:cNvPr id="12" name="Text 10"/>
          <p:cNvSpPr/>
          <p:nvPr/>
        </p:nvSpPr>
        <p:spPr>
          <a:xfrm>
            <a:off x="960120" y="5029200"/>
            <a:ext cx="10241280" cy="82296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A manager may act only on the venue they own. Cross-venue requests return 404, never 403 — the API must not confirm the existence of records the caller is not allowed to see.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800" b="1" dirty="0">
                <a:solidFill>
                  <a:srgbClr val="F5F0E6"/>
                </a:solidFill>
                <a:latin typeface="Cambria" pitchFamily="34" charset="0"/>
                <a:ea typeface="Cambria" pitchFamily="34" charset="-122"/>
                <a:cs typeface="Cambria" pitchFamily="34" charset="-120"/>
              </a:rPr>
              <a:t>Architecture</a:t>
            </a:r>
            <a:endParaRPr lang="en-US" sz="3800" dirty="0"/>
          </a:p>
        </p:txBody>
      </p:sp>
      <p:sp>
        <p:nvSpPr>
          <p:cNvPr id="3" name="Text 1"/>
          <p:cNvSpPr/>
          <p:nvPr/>
        </p:nvSpPr>
        <p:spPr>
          <a:xfrm>
            <a:off x="640080" y="1207008"/>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Each layer depends only on the one beneath it</a:t>
            </a:r>
            <a:endParaRPr lang="en-US" sz="1400" dirty="0"/>
          </a:p>
        </p:txBody>
      </p:sp>
      <p:sp>
        <p:nvSpPr>
          <p:cNvPr id="4" name="Shape 2"/>
          <p:cNvSpPr/>
          <p:nvPr/>
        </p:nvSpPr>
        <p:spPr>
          <a:xfrm>
            <a:off x="640080" y="1828800"/>
            <a:ext cx="7680960" cy="713232"/>
          </a:xfrm>
          <a:prstGeom prst="roundRect">
            <a:avLst>
              <a:gd name="adj" fmla="val 11538"/>
            </a:avLst>
          </a:prstGeom>
          <a:solidFill>
            <a:srgbClr val="102B23"/>
          </a:solidFill>
          <a:ln w="12700">
            <a:solidFill>
              <a:srgbClr val="17392E"/>
            </a:solidFill>
            <a:prstDash val="solid"/>
          </a:ln>
        </p:spPr>
      </p:sp>
      <p:sp>
        <p:nvSpPr>
          <p:cNvPr id="5" name="Text 3"/>
          <p:cNvSpPr/>
          <p:nvPr/>
        </p:nvSpPr>
        <p:spPr>
          <a:xfrm>
            <a:off x="914400" y="1901952"/>
            <a:ext cx="7132320" cy="292608"/>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React SPA (Vite)</a:t>
            </a:r>
            <a:endParaRPr lang="en-US" sz="1500" dirty="0"/>
          </a:p>
        </p:txBody>
      </p:sp>
      <p:sp>
        <p:nvSpPr>
          <p:cNvPr id="6" name="Text 4"/>
          <p:cNvSpPr/>
          <p:nvPr/>
        </p:nvSpPr>
        <p:spPr>
          <a:xfrm>
            <a:off x="914400" y="2212848"/>
            <a:ext cx="713232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Pages · Components · Context · Router guards</a:t>
            </a:r>
            <a:endParaRPr lang="en-US" sz="1200" dirty="0"/>
          </a:p>
        </p:txBody>
      </p:sp>
      <p:sp>
        <p:nvSpPr>
          <p:cNvPr id="7" name="Shape 5"/>
          <p:cNvSpPr/>
          <p:nvPr/>
        </p:nvSpPr>
        <p:spPr>
          <a:xfrm>
            <a:off x="4480560" y="2542032"/>
            <a:ext cx="0" cy="128016"/>
          </a:xfrm>
          <a:prstGeom prst="line">
            <a:avLst/>
          </a:prstGeom>
          <a:noFill/>
          <a:ln w="19050">
            <a:solidFill>
              <a:srgbClr val="D4A937"/>
            </a:solidFill>
            <a:prstDash val="solid"/>
            <a:tailEnd type="triangle"/>
          </a:ln>
        </p:spPr>
      </p:sp>
      <p:sp>
        <p:nvSpPr>
          <p:cNvPr id="8" name="Shape 6"/>
          <p:cNvSpPr/>
          <p:nvPr/>
        </p:nvSpPr>
        <p:spPr>
          <a:xfrm>
            <a:off x="640080" y="2670048"/>
            <a:ext cx="7680960" cy="713232"/>
          </a:xfrm>
          <a:prstGeom prst="roundRect">
            <a:avLst>
              <a:gd name="adj" fmla="val 11538"/>
            </a:avLst>
          </a:prstGeom>
          <a:solidFill>
            <a:srgbClr val="102B23"/>
          </a:solidFill>
          <a:ln w="12700">
            <a:solidFill>
              <a:srgbClr val="17392E"/>
            </a:solidFill>
            <a:prstDash val="solid"/>
          </a:ln>
        </p:spPr>
      </p:sp>
      <p:sp>
        <p:nvSpPr>
          <p:cNvPr id="9" name="Text 7"/>
          <p:cNvSpPr/>
          <p:nvPr/>
        </p:nvSpPr>
        <p:spPr>
          <a:xfrm>
            <a:off x="914400" y="2743200"/>
            <a:ext cx="7132320" cy="292608"/>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Express — middleware</a:t>
            </a:r>
            <a:endParaRPr lang="en-US" sz="1500" dirty="0"/>
          </a:p>
        </p:txBody>
      </p:sp>
      <p:sp>
        <p:nvSpPr>
          <p:cNvPr id="10" name="Text 8"/>
          <p:cNvSpPr/>
          <p:nvPr/>
        </p:nvSpPr>
        <p:spPr>
          <a:xfrm>
            <a:off x="914400" y="3054096"/>
            <a:ext cx="713232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requestId → helmet → CORS → rate limit → auth</a:t>
            </a:r>
            <a:endParaRPr lang="en-US" sz="1200" dirty="0"/>
          </a:p>
        </p:txBody>
      </p:sp>
      <p:sp>
        <p:nvSpPr>
          <p:cNvPr id="11" name="Shape 9"/>
          <p:cNvSpPr/>
          <p:nvPr/>
        </p:nvSpPr>
        <p:spPr>
          <a:xfrm>
            <a:off x="4480560" y="3383280"/>
            <a:ext cx="0" cy="128016"/>
          </a:xfrm>
          <a:prstGeom prst="line">
            <a:avLst/>
          </a:prstGeom>
          <a:noFill/>
          <a:ln w="19050">
            <a:solidFill>
              <a:srgbClr val="D4A937"/>
            </a:solidFill>
            <a:prstDash val="solid"/>
            <a:tailEnd type="triangle"/>
          </a:ln>
        </p:spPr>
      </p:sp>
      <p:sp>
        <p:nvSpPr>
          <p:cNvPr id="12" name="Shape 10"/>
          <p:cNvSpPr/>
          <p:nvPr/>
        </p:nvSpPr>
        <p:spPr>
          <a:xfrm>
            <a:off x="640080" y="3511296"/>
            <a:ext cx="7680960" cy="713232"/>
          </a:xfrm>
          <a:prstGeom prst="roundRect">
            <a:avLst>
              <a:gd name="adj" fmla="val 11538"/>
            </a:avLst>
          </a:prstGeom>
          <a:solidFill>
            <a:srgbClr val="102B23"/>
          </a:solidFill>
          <a:ln w="12700">
            <a:solidFill>
              <a:srgbClr val="17392E"/>
            </a:solidFill>
            <a:prstDash val="solid"/>
          </a:ln>
        </p:spPr>
      </p:sp>
      <p:sp>
        <p:nvSpPr>
          <p:cNvPr id="13" name="Text 11"/>
          <p:cNvSpPr/>
          <p:nvPr/>
        </p:nvSpPr>
        <p:spPr>
          <a:xfrm>
            <a:off x="914400" y="3584448"/>
            <a:ext cx="7132320" cy="292608"/>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Services</a:t>
            </a:r>
            <a:endParaRPr lang="en-US" sz="1500" dirty="0"/>
          </a:p>
        </p:txBody>
      </p:sp>
      <p:sp>
        <p:nvSpPr>
          <p:cNvPr id="14" name="Text 12"/>
          <p:cNvSpPr/>
          <p:nvPr/>
        </p:nvSpPr>
        <p:spPr>
          <a:xfrm>
            <a:off x="914400" y="3895344"/>
            <a:ext cx="713232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auth · restaurants · reservations · stats</a:t>
            </a:r>
            <a:endParaRPr lang="en-US" sz="1200" dirty="0"/>
          </a:p>
        </p:txBody>
      </p:sp>
      <p:sp>
        <p:nvSpPr>
          <p:cNvPr id="15" name="Shape 13"/>
          <p:cNvSpPr/>
          <p:nvPr/>
        </p:nvSpPr>
        <p:spPr>
          <a:xfrm>
            <a:off x="4480560" y="4224528"/>
            <a:ext cx="0" cy="128016"/>
          </a:xfrm>
          <a:prstGeom prst="line">
            <a:avLst/>
          </a:prstGeom>
          <a:noFill/>
          <a:ln w="19050">
            <a:solidFill>
              <a:srgbClr val="D4A937"/>
            </a:solidFill>
            <a:prstDash val="solid"/>
            <a:tailEnd type="triangle"/>
          </a:ln>
        </p:spPr>
      </p:sp>
      <p:sp>
        <p:nvSpPr>
          <p:cNvPr id="16" name="Shape 14"/>
          <p:cNvSpPr/>
          <p:nvPr/>
        </p:nvSpPr>
        <p:spPr>
          <a:xfrm>
            <a:off x="640080" y="4352544"/>
            <a:ext cx="7680960" cy="713232"/>
          </a:xfrm>
          <a:prstGeom prst="roundRect">
            <a:avLst>
              <a:gd name="adj" fmla="val 11538"/>
            </a:avLst>
          </a:prstGeom>
          <a:solidFill>
            <a:srgbClr val="17392E"/>
          </a:solidFill>
          <a:ln w="12700">
            <a:solidFill>
              <a:srgbClr val="17392E"/>
            </a:solidFill>
            <a:prstDash val="solid"/>
          </a:ln>
        </p:spPr>
      </p:sp>
      <p:sp>
        <p:nvSpPr>
          <p:cNvPr id="17" name="Text 15"/>
          <p:cNvSpPr/>
          <p:nvPr/>
        </p:nvSpPr>
        <p:spPr>
          <a:xfrm>
            <a:off x="914400" y="4425696"/>
            <a:ext cx="7132320" cy="292608"/>
          </a:xfrm>
          <a:prstGeom prst="rect">
            <a:avLst/>
          </a:prstGeom>
          <a:noFill/>
          <a:ln/>
        </p:spPr>
        <p:txBody>
          <a:bodyPr wrap="square" lIns="0" tIns="0" rIns="0" bIns="0" rtlCol="0" anchor="ctr"/>
          <a:lstStyle/>
          <a:p>
            <a:pPr indent="0" marL="0">
              <a:buNone/>
            </a:pPr>
            <a:r>
              <a:rPr lang="en-US" sz="1500" b="1" dirty="0">
                <a:solidFill>
                  <a:srgbClr val="F5D77A"/>
                </a:solidFill>
                <a:latin typeface="Calibri" pitchFamily="34" charset="0"/>
                <a:ea typeface="Calibri" pitchFamily="34" charset="-122"/>
                <a:cs typeface="Calibri" pitchFamily="34" charset="-120"/>
              </a:rPr>
              <a:t>lib/availability.js — pure, no I/O</a:t>
            </a:r>
            <a:endParaRPr lang="en-US" sz="1500" dirty="0"/>
          </a:p>
        </p:txBody>
      </p:sp>
      <p:sp>
        <p:nvSpPr>
          <p:cNvPr id="18" name="Text 16"/>
          <p:cNvSpPr/>
          <p:nvPr/>
        </p:nvSpPr>
        <p:spPr>
          <a:xfrm>
            <a:off x="914400" y="4736592"/>
            <a:ext cx="713232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The booking engine. No Prisma, no Express, no clock.</a:t>
            </a:r>
            <a:endParaRPr lang="en-US" sz="1200" dirty="0"/>
          </a:p>
        </p:txBody>
      </p:sp>
      <p:sp>
        <p:nvSpPr>
          <p:cNvPr id="19" name="Shape 17"/>
          <p:cNvSpPr/>
          <p:nvPr/>
        </p:nvSpPr>
        <p:spPr>
          <a:xfrm>
            <a:off x="4480560" y="5065776"/>
            <a:ext cx="0" cy="128016"/>
          </a:xfrm>
          <a:prstGeom prst="line">
            <a:avLst/>
          </a:prstGeom>
          <a:noFill/>
          <a:ln w="19050">
            <a:solidFill>
              <a:srgbClr val="D4A937"/>
            </a:solidFill>
            <a:prstDash val="solid"/>
            <a:tailEnd type="triangle"/>
          </a:ln>
        </p:spPr>
      </p:sp>
      <p:sp>
        <p:nvSpPr>
          <p:cNvPr id="20" name="Shape 18"/>
          <p:cNvSpPr/>
          <p:nvPr/>
        </p:nvSpPr>
        <p:spPr>
          <a:xfrm>
            <a:off x="640080" y="5193792"/>
            <a:ext cx="7680960" cy="713232"/>
          </a:xfrm>
          <a:prstGeom prst="roundRect">
            <a:avLst>
              <a:gd name="adj" fmla="val 11538"/>
            </a:avLst>
          </a:prstGeom>
          <a:solidFill>
            <a:srgbClr val="102B23"/>
          </a:solidFill>
          <a:ln w="12700">
            <a:solidFill>
              <a:srgbClr val="17392E"/>
            </a:solidFill>
            <a:prstDash val="solid"/>
          </a:ln>
        </p:spPr>
      </p:sp>
      <p:sp>
        <p:nvSpPr>
          <p:cNvPr id="21" name="Text 19"/>
          <p:cNvSpPr/>
          <p:nvPr/>
        </p:nvSpPr>
        <p:spPr>
          <a:xfrm>
            <a:off x="914400" y="5266944"/>
            <a:ext cx="7132320" cy="292608"/>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Prisma ORM → SQLite / PostgreSQL</a:t>
            </a:r>
            <a:endParaRPr lang="en-US" sz="1500" dirty="0"/>
          </a:p>
        </p:txBody>
      </p:sp>
      <p:sp>
        <p:nvSpPr>
          <p:cNvPr id="22" name="Text 20"/>
          <p:cNvSpPr/>
          <p:nvPr/>
        </p:nvSpPr>
        <p:spPr>
          <a:xfrm>
            <a:off x="914400" y="5577840"/>
            <a:ext cx="713232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Schema in version control, portable</a:t>
            </a:r>
            <a:endParaRPr lang="en-US" sz="1200" dirty="0"/>
          </a:p>
        </p:txBody>
      </p:sp>
      <p:sp>
        <p:nvSpPr>
          <p:cNvPr id="23" name="Shape 21"/>
          <p:cNvSpPr/>
          <p:nvPr/>
        </p:nvSpPr>
        <p:spPr>
          <a:xfrm>
            <a:off x="8686800" y="1828800"/>
            <a:ext cx="2834640" cy="4206240"/>
          </a:xfrm>
          <a:prstGeom prst="roundRect">
            <a:avLst>
              <a:gd name="adj" fmla="val 2903"/>
            </a:avLst>
          </a:prstGeom>
          <a:solidFill>
            <a:srgbClr val="102B23"/>
          </a:solidFill>
          <a:ln w="12700">
            <a:solidFill>
              <a:srgbClr val="17392E"/>
            </a:solidFill>
            <a:prstDash val="solid"/>
          </a:ln>
        </p:spPr>
      </p:sp>
      <p:sp>
        <p:nvSpPr>
          <p:cNvPr id="24" name="Text 22"/>
          <p:cNvSpPr/>
          <p:nvPr/>
        </p:nvSpPr>
        <p:spPr>
          <a:xfrm>
            <a:off x="8961120" y="2057400"/>
            <a:ext cx="2286000" cy="320040"/>
          </a:xfrm>
          <a:prstGeom prst="rect">
            <a:avLst/>
          </a:prstGeom>
          <a:noFill/>
          <a:ln/>
        </p:spPr>
        <p:txBody>
          <a:bodyPr wrap="square" lIns="0" tIns="0" rIns="0" bIns="0" rtlCol="0" anchor="ctr"/>
          <a:lstStyle/>
          <a:p>
            <a:pPr indent="0" marL="0">
              <a:buNone/>
            </a:pPr>
            <a:r>
              <a:rPr lang="en-US" sz="1800" b="1" dirty="0">
                <a:solidFill>
                  <a:srgbClr val="D4A937"/>
                </a:solidFill>
                <a:latin typeface="Cambria" pitchFamily="34" charset="0"/>
                <a:ea typeface="Cambria" pitchFamily="34" charset="-122"/>
                <a:cs typeface="Cambria" pitchFamily="34" charset="-120"/>
              </a:rPr>
              <a:t>The rule</a:t>
            </a:r>
            <a:endParaRPr lang="en-US" sz="1800" dirty="0"/>
          </a:p>
        </p:txBody>
      </p:sp>
      <p:sp>
        <p:nvSpPr>
          <p:cNvPr id="25" name="Text 23"/>
          <p:cNvSpPr/>
          <p:nvPr/>
        </p:nvSpPr>
        <p:spPr>
          <a:xfrm>
            <a:off x="8961120" y="2514600"/>
            <a:ext cx="2286000" cy="3291840"/>
          </a:xfrm>
          <a:prstGeom prst="rect">
            <a:avLst/>
          </a:prstGeom>
          <a:noFill/>
          <a:ln/>
        </p:spPr>
        <p:txBody>
          <a:bodyPr wrap="square" lIns="0" tIns="0" rIns="0" bIns="0" rtlCol="0" anchor="ctr"/>
          <a:lstStyle/>
          <a:p>
            <a:pPr indent="0" marL="0">
              <a:buNone/>
            </a:pPr>
            <a:r>
              <a:rPr lang="en-US" sz="1300" dirty="0">
                <a:solidFill>
                  <a:srgbClr val="F5F0E6"/>
                </a:solidFill>
                <a:latin typeface="Calibri" pitchFamily="34" charset="0"/>
                <a:ea typeface="Calibri" pitchFamily="34" charset="-122"/>
                <a:cs typeface="Calibri" pitchFamily="34" charset="-120"/>
              </a:rPr>
              <a:t>Routes never touch Prisma.</a:t>
            </a:r>
            <a:endParaRPr lang="en-US" sz="1300" dirty="0"/>
          </a:p>
          <a:p>
            <a:pPr indent="0" marL="0">
              <a:buNone/>
            </a:pPr>
            <a:endParaRPr lang="en-US" sz="1300" dirty="0"/>
          </a:p>
          <a:p>
            <a:pPr indent="0" marL="0">
              <a:buNone/>
            </a:pPr>
            <a:r>
              <a:rPr lang="en-US" sz="1300" dirty="0">
                <a:solidFill>
                  <a:srgbClr val="F5F0E6"/>
                </a:solidFill>
                <a:latin typeface="Calibri" pitchFamily="34" charset="0"/>
                <a:ea typeface="Calibri" pitchFamily="34" charset="-122"/>
                <a:cs typeface="Calibri" pitchFamily="34" charset="-120"/>
              </a:rPr>
              <a:t>Services never touch req or res.</a:t>
            </a:r>
            <a:endParaRPr lang="en-US" sz="1300" dirty="0"/>
          </a:p>
          <a:p>
            <a:pPr indent="0" marL="0">
              <a:buNone/>
            </a:pPr>
            <a:endParaRPr lang="en-US" sz="1300" dirty="0"/>
          </a:p>
          <a:p>
            <a:pPr indent="0" marL="0">
              <a:buNone/>
            </a:pPr>
            <a:r>
              <a:rPr lang="en-US" sz="1300" dirty="0">
                <a:solidFill>
                  <a:srgbClr val="F5F0E6"/>
                </a:solidFill>
                <a:latin typeface="Calibri" pitchFamily="34" charset="0"/>
                <a:ea typeface="Calibri" pitchFamily="34" charset="-122"/>
                <a:cs typeface="Calibri" pitchFamily="34" charset="-120"/>
              </a:rPr>
              <a:t>That boundary is why the services are testable and why swapping SQLite for PostgreSQL is a connection string.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800" b="1" dirty="0">
                <a:solidFill>
                  <a:srgbClr val="F5F0E6"/>
                </a:solidFill>
                <a:latin typeface="Cambria" pitchFamily="34" charset="0"/>
                <a:ea typeface="Cambria" pitchFamily="34" charset="-122"/>
                <a:cs typeface="Cambria" pitchFamily="34" charset="-120"/>
              </a:rPr>
              <a:t>The hard part</a:t>
            </a:r>
            <a:endParaRPr lang="en-US" sz="3800" dirty="0"/>
          </a:p>
        </p:txBody>
      </p:sp>
      <p:sp>
        <p:nvSpPr>
          <p:cNvPr id="3" name="Text 1"/>
          <p:cNvSpPr/>
          <p:nvPr/>
        </p:nvSpPr>
        <p:spPr>
          <a:xfrm>
            <a:off x="640080" y="1207008"/>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Conflict detection, and why it is not obvious</a:t>
            </a:r>
            <a:endParaRPr lang="en-US" sz="1400" dirty="0"/>
          </a:p>
        </p:txBody>
      </p:sp>
      <p:sp>
        <p:nvSpPr>
          <p:cNvPr id="4" name="Shape 2"/>
          <p:cNvSpPr/>
          <p:nvPr/>
        </p:nvSpPr>
        <p:spPr>
          <a:xfrm>
            <a:off x="640080" y="1828800"/>
            <a:ext cx="10881360" cy="1234440"/>
          </a:xfrm>
          <a:prstGeom prst="roundRect">
            <a:avLst>
              <a:gd name="adj" fmla="val 6667"/>
            </a:avLst>
          </a:prstGeom>
          <a:solidFill>
            <a:srgbClr val="17392E"/>
          </a:solidFill>
          <a:ln w="12700">
            <a:solidFill>
              <a:srgbClr val="17392E"/>
            </a:solidFill>
            <a:prstDash val="solid"/>
          </a:ln>
        </p:spPr>
      </p:sp>
      <p:sp>
        <p:nvSpPr>
          <p:cNvPr id="5" name="Text 3"/>
          <p:cNvSpPr/>
          <p:nvPr/>
        </p:nvSpPr>
        <p:spPr>
          <a:xfrm>
            <a:off x="960120" y="2148840"/>
            <a:ext cx="10241280" cy="548640"/>
          </a:xfrm>
          <a:prstGeom prst="rect">
            <a:avLst/>
          </a:prstGeom>
          <a:noFill/>
          <a:ln/>
        </p:spPr>
        <p:txBody>
          <a:bodyPr wrap="square" lIns="0" tIns="0" rIns="0" bIns="0" rtlCol="0" anchor="ctr"/>
          <a:lstStyle/>
          <a:p>
            <a:pPr indent="0" marL="0">
              <a:buNone/>
            </a:pPr>
            <a:r>
              <a:rPr lang="en-US" sz="2000" b="1" dirty="0">
                <a:solidFill>
                  <a:srgbClr val="F5D77A"/>
                </a:solidFill>
                <a:latin typeface="Courier New" pitchFamily="34" charset="0"/>
                <a:ea typeface="Courier New" pitchFamily="34" charset="-122"/>
                <a:cs typeface="Courier New" pitchFamily="34" charset="-120"/>
              </a:rPr>
              <a:t>overlaps(a, b)  =  a.startsAt &lt; b.endsAt  &amp;&amp;  a.endsAt &gt; b.startsAt</a:t>
            </a:r>
            <a:endParaRPr lang="en-US" sz="2000" dirty="0"/>
          </a:p>
        </p:txBody>
      </p:sp>
      <p:sp>
        <p:nvSpPr>
          <p:cNvPr id="6" name="Shape 4"/>
          <p:cNvSpPr/>
          <p:nvPr/>
        </p:nvSpPr>
        <p:spPr>
          <a:xfrm>
            <a:off x="640080" y="3383280"/>
            <a:ext cx="411480" cy="411480"/>
          </a:xfrm>
          <a:prstGeom prst="ellipse">
            <a:avLst/>
          </a:prstGeom>
          <a:solidFill>
            <a:srgbClr val="D4A937"/>
          </a:solidFill>
          <a:ln/>
        </p:spPr>
      </p:sp>
      <p:sp>
        <p:nvSpPr>
          <p:cNvPr id="7" name="Text 5"/>
          <p:cNvSpPr/>
          <p:nvPr/>
        </p:nvSpPr>
        <p:spPr>
          <a:xfrm>
            <a:off x="640080" y="3383280"/>
            <a:ext cx="411480" cy="411480"/>
          </a:xfrm>
          <a:prstGeom prst="rect">
            <a:avLst/>
          </a:prstGeom>
          <a:noFill/>
          <a:ln/>
        </p:spPr>
        <p:txBody>
          <a:bodyPr wrap="square" lIns="0" tIns="0" rIns="0" bIns="0" rtlCol="0" anchor="ctr"/>
          <a:lstStyle/>
          <a:p>
            <a:pPr algn="ctr" indent="0" marL="0">
              <a:buNone/>
            </a:pPr>
            <a:r>
              <a:rPr lang="en-US" sz="1500" b="1" dirty="0">
                <a:solidFill>
                  <a:srgbClr val="071310"/>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234440" y="3346704"/>
            <a:ext cx="10241280" cy="320040"/>
          </a:xfrm>
          <a:prstGeom prst="rect">
            <a:avLst/>
          </a:prstGeom>
          <a:noFill/>
          <a:ln/>
        </p:spPr>
        <p:txBody>
          <a:bodyPr wrap="square" lIns="0" tIns="0" rIns="0" bIns="0" rtlCol="0" anchor="ctr"/>
          <a:lstStyle/>
          <a:p>
            <a:pPr indent="0" marL="0">
              <a:buNone/>
            </a:pPr>
            <a:r>
              <a:rPr lang="en-US" sz="1600" b="1" dirty="0">
                <a:solidFill>
                  <a:srgbClr val="F5F0E6"/>
                </a:solidFill>
                <a:latin typeface="Calibri" pitchFamily="34" charset="0"/>
                <a:ea typeface="Calibri" pitchFamily="34" charset="-122"/>
                <a:cs typeface="Calibri" pitchFamily="34" charset="-120"/>
              </a:rPr>
              <a:t>Half-open intervals</a:t>
            </a:r>
            <a:endParaRPr lang="en-US" sz="1600" dirty="0"/>
          </a:p>
        </p:txBody>
      </p:sp>
      <p:sp>
        <p:nvSpPr>
          <p:cNvPr id="9" name="Text 7"/>
          <p:cNvSpPr/>
          <p:nvPr/>
        </p:nvSpPr>
        <p:spPr>
          <a:xfrm>
            <a:off x="1234440" y="3657600"/>
            <a:ext cx="10058400" cy="548640"/>
          </a:xfrm>
          <a:prstGeom prst="rect">
            <a:avLst/>
          </a:prstGeom>
          <a:noFill/>
          <a:ln/>
        </p:spPr>
        <p:txBody>
          <a:bodyPr wrap="square" lIns="0" tIns="0" rIns="0" bIns="0" rtlCol="0" anchor="ctr"/>
          <a:lstStyle/>
          <a:p>
            <a:pPr indent="0" marL="0">
              <a:buNone/>
            </a:pPr>
            <a:r>
              <a:rPr lang="en-US" sz="1300" dirty="0">
                <a:solidFill>
                  <a:srgbClr val="97B0A2"/>
                </a:solidFill>
                <a:latin typeface="Calibri" pitchFamily="34" charset="0"/>
                <a:ea typeface="Calibri" pitchFamily="34" charset="-122"/>
                <a:cs typeface="Calibri" pitchFamily="34" charset="-120"/>
              </a:rPr>
              <a:t>A table freed at 20:00 can be rebooked at 20:00 exactly. Closed intervals would refuse a booking a restaurant would happily take.</a:t>
            </a:r>
            <a:endParaRPr lang="en-US" sz="1300" dirty="0"/>
          </a:p>
        </p:txBody>
      </p:sp>
      <p:sp>
        <p:nvSpPr>
          <p:cNvPr id="10" name="Shape 8"/>
          <p:cNvSpPr/>
          <p:nvPr/>
        </p:nvSpPr>
        <p:spPr>
          <a:xfrm>
            <a:off x="640080" y="4434840"/>
            <a:ext cx="411480" cy="411480"/>
          </a:xfrm>
          <a:prstGeom prst="ellipse">
            <a:avLst/>
          </a:prstGeom>
          <a:solidFill>
            <a:srgbClr val="D4A937"/>
          </a:solidFill>
          <a:ln/>
        </p:spPr>
      </p:sp>
      <p:sp>
        <p:nvSpPr>
          <p:cNvPr id="11" name="Text 9"/>
          <p:cNvSpPr/>
          <p:nvPr/>
        </p:nvSpPr>
        <p:spPr>
          <a:xfrm>
            <a:off x="640080" y="4434840"/>
            <a:ext cx="411480" cy="411480"/>
          </a:xfrm>
          <a:prstGeom prst="rect">
            <a:avLst/>
          </a:prstGeom>
          <a:noFill/>
          <a:ln/>
        </p:spPr>
        <p:txBody>
          <a:bodyPr wrap="square" lIns="0" tIns="0" rIns="0" bIns="0" rtlCol="0" anchor="ctr"/>
          <a:lstStyle/>
          <a:p>
            <a:pPr algn="ctr" indent="0" marL="0">
              <a:buNone/>
            </a:pPr>
            <a:r>
              <a:rPr lang="en-US" sz="1500" b="1" dirty="0">
                <a:solidFill>
                  <a:srgbClr val="071310"/>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234440" y="4398264"/>
            <a:ext cx="10241280" cy="320040"/>
          </a:xfrm>
          <a:prstGeom prst="rect">
            <a:avLst/>
          </a:prstGeom>
          <a:noFill/>
          <a:ln/>
        </p:spPr>
        <p:txBody>
          <a:bodyPr wrap="square" lIns="0" tIns="0" rIns="0" bIns="0" rtlCol="0" anchor="ctr"/>
          <a:lstStyle/>
          <a:p>
            <a:pPr indent="0" marL="0">
              <a:buNone/>
            </a:pPr>
            <a:r>
              <a:rPr lang="en-US" sz="1600" b="1" dirty="0">
                <a:solidFill>
                  <a:srgbClr val="F5F0E6"/>
                </a:solidFill>
                <a:latin typeface="Calibri" pitchFamily="34" charset="0"/>
                <a:ea typeface="Calibri" pitchFamily="34" charset="-122"/>
                <a:cs typeface="Calibri" pitchFamily="34" charset="-120"/>
              </a:rPr>
              <a:t>Smallest sufficient table</a:t>
            </a:r>
            <a:endParaRPr lang="en-US" sz="1600" dirty="0"/>
          </a:p>
        </p:txBody>
      </p:sp>
      <p:sp>
        <p:nvSpPr>
          <p:cNvPr id="13" name="Text 11"/>
          <p:cNvSpPr/>
          <p:nvPr/>
        </p:nvSpPr>
        <p:spPr>
          <a:xfrm>
            <a:off x="1234440" y="4709160"/>
            <a:ext cx="10058400" cy="548640"/>
          </a:xfrm>
          <a:prstGeom prst="rect">
            <a:avLst/>
          </a:prstGeom>
          <a:noFill/>
          <a:ln/>
        </p:spPr>
        <p:txBody>
          <a:bodyPr wrap="square" lIns="0" tIns="0" rIns="0" bIns="0" rtlCol="0" anchor="ctr"/>
          <a:lstStyle/>
          <a:p>
            <a:pPr indent="0" marL="0">
              <a:buNone/>
            </a:pPr>
            <a:r>
              <a:rPr lang="en-US" sz="1300" dirty="0">
                <a:solidFill>
                  <a:srgbClr val="97B0A2"/>
                </a:solidFill>
                <a:latin typeface="Calibri" pitchFamily="34" charset="0"/>
                <a:ea typeface="Calibri" pitchFamily="34" charset="-122"/>
                <a:cs typeface="Calibri" pitchFamily="34" charset="-120"/>
              </a:rPr>
              <a:t>A party of two gets the two-top, not the six. Otherwise the scarcest resource in the room is burned first.</a:t>
            </a:r>
            <a:endParaRPr lang="en-US" sz="1300" dirty="0"/>
          </a:p>
        </p:txBody>
      </p:sp>
      <p:sp>
        <p:nvSpPr>
          <p:cNvPr id="14" name="Shape 12"/>
          <p:cNvSpPr/>
          <p:nvPr/>
        </p:nvSpPr>
        <p:spPr>
          <a:xfrm>
            <a:off x="640080" y="5486400"/>
            <a:ext cx="411480" cy="411480"/>
          </a:xfrm>
          <a:prstGeom prst="ellipse">
            <a:avLst/>
          </a:prstGeom>
          <a:solidFill>
            <a:srgbClr val="D4A937"/>
          </a:solidFill>
          <a:ln/>
        </p:spPr>
      </p:sp>
      <p:sp>
        <p:nvSpPr>
          <p:cNvPr id="15" name="Text 13"/>
          <p:cNvSpPr/>
          <p:nvPr/>
        </p:nvSpPr>
        <p:spPr>
          <a:xfrm>
            <a:off x="640080" y="5486400"/>
            <a:ext cx="411480" cy="411480"/>
          </a:xfrm>
          <a:prstGeom prst="rect">
            <a:avLst/>
          </a:prstGeom>
          <a:noFill/>
          <a:ln/>
        </p:spPr>
        <p:txBody>
          <a:bodyPr wrap="square" lIns="0" tIns="0" rIns="0" bIns="0" rtlCol="0" anchor="ctr"/>
          <a:lstStyle/>
          <a:p>
            <a:pPr algn="ctr" indent="0" marL="0">
              <a:buNone/>
            </a:pPr>
            <a:r>
              <a:rPr lang="en-US" sz="1500" b="1" dirty="0">
                <a:solidFill>
                  <a:srgbClr val="071310"/>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234440" y="5449824"/>
            <a:ext cx="10241280" cy="320040"/>
          </a:xfrm>
          <a:prstGeom prst="rect">
            <a:avLst/>
          </a:prstGeom>
          <a:noFill/>
          <a:ln/>
        </p:spPr>
        <p:txBody>
          <a:bodyPr wrap="square" lIns="0" tIns="0" rIns="0" bIns="0" rtlCol="0" anchor="ctr"/>
          <a:lstStyle/>
          <a:p>
            <a:pPr indent="0" marL="0">
              <a:buNone/>
            </a:pPr>
            <a:r>
              <a:rPr lang="en-US" sz="1600" b="1" dirty="0">
                <a:solidFill>
                  <a:srgbClr val="F5F0E6"/>
                </a:solidFill>
                <a:latin typeface="Calibri" pitchFamily="34" charset="0"/>
                <a:ea typeface="Calibri" pitchFamily="34" charset="-122"/>
                <a:cs typeface="Calibri" pitchFamily="34" charset="-120"/>
              </a:rPr>
              <a:t>Re-check inside the transaction</a:t>
            </a:r>
            <a:endParaRPr lang="en-US" sz="1600" dirty="0"/>
          </a:p>
        </p:txBody>
      </p:sp>
      <p:sp>
        <p:nvSpPr>
          <p:cNvPr id="17" name="Text 15"/>
          <p:cNvSpPr/>
          <p:nvPr/>
        </p:nvSpPr>
        <p:spPr>
          <a:xfrm>
            <a:off x="1234440" y="5760720"/>
            <a:ext cx="10058400" cy="548640"/>
          </a:xfrm>
          <a:prstGeom prst="rect">
            <a:avLst/>
          </a:prstGeom>
          <a:noFill/>
          <a:ln/>
        </p:spPr>
        <p:txBody>
          <a:bodyPr wrap="square" lIns="0" tIns="0" rIns="0" bIns="0" rtlCol="0" anchor="ctr"/>
          <a:lstStyle/>
          <a:p>
            <a:pPr indent="0" marL="0">
              <a:buNone/>
            </a:pPr>
            <a:r>
              <a:rPr lang="en-US" sz="1300" dirty="0">
                <a:solidFill>
                  <a:srgbClr val="97B0A2"/>
                </a:solidFill>
                <a:latin typeface="Calibri" pitchFamily="34" charset="0"/>
                <a:ea typeface="Calibri" pitchFamily="34" charset="-122"/>
                <a:cs typeface="Calibri" pitchFamily="34" charset="-120"/>
              </a:rPr>
              <a:t>Checking then inserting leaves a window where two diners both see the last table free. The re-check closes 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800" b="1" dirty="0">
                <a:solidFill>
                  <a:srgbClr val="F5F0E6"/>
                </a:solidFill>
                <a:latin typeface="Cambria" pitchFamily="34" charset="0"/>
                <a:ea typeface="Cambria" pitchFamily="34" charset="-122"/>
                <a:cs typeface="Cambria" pitchFamily="34" charset="-120"/>
              </a:rPr>
              <a:t>Security</a:t>
            </a:r>
            <a:endParaRPr lang="en-US" sz="3800" dirty="0"/>
          </a:p>
        </p:txBody>
      </p:sp>
      <p:sp>
        <p:nvSpPr>
          <p:cNvPr id="3" name="Text 1"/>
          <p:cNvSpPr/>
          <p:nvPr/>
        </p:nvSpPr>
        <p:spPr>
          <a:xfrm>
            <a:off x="640080" y="1207008"/>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What protects the data, and what only looks like it does</a:t>
            </a:r>
            <a:endParaRPr lang="en-US" sz="1400" dirty="0"/>
          </a:p>
        </p:txBody>
      </p:sp>
      <p:sp>
        <p:nvSpPr>
          <p:cNvPr id="4" name="Shape 2"/>
          <p:cNvSpPr/>
          <p:nvPr/>
        </p:nvSpPr>
        <p:spPr>
          <a:xfrm>
            <a:off x="640080" y="1828800"/>
            <a:ext cx="8138160" cy="731520"/>
          </a:xfrm>
          <a:prstGeom prst="roundRect">
            <a:avLst>
              <a:gd name="adj" fmla="val 11250"/>
            </a:avLst>
          </a:prstGeom>
          <a:solidFill>
            <a:srgbClr val="102B23"/>
          </a:solidFill>
          <a:ln w="12700">
            <a:solidFill>
              <a:srgbClr val="17392E"/>
            </a:solidFill>
            <a:prstDash val="solid"/>
          </a:ln>
        </p:spPr>
      </p:sp>
      <p:sp>
        <p:nvSpPr>
          <p:cNvPr id="5" name="Text 3"/>
          <p:cNvSpPr/>
          <p:nvPr/>
        </p:nvSpPr>
        <p:spPr>
          <a:xfrm>
            <a:off x="914400" y="1920240"/>
            <a:ext cx="2103120" cy="274320"/>
          </a:xfrm>
          <a:prstGeom prst="rect">
            <a:avLst/>
          </a:prstGeom>
          <a:noFill/>
          <a:ln/>
        </p:spPr>
        <p:txBody>
          <a:bodyPr wrap="square" lIns="0" tIns="0" rIns="0" bIns="0" rtlCol="0" anchor="ctr"/>
          <a:lstStyle/>
          <a:p>
            <a:pPr indent="0" marL="0">
              <a:buNone/>
            </a:pPr>
            <a:r>
              <a:rPr lang="en-US" sz="1400" b="1" dirty="0">
                <a:solidFill>
                  <a:srgbClr val="D4A937"/>
                </a:solidFill>
                <a:latin typeface="Calibri" pitchFamily="34" charset="0"/>
                <a:ea typeface="Calibri" pitchFamily="34" charset="-122"/>
                <a:cs typeface="Calibri" pitchFamily="34" charset="-120"/>
              </a:rPr>
              <a:t>Passwords</a:t>
            </a:r>
            <a:endParaRPr lang="en-US" sz="1400" dirty="0"/>
          </a:p>
        </p:txBody>
      </p:sp>
      <p:sp>
        <p:nvSpPr>
          <p:cNvPr id="6" name="Text 4"/>
          <p:cNvSpPr/>
          <p:nvPr/>
        </p:nvSpPr>
        <p:spPr>
          <a:xfrm>
            <a:off x="3108960" y="1883664"/>
            <a:ext cx="5486400" cy="621792"/>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bcrypt hashed. Plaintext never reaches the database.</a:t>
            </a:r>
            <a:endParaRPr lang="en-US" sz="1200" dirty="0"/>
          </a:p>
        </p:txBody>
      </p:sp>
      <p:sp>
        <p:nvSpPr>
          <p:cNvPr id="7" name="Shape 5"/>
          <p:cNvSpPr/>
          <p:nvPr/>
        </p:nvSpPr>
        <p:spPr>
          <a:xfrm>
            <a:off x="640080" y="2670048"/>
            <a:ext cx="8138160" cy="731520"/>
          </a:xfrm>
          <a:prstGeom prst="roundRect">
            <a:avLst>
              <a:gd name="adj" fmla="val 11250"/>
            </a:avLst>
          </a:prstGeom>
          <a:solidFill>
            <a:srgbClr val="102B23"/>
          </a:solidFill>
          <a:ln w="12700">
            <a:solidFill>
              <a:srgbClr val="17392E"/>
            </a:solidFill>
            <a:prstDash val="solid"/>
          </a:ln>
        </p:spPr>
      </p:sp>
      <p:sp>
        <p:nvSpPr>
          <p:cNvPr id="8" name="Text 6"/>
          <p:cNvSpPr/>
          <p:nvPr/>
        </p:nvSpPr>
        <p:spPr>
          <a:xfrm>
            <a:off x="914400" y="2761488"/>
            <a:ext cx="2103120" cy="274320"/>
          </a:xfrm>
          <a:prstGeom prst="rect">
            <a:avLst/>
          </a:prstGeom>
          <a:noFill/>
          <a:ln/>
        </p:spPr>
        <p:txBody>
          <a:bodyPr wrap="square" lIns="0" tIns="0" rIns="0" bIns="0" rtlCol="0" anchor="ctr"/>
          <a:lstStyle/>
          <a:p>
            <a:pPr indent="0" marL="0">
              <a:buNone/>
            </a:pPr>
            <a:r>
              <a:rPr lang="en-US" sz="1400" b="1" dirty="0">
                <a:solidFill>
                  <a:srgbClr val="D4A937"/>
                </a:solidFill>
                <a:latin typeface="Calibri" pitchFamily="34" charset="0"/>
                <a:ea typeface="Calibri" pitchFamily="34" charset="-122"/>
                <a:cs typeface="Calibri" pitchFamily="34" charset="-120"/>
              </a:rPr>
              <a:t>Tokens</a:t>
            </a:r>
            <a:endParaRPr lang="en-US" sz="1400" dirty="0"/>
          </a:p>
        </p:txBody>
      </p:sp>
      <p:sp>
        <p:nvSpPr>
          <p:cNvPr id="9" name="Text 7"/>
          <p:cNvSpPr/>
          <p:nvPr/>
        </p:nvSpPr>
        <p:spPr>
          <a:xfrm>
            <a:off x="3108960" y="2724912"/>
            <a:ext cx="5486400" cy="621792"/>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JWT carries only user id and role. The user is re-loaded from the database each request, so a deleted account cannot keep acting on a valid token.</a:t>
            </a:r>
            <a:endParaRPr lang="en-US" sz="1200" dirty="0"/>
          </a:p>
        </p:txBody>
      </p:sp>
      <p:sp>
        <p:nvSpPr>
          <p:cNvPr id="10" name="Shape 8"/>
          <p:cNvSpPr/>
          <p:nvPr/>
        </p:nvSpPr>
        <p:spPr>
          <a:xfrm>
            <a:off x="640080" y="3511296"/>
            <a:ext cx="8138160" cy="731520"/>
          </a:xfrm>
          <a:prstGeom prst="roundRect">
            <a:avLst>
              <a:gd name="adj" fmla="val 11250"/>
            </a:avLst>
          </a:prstGeom>
          <a:solidFill>
            <a:srgbClr val="102B23"/>
          </a:solidFill>
          <a:ln w="12700">
            <a:solidFill>
              <a:srgbClr val="17392E"/>
            </a:solidFill>
            <a:prstDash val="solid"/>
          </a:ln>
        </p:spPr>
      </p:sp>
      <p:sp>
        <p:nvSpPr>
          <p:cNvPr id="11" name="Text 9"/>
          <p:cNvSpPr/>
          <p:nvPr/>
        </p:nvSpPr>
        <p:spPr>
          <a:xfrm>
            <a:off x="914400" y="3602736"/>
            <a:ext cx="2103120" cy="274320"/>
          </a:xfrm>
          <a:prstGeom prst="rect">
            <a:avLst/>
          </a:prstGeom>
          <a:noFill/>
          <a:ln/>
        </p:spPr>
        <p:txBody>
          <a:bodyPr wrap="square" lIns="0" tIns="0" rIns="0" bIns="0" rtlCol="0" anchor="ctr"/>
          <a:lstStyle/>
          <a:p>
            <a:pPr indent="0" marL="0">
              <a:buNone/>
            </a:pPr>
            <a:r>
              <a:rPr lang="en-US" sz="1400" b="1" dirty="0">
                <a:solidFill>
                  <a:srgbClr val="D4A937"/>
                </a:solidFill>
                <a:latin typeface="Calibri" pitchFamily="34" charset="0"/>
                <a:ea typeface="Calibri" pitchFamily="34" charset="-122"/>
                <a:cs typeface="Calibri" pitchFamily="34" charset="-120"/>
              </a:rPr>
              <a:t>No account enumeration</a:t>
            </a:r>
            <a:endParaRPr lang="en-US" sz="1400" dirty="0"/>
          </a:p>
        </p:txBody>
      </p:sp>
      <p:sp>
        <p:nvSpPr>
          <p:cNvPr id="12" name="Text 10"/>
          <p:cNvSpPr/>
          <p:nvPr/>
        </p:nvSpPr>
        <p:spPr>
          <a:xfrm>
            <a:off x="3108960" y="3566160"/>
            <a:ext cx="5486400" cy="621792"/>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A wrong password and an unknown email return byte-for-byte identical errors, compared against a dummy hash so even the timing matches.</a:t>
            </a:r>
            <a:endParaRPr lang="en-US" sz="1200" dirty="0"/>
          </a:p>
        </p:txBody>
      </p:sp>
      <p:sp>
        <p:nvSpPr>
          <p:cNvPr id="13" name="Shape 11"/>
          <p:cNvSpPr/>
          <p:nvPr/>
        </p:nvSpPr>
        <p:spPr>
          <a:xfrm>
            <a:off x="640080" y="4352544"/>
            <a:ext cx="8138160" cy="731520"/>
          </a:xfrm>
          <a:prstGeom prst="roundRect">
            <a:avLst>
              <a:gd name="adj" fmla="val 11250"/>
            </a:avLst>
          </a:prstGeom>
          <a:solidFill>
            <a:srgbClr val="102B23"/>
          </a:solidFill>
          <a:ln w="12700">
            <a:solidFill>
              <a:srgbClr val="17392E"/>
            </a:solidFill>
            <a:prstDash val="solid"/>
          </a:ln>
        </p:spPr>
      </p:sp>
      <p:sp>
        <p:nvSpPr>
          <p:cNvPr id="14" name="Text 12"/>
          <p:cNvSpPr/>
          <p:nvPr/>
        </p:nvSpPr>
        <p:spPr>
          <a:xfrm>
            <a:off x="914400" y="4443984"/>
            <a:ext cx="2103120" cy="274320"/>
          </a:xfrm>
          <a:prstGeom prst="rect">
            <a:avLst/>
          </a:prstGeom>
          <a:noFill/>
          <a:ln/>
        </p:spPr>
        <p:txBody>
          <a:bodyPr wrap="square" lIns="0" tIns="0" rIns="0" bIns="0" rtlCol="0" anchor="ctr"/>
          <a:lstStyle/>
          <a:p>
            <a:pPr indent="0" marL="0">
              <a:buNone/>
            </a:pPr>
            <a:r>
              <a:rPr lang="en-US" sz="1400" b="1" dirty="0">
                <a:solidFill>
                  <a:srgbClr val="D4A937"/>
                </a:solidFill>
                <a:latin typeface="Calibri" pitchFamily="34" charset="0"/>
                <a:ea typeface="Calibri" pitchFamily="34" charset="-122"/>
                <a:cs typeface="Calibri" pitchFamily="34" charset="-120"/>
              </a:rPr>
              <a:t>Authentication vs authorisation</a:t>
            </a:r>
            <a:endParaRPr lang="en-US" sz="1400" dirty="0"/>
          </a:p>
        </p:txBody>
      </p:sp>
      <p:sp>
        <p:nvSpPr>
          <p:cNvPr id="15" name="Text 13"/>
          <p:cNvSpPr/>
          <p:nvPr/>
        </p:nvSpPr>
        <p:spPr>
          <a:xfrm>
            <a:off x="3108960" y="4407408"/>
            <a:ext cx="5486400" cy="621792"/>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Separate middleware. authenticate answers who are you (401); authorize answers may you (403).</a:t>
            </a:r>
            <a:endParaRPr lang="en-US" sz="1200" dirty="0"/>
          </a:p>
        </p:txBody>
      </p:sp>
      <p:sp>
        <p:nvSpPr>
          <p:cNvPr id="16" name="Shape 14"/>
          <p:cNvSpPr/>
          <p:nvPr/>
        </p:nvSpPr>
        <p:spPr>
          <a:xfrm>
            <a:off x="640080" y="5193792"/>
            <a:ext cx="8138160" cy="731520"/>
          </a:xfrm>
          <a:prstGeom prst="roundRect">
            <a:avLst>
              <a:gd name="adj" fmla="val 11250"/>
            </a:avLst>
          </a:prstGeom>
          <a:solidFill>
            <a:srgbClr val="102B23"/>
          </a:solidFill>
          <a:ln w="12700">
            <a:solidFill>
              <a:srgbClr val="17392E"/>
            </a:solidFill>
            <a:prstDash val="solid"/>
          </a:ln>
        </p:spPr>
      </p:sp>
      <p:sp>
        <p:nvSpPr>
          <p:cNvPr id="17" name="Text 15"/>
          <p:cNvSpPr/>
          <p:nvPr/>
        </p:nvSpPr>
        <p:spPr>
          <a:xfrm>
            <a:off x="914400" y="5285232"/>
            <a:ext cx="2103120" cy="274320"/>
          </a:xfrm>
          <a:prstGeom prst="rect">
            <a:avLst/>
          </a:prstGeom>
          <a:noFill/>
          <a:ln/>
        </p:spPr>
        <p:txBody>
          <a:bodyPr wrap="square" lIns="0" tIns="0" rIns="0" bIns="0" rtlCol="0" anchor="ctr"/>
          <a:lstStyle/>
          <a:p>
            <a:pPr indent="0" marL="0">
              <a:buNone/>
            </a:pPr>
            <a:r>
              <a:rPr lang="en-US" sz="1400" b="1" dirty="0">
                <a:solidFill>
                  <a:srgbClr val="D4A937"/>
                </a:solidFill>
                <a:latin typeface="Calibri" pitchFamily="34" charset="0"/>
                <a:ea typeface="Calibri" pitchFamily="34" charset="-122"/>
                <a:cs typeface="Calibri" pitchFamily="34" charset="-120"/>
              </a:rPr>
              <a:t>Ownership</a:t>
            </a:r>
            <a:endParaRPr lang="en-US" sz="1400" dirty="0"/>
          </a:p>
        </p:txBody>
      </p:sp>
      <p:sp>
        <p:nvSpPr>
          <p:cNvPr id="18" name="Text 16"/>
          <p:cNvSpPr/>
          <p:nvPr/>
        </p:nvSpPr>
        <p:spPr>
          <a:xfrm>
            <a:off x="3108960" y="5248656"/>
            <a:ext cx="5486400" cy="621792"/>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Manager handlers additionally assert restaurant.managerId === req.user.id. Cross-venue access returns 404.</a:t>
            </a:r>
            <a:endParaRPr lang="en-US" sz="1200" dirty="0"/>
          </a:p>
        </p:txBody>
      </p:sp>
      <p:sp>
        <p:nvSpPr>
          <p:cNvPr id="19" name="Shape 17"/>
          <p:cNvSpPr/>
          <p:nvPr/>
        </p:nvSpPr>
        <p:spPr>
          <a:xfrm>
            <a:off x="9052560" y="1828800"/>
            <a:ext cx="2468880" cy="4206240"/>
          </a:xfrm>
          <a:prstGeom prst="roundRect">
            <a:avLst>
              <a:gd name="adj" fmla="val 3333"/>
            </a:avLst>
          </a:prstGeom>
          <a:solidFill>
            <a:srgbClr val="17392E"/>
          </a:solidFill>
          <a:ln w="12700">
            <a:solidFill>
              <a:srgbClr val="17392E"/>
            </a:solidFill>
            <a:prstDash val="solid"/>
          </a:ln>
        </p:spPr>
      </p:sp>
      <p:sp>
        <p:nvSpPr>
          <p:cNvPr id="20" name="Text 18"/>
          <p:cNvSpPr/>
          <p:nvPr/>
        </p:nvSpPr>
        <p:spPr>
          <a:xfrm>
            <a:off x="9281160" y="2103120"/>
            <a:ext cx="2011680" cy="640080"/>
          </a:xfrm>
          <a:prstGeom prst="rect">
            <a:avLst/>
          </a:prstGeom>
          <a:noFill/>
          <a:ln/>
        </p:spPr>
        <p:txBody>
          <a:bodyPr wrap="square" lIns="0" tIns="0" rIns="0" bIns="0" rtlCol="0" anchor="ctr"/>
          <a:lstStyle/>
          <a:p>
            <a:pPr indent="0" marL="0">
              <a:buNone/>
            </a:pPr>
            <a:r>
              <a:rPr lang="en-US" sz="1700" b="1" dirty="0">
                <a:solidFill>
                  <a:srgbClr val="A3364F"/>
                </a:solidFill>
                <a:latin typeface="Cambria" pitchFamily="34" charset="0"/>
                <a:ea typeface="Cambria" pitchFamily="34" charset="-122"/>
                <a:cs typeface="Cambria" pitchFamily="34" charset="-120"/>
              </a:rPr>
              <a:t>The client is not a guard</a:t>
            </a:r>
            <a:endParaRPr lang="en-US" sz="1700" dirty="0"/>
          </a:p>
        </p:txBody>
      </p:sp>
      <p:sp>
        <p:nvSpPr>
          <p:cNvPr id="21" name="Text 19"/>
          <p:cNvSpPr/>
          <p:nvPr/>
        </p:nvSpPr>
        <p:spPr>
          <a:xfrm>
            <a:off x="9281160" y="2834640"/>
            <a:ext cx="2011680" cy="1828800"/>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React route guards exist for usability only. The server is the authority and the only thing actually protecting the data.</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800" b="1" dirty="0">
                <a:solidFill>
                  <a:srgbClr val="F5F0E6"/>
                </a:solidFill>
                <a:latin typeface="Cambria" pitchFamily="34" charset="0"/>
                <a:ea typeface="Cambria" pitchFamily="34" charset="-122"/>
                <a:cs typeface="Cambria" pitchFamily="34" charset="-120"/>
              </a:rPr>
              <a:t>Stack, and why</a:t>
            </a:r>
            <a:endParaRPr lang="en-US" sz="3800" dirty="0"/>
          </a:p>
        </p:txBody>
      </p:sp>
      <p:sp>
        <p:nvSpPr>
          <p:cNvPr id="3" name="Text 1"/>
          <p:cNvSpPr/>
          <p:nvPr/>
        </p:nvSpPr>
        <p:spPr>
          <a:xfrm>
            <a:off x="640080" y="1207008"/>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Every choice defensible</a:t>
            </a:r>
            <a:endParaRPr lang="en-US" sz="1400" dirty="0"/>
          </a:p>
        </p:txBody>
      </p:sp>
      <p:sp>
        <p:nvSpPr>
          <p:cNvPr id="4" name="Text 2"/>
          <p:cNvSpPr/>
          <p:nvPr/>
        </p:nvSpPr>
        <p:spPr>
          <a:xfrm>
            <a:off x="640080" y="1828800"/>
            <a:ext cx="3200400" cy="640080"/>
          </a:xfrm>
          <a:prstGeom prst="rect">
            <a:avLst/>
          </a:prstGeom>
          <a:noFill/>
          <a:ln/>
        </p:spPr>
        <p:txBody>
          <a:bodyPr wrap="square" lIns="0" tIns="0" rIns="0" bIns="0" rtlCol="0" anchor="ctr"/>
          <a:lstStyle/>
          <a:p>
            <a:pPr indent="0" marL="0">
              <a:buNone/>
            </a:pPr>
            <a:r>
              <a:rPr lang="en-US" sz="1500" b="1" dirty="0">
                <a:solidFill>
                  <a:srgbClr val="D4A937"/>
                </a:solidFill>
                <a:latin typeface="Calibri" pitchFamily="34" charset="0"/>
                <a:ea typeface="Calibri" pitchFamily="34" charset="-122"/>
                <a:cs typeface="Calibri" pitchFamily="34" charset="-120"/>
              </a:rPr>
              <a:t>React 19 + Vite</a:t>
            </a:r>
            <a:endParaRPr lang="en-US" sz="1500" dirty="0"/>
          </a:p>
        </p:txBody>
      </p:sp>
      <p:sp>
        <p:nvSpPr>
          <p:cNvPr id="5" name="Text 3"/>
          <p:cNvSpPr/>
          <p:nvPr/>
        </p:nvSpPr>
        <p:spPr>
          <a:xfrm>
            <a:off x="4023360" y="1828800"/>
            <a:ext cx="7498080" cy="640080"/>
          </a:xfrm>
          <a:prstGeom prst="rect">
            <a:avLst/>
          </a:prstGeom>
          <a:noFill/>
          <a:ln/>
        </p:spPr>
        <p:txBody>
          <a:bodyPr wrap="square" lIns="0" tIns="0" rIns="0" bIns="0" rtlCol="0" anchor="ctr"/>
          <a:lstStyle/>
          <a:p>
            <a:pPr indent="0" marL="0">
              <a:buNone/>
            </a:pPr>
            <a:r>
              <a:rPr lang="en-US" sz="1300" dirty="0">
                <a:solidFill>
                  <a:srgbClr val="F5F0E6"/>
                </a:solidFill>
                <a:latin typeface="Calibri" pitchFamily="34" charset="0"/>
                <a:ea typeface="Calibri" pitchFamily="34" charset="-122"/>
                <a:cs typeface="Calibri" pitchFamily="34" charset="-120"/>
              </a:rPr>
              <a:t>Unit requirement. Vite over CRA — CRA is deprecated and slower.</a:t>
            </a:r>
            <a:endParaRPr lang="en-US" sz="1300" dirty="0"/>
          </a:p>
        </p:txBody>
      </p:sp>
      <p:sp>
        <p:nvSpPr>
          <p:cNvPr id="6" name="Text 4"/>
          <p:cNvSpPr/>
          <p:nvPr/>
        </p:nvSpPr>
        <p:spPr>
          <a:xfrm>
            <a:off x="640080" y="2578608"/>
            <a:ext cx="3200400" cy="640080"/>
          </a:xfrm>
          <a:prstGeom prst="rect">
            <a:avLst/>
          </a:prstGeom>
          <a:noFill/>
          <a:ln/>
        </p:spPr>
        <p:txBody>
          <a:bodyPr wrap="square" lIns="0" tIns="0" rIns="0" bIns="0" rtlCol="0" anchor="ctr"/>
          <a:lstStyle/>
          <a:p>
            <a:pPr indent="0" marL="0">
              <a:buNone/>
            </a:pPr>
            <a:r>
              <a:rPr lang="en-US" sz="1500" b="1" dirty="0">
                <a:solidFill>
                  <a:srgbClr val="D4A937"/>
                </a:solidFill>
                <a:latin typeface="Calibri" pitchFamily="34" charset="0"/>
                <a:ea typeface="Calibri" pitchFamily="34" charset="-122"/>
                <a:cs typeface="Calibri" pitchFamily="34" charset="-120"/>
              </a:rPr>
              <a:t>Context + hooks</a:t>
            </a:r>
            <a:endParaRPr lang="en-US" sz="1500" dirty="0"/>
          </a:p>
        </p:txBody>
      </p:sp>
      <p:sp>
        <p:nvSpPr>
          <p:cNvPr id="7" name="Text 5"/>
          <p:cNvSpPr/>
          <p:nvPr/>
        </p:nvSpPr>
        <p:spPr>
          <a:xfrm>
            <a:off x="4023360" y="2578608"/>
            <a:ext cx="7498080" cy="640080"/>
          </a:xfrm>
          <a:prstGeom prst="rect">
            <a:avLst/>
          </a:prstGeom>
          <a:noFill/>
          <a:ln/>
        </p:spPr>
        <p:txBody>
          <a:bodyPr wrap="square" lIns="0" tIns="0" rIns="0" bIns="0" rtlCol="0" anchor="ctr"/>
          <a:lstStyle/>
          <a:p>
            <a:pPr indent="0" marL="0">
              <a:buNone/>
            </a:pPr>
            <a:r>
              <a:rPr lang="en-US" sz="1300" dirty="0">
                <a:solidFill>
                  <a:srgbClr val="F5F0E6"/>
                </a:solidFill>
                <a:latin typeface="Calibri" pitchFamily="34" charset="0"/>
                <a:ea typeface="Calibri" pitchFamily="34" charset="-122"/>
                <a:cs typeface="Calibri" pitchFamily="34" charset="-120"/>
              </a:rPr>
              <a:t>Auth and toasts are the only genuinely global state. Redux would be ceremony for two values.</a:t>
            </a:r>
            <a:endParaRPr lang="en-US" sz="1300" dirty="0"/>
          </a:p>
        </p:txBody>
      </p:sp>
      <p:sp>
        <p:nvSpPr>
          <p:cNvPr id="8" name="Text 6"/>
          <p:cNvSpPr/>
          <p:nvPr/>
        </p:nvSpPr>
        <p:spPr>
          <a:xfrm>
            <a:off x="640080" y="3328416"/>
            <a:ext cx="3200400" cy="640080"/>
          </a:xfrm>
          <a:prstGeom prst="rect">
            <a:avLst/>
          </a:prstGeom>
          <a:noFill/>
          <a:ln/>
        </p:spPr>
        <p:txBody>
          <a:bodyPr wrap="square" lIns="0" tIns="0" rIns="0" bIns="0" rtlCol="0" anchor="ctr"/>
          <a:lstStyle/>
          <a:p>
            <a:pPr indent="0" marL="0">
              <a:buNone/>
            </a:pPr>
            <a:r>
              <a:rPr lang="en-US" sz="1500" b="1" dirty="0">
                <a:solidFill>
                  <a:srgbClr val="D4A937"/>
                </a:solidFill>
                <a:latin typeface="Calibri" pitchFamily="34" charset="0"/>
                <a:ea typeface="Calibri" pitchFamily="34" charset="-122"/>
                <a:cs typeface="Calibri" pitchFamily="34" charset="-120"/>
              </a:rPr>
              <a:t>Node.js + Express 5</a:t>
            </a:r>
            <a:endParaRPr lang="en-US" sz="1500" dirty="0"/>
          </a:p>
        </p:txBody>
      </p:sp>
      <p:sp>
        <p:nvSpPr>
          <p:cNvPr id="9" name="Text 7"/>
          <p:cNvSpPr/>
          <p:nvPr/>
        </p:nvSpPr>
        <p:spPr>
          <a:xfrm>
            <a:off x="4023360" y="3328416"/>
            <a:ext cx="7498080" cy="640080"/>
          </a:xfrm>
          <a:prstGeom prst="rect">
            <a:avLst/>
          </a:prstGeom>
          <a:noFill/>
          <a:ln/>
        </p:spPr>
        <p:txBody>
          <a:bodyPr wrap="square" lIns="0" tIns="0" rIns="0" bIns="0" rtlCol="0" anchor="ctr"/>
          <a:lstStyle/>
          <a:p>
            <a:pPr indent="0" marL="0">
              <a:buNone/>
            </a:pPr>
            <a:r>
              <a:rPr lang="en-US" sz="1300" dirty="0">
                <a:solidFill>
                  <a:srgbClr val="F5F0E6"/>
                </a:solidFill>
                <a:latin typeface="Calibri" pitchFamily="34" charset="0"/>
                <a:ea typeface="Calibri" pitchFamily="34" charset="-122"/>
                <a:cs typeface="Calibri" pitchFamily="34" charset="-120"/>
              </a:rPr>
              <a:t>Unit requirement. Serves both the API and the built React app from one process.</a:t>
            </a:r>
            <a:endParaRPr lang="en-US" sz="1300" dirty="0"/>
          </a:p>
        </p:txBody>
      </p:sp>
      <p:sp>
        <p:nvSpPr>
          <p:cNvPr id="10" name="Text 8"/>
          <p:cNvSpPr/>
          <p:nvPr/>
        </p:nvSpPr>
        <p:spPr>
          <a:xfrm>
            <a:off x="640080" y="4078224"/>
            <a:ext cx="3200400" cy="640080"/>
          </a:xfrm>
          <a:prstGeom prst="rect">
            <a:avLst/>
          </a:prstGeom>
          <a:noFill/>
          <a:ln/>
        </p:spPr>
        <p:txBody>
          <a:bodyPr wrap="square" lIns="0" tIns="0" rIns="0" bIns="0" rtlCol="0" anchor="ctr"/>
          <a:lstStyle/>
          <a:p>
            <a:pPr indent="0" marL="0">
              <a:buNone/>
            </a:pPr>
            <a:r>
              <a:rPr lang="en-US" sz="1500" b="1" dirty="0">
                <a:solidFill>
                  <a:srgbClr val="D4A937"/>
                </a:solidFill>
                <a:latin typeface="Calibri" pitchFamily="34" charset="0"/>
                <a:ea typeface="Calibri" pitchFamily="34" charset="-122"/>
                <a:cs typeface="Calibri" pitchFamily="34" charset="-120"/>
              </a:rPr>
              <a:t>Prisma ORM</a:t>
            </a:r>
            <a:endParaRPr lang="en-US" sz="1500" dirty="0"/>
          </a:p>
        </p:txBody>
      </p:sp>
      <p:sp>
        <p:nvSpPr>
          <p:cNvPr id="11" name="Text 9"/>
          <p:cNvSpPr/>
          <p:nvPr/>
        </p:nvSpPr>
        <p:spPr>
          <a:xfrm>
            <a:off x="4023360" y="4078224"/>
            <a:ext cx="7498080" cy="640080"/>
          </a:xfrm>
          <a:prstGeom prst="rect">
            <a:avLst/>
          </a:prstGeom>
          <a:noFill/>
          <a:ln/>
        </p:spPr>
        <p:txBody>
          <a:bodyPr wrap="square" lIns="0" tIns="0" rIns="0" bIns="0" rtlCol="0" anchor="ctr"/>
          <a:lstStyle/>
          <a:p>
            <a:pPr indent="0" marL="0">
              <a:buNone/>
            </a:pPr>
            <a:r>
              <a:rPr lang="en-US" sz="1300" dirty="0">
                <a:solidFill>
                  <a:srgbClr val="F5F0E6"/>
                </a:solidFill>
                <a:latin typeface="Calibri" pitchFamily="34" charset="0"/>
                <a:ea typeface="Calibri" pitchFamily="34" charset="-122"/>
                <a:cs typeface="Calibri" pitchFamily="34" charset="-120"/>
              </a:rPr>
              <a:t>Typed client, migrations in version control, portable across SQLite and PostgreSQL.</a:t>
            </a:r>
            <a:endParaRPr lang="en-US" sz="1300" dirty="0"/>
          </a:p>
        </p:txBody>
      </p:sp>
      <p:sp>
        <p:nvSpPr>
          <p:cNvPr id="12" name="Text 10"/>
          <p:cNvSpPr/>
          <p:nvPr/>
        </p:nvSpPr>
        <p:spPr>
          <a:xfrm>
            <a:off x="640080" y="4828032"/>
            <a:ext cx="3200400" cy="640080"/>
          </a:xfrm>
          <a:prstGeom prst="rect">
            <a:avLst/>
          </a:prstGeom>
          <a:noFill/>
          <a:ln/>
        </p:spPr>
        <p:txBody>
          <a:bodyPr wrap="square" lIns="0" tIns="0" rIns="0" bIns="0" rtlCol="0" anchor="ctr"/>
          <a:lstStyle/>
          <a:p>
            <a:pPr indent="0" marL="0">
              <a:buNone/>
            </a:pPr>
            <a:r>
              <a:rPr lang="en-US" sz="1500" b="1" dirty="0">
                <a:solidFill>
                  <a:srgbClr val="D4A937"/>
                </a:solidFill>
                <a:latin typeface="Calibri" pitchFamily="34" charset="0"/>
                <a:ea typeface="Calibri" pitchFamily="34" charset="-122"/>
                <a:cs typeface="Calibri" pitchFamily="34" charset="-120"/>
              </a:rPr>
              <a:t>SQLite → PostgreSQL</a:t>
            </a:r>
            <a:endParaRPr lang="en-US" sz="1500" dirty="0"/>
          </a:p>
        </p:txBody>
      </p:sp>
      <p:sp>
        <p:nvSpPr>
          <p:cNvPr id="13" name="Text 11"/>
          <p:cNvSpPr/>
          <p:nvPr/>
        </p:nvSpPr>
        <p:spPr>
          <a:xfrm>
            <a:off x="4023360" y="4828032"/>
            <a:ext cx="7498080" cy="640080"/>
          </a:xfrm>
          <a:prstGeom prst="rect">
            <a:avLst/>
          </a:prstGeom>
          <a:noFill/>
          <a:ln/>
        </p:spPr>
        <p:txBody>
          <a:bodyPr wrap="square" lIns="0" tIns="0" rIns="0" bIns="0" rtlCol="0" anchor="ctr"/>
          <a:lstStyle/>
          <a:p>
            <a:pPr indent="0" marL="0">
              <a:buNone/>
            </a:pPr>
            <a:r>
              <a:rPr lang="en-US" sz="1300" dirty="0">
                <a:solidFill>
                  <a:srgbClr val="F5F0E6"/>
                </a:solidFill>
                <a:latin typeface="Calibri" pitchFamily="34" charset="0"/>
                <a:ea typeface="Calibri" pitchFamily="34" charset="-122"/>
                <a:cs typeface="Calibri" pitchFamily="34" charset="-120"/>
              </a:rPr>
              <a:t>Availability is a join across restaurant, table and reservation. A document store would push those joins into application code.</a:t>
            </a:r>
            <a:endParaRPr lang="en-US" sz="1300" dirty="0"/>
          </a:p>
        </p:txBody>
      </p:sp>
      <p:sp>
        <p:nvSpPr>
          <p:cNvPr id="14" name="Shape 12"/>
          <p:cNvSpPr/>
          <p:nvPr/>
        </p:nvSpPr>
        <p:spPr>
          <a:xfrm>
            <a:off x="640080" y="5577840"/>
            <a:ext cx="10881360" cy="914400"/>
          </a:xfrm>
          <a:prstGeom prst="roundRect">
            <a:avLst>
              <a:gd name="adj" fmla="val 9000"/>
            </a:avLst>
          </a:prstGeom>
          <a:solidFill>
            <a:srgbClr val="17392E"/>
          </a:solidFill>
          <a:ln w="12700">
            <a:solidFill>
              <a:srgbClr val="17392E"/>
            </a:solidFill>
            <a:prstDash val="solid"/>
          </a:ln>
        </p:spPr>
      </p:sp>
      <p:sp>
        <p:nvSpPr>
          <p:cNvPr id="15" name="Text 13"/>
          <p:cNvSpPr/>
          <p:nvPr/>
        </p:nvSpPr>
        <p:spPr>
          <a:xfrm>
            <a:off x="914400" y="5715000"/>
            <a:ext cx="10332720" cy="685800"/>
          </a:xfrm>
          <a:prstGeom prst="rect">
            <a:avLst/>
          </a:prstGeom>
          <a:noFill/>
          <a:ln/>
        </p:spPr>
        <p:txBody>
          <a:bodyPr wrap="square" lIns="0" tIns="0" rIns="0" bIns="0" rtlCol="0" anchor="ctr"/>
          <a:lstStyle/>
          <a:p>
            <a:pPr indent="0" marL="0">
              <a:buNone/>
            </a:pPr>
            <a:r>
              <a:rPr lang="en-US" sz="1250" i="1" dirty="0">
                <a:solidFill>
                  <a:srgbClr val="F5F0E6"/>
                </a:solidFill>
                <a:latin typeface="Calibri" pitchFamily="34" charset="0"/>
                <a:ea typeface="Calibri" pitchFamily="34" charset="-122"/>
                <a:cs typeface="Calibri" pitchFamily="34" charset="-120"/>
              </a:rPr>
              <a:t>The brief asks for a "Django ORM" on a Node back end. Django's ORM is a Python component and cannot run on Node — so I read the requirement by intent (persistence through an ORM, not hand-written SQL) and used Prisma. The deviation is documented in the report, the spec and the README.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30907"/>
        </a:solidFill>
      </p:bgPr>
    </p:bg>
    <p:spTree>
      <p:nvGrpSpPr>
        <p:cNvPr id="1" name=""/>
        <p:cNvGrpSpPr/>
        <p:nvPr/>
      </p:nvGrpSpPr>
      <p:grpSpPr>
        <a:xfrm>
          <a:off x="0" y="0"/>
          <a:ext cx="0" cy="0"/>
          <a:chOff x="0" y="0"/>
          <a:chExt cx="0" cy="0"/>
        </a:xfrm>
      </p:grpSpPr>
      <p:sp>
        <p:nvSpPr>
          <p:cNvPr id="2" name="Text 0"/>
          <p:cNvSpPr/>
          <p:nvPr/>
        </p:nvSpPr>
        <p:spPr>
          <a:xfrm>
            <a:off x="640080" y="640080"/>
            <a:ext cx="10881360" cy="822960"/>
          </a:xfrm>
          <a:prstGeom prst="rect">
            <a:avLst/>
          </a:prstGeom>
          <a:noFill/>
          <a:ln/>
        </p:spPr>
        <p:txBody>
          <a:bodyPr wrap="square" lIns="0" tIns="0" rIns="0" bIns="0" rtlCol="0" anchor="ctr"/>
          <a:lstStyle/>
          <a:p>
            <a:pPr indent="0" marL="0">
              <a:buNone/>
            </a:pPr>
            <a:r>
              <a:rPr lang="en-US" sz="4200" b="1" dirty="0">
                <a:solidFill>
                  <a:srgbClr val="D4A937"/>
                </a:solidFill>
                <a:latin typeface="Cambria" pitchFamily="34" charset="0"/>
                <a:ea typeface="Cambria" pitchFamily="34" charset="-122"/>
                <a:cs typeface="Cambria" pitchFamily="34" charset="-120"/>
              </a:rPr>
              <a:t>Live demonstration</a:t>
            </a:r>
            <a:endParaRPr lang="en-US" sz="4200" dirty="0"/>
          </a:p>
        </p:txBody>
      </p:sp>
      <p:sp>
        <p:nvSpPr>
          <p:cNvPr id="3" name="Text 1"/>
          <p:cNvSpPr/>
          <p:nvPr/>
        </p:nvSpPr>
        <p:spPr>
          <a:xfrm>
            <a:off x="640080" y="1463040"/>
            <a:ext cx="10881360" cy="365760"/>
          </a:xfrm>
          <a:prstGeom prst="rect">
            <a:avLst/>
          </a:prstGeom>
          <a:noFill/>
          <a:ln/>
        </p:spPr>
        <p:txBody>
          <a:bodyPr wrap="square" lIns="0" tIns="0" rIns="0" bIns="0" rtlCol="0" anchor="ctr"/>
          <a:lstStyle/>
          <a:p>
            <a:pPr indent="0" marL="0">
              <a:buNone/>
            </a:pPr>
            <a:r>
              <a:rPr lang="en-US" sz="1500" dirty="0">
                <a:solidFill>
                  <a:srgbClr val="97B0A2"/>
                </a:solidFill>
                <a:latin typeface="Courier New" pitchFamily="34" charset="0"/>
                <a:ea typeface="Courier New" pitchFamily="34" charset="-122"/>
                <a:cs typeface="Courier New" pitchFamily="34" charset="-120"/>
              </a:rPr>
              <a:t>npm start  —  one server, one port, localhost:4000</a:t>
            </a:r>
            <a:endParaRPr lang="en-US" sz="1500" dirty="0"/>
          </a:p>
        </p:txBody>
      </p:sp>
      <p:sp>
        <p:nvSpPr>
          <p:cNvPr id="4" name="Shape 2"/>
          <p:cNvSpPr/>
          <p:nvPr/>
        </p:nvSpPr>
        <p:spPr>
          <a:xfrm>
            <a:off x="640080" y="2148840"/>
            <a:ext cx="420624" cy="420624"/>
          </a:xfrm>
          <a:prstGeom prst="ellipse">
            <a:avLst/>
          </a:prstGeom>
          <a:solidFill>
            <a:srgbClr val="D4A937"/>
          </a:solidFill>
          <a:ln/>
        </p:spPr>
      </p:sp>
      <p:sp>
        <p:nvSpPr>
          <p:cNvPr id="5" name="Text 3"/>
          <p:cNvSpPr/>
          <p:nvPr/>
        </p:nvSpPr>
        <p:spPr>
          <a:xfrm>
            <a:off x="640080" y="2148840"/>
            <a:ext cx="420624" cy="420624"/>
          </a:xfrm>
          <a:prstGeom prst="rect">
            <a:avLst/>
          </a:prstGeom>
          <a:noFill/>
          <a:ln/>
        </p:spPr>
        <p:txBody>
          <a:bodyPr wrap="square" lIns="0" tIns="0" rIns="0" bIns="0" rtlCol="0" anchor="ctr"/>
          <a:lstStyle/>
          <a:p>
            <a:pPr algn="ctr" indent="0" marL="0">
              <a:buNone/>
            </a:pPr>
            <a:r>
              <a:rPr lang="en-US" sz="1500" b="1" dirty="0">
                <a:solidFill>
                  <a:srgbClr val="071310"/>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234440" y="2130552"/>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Search with a date, time and party size — only genuinely bookable venues come back</a:t>
            </a:r>
            <a:endParaRPr lang="en-US" sz="1500" dirty="0"/>
          </a:p>
        </p:txBody>
      </p:sp>
      <p:sp>
        <p:nvSpPr>
          <p:cNvPr id="7" name="Shape 5"/>
          <p:cNvSpPr/>
          <p:nvPr/>
        </p:nvSpPr>
        <p:spPr>
          <a:xfrm>
            <a:off x="640080" y="2807208"/>
            <a:ext cx="420624" cy="420624"/>
          </a:xfrm>
          <a:prstGeom prst="ellipse">
            <a:avLst/>
          </a:prstGeom>
          <a:solidFill>
            <a:srgbClr val="D4A937"/>
          </a:solidFill>
          <a:ln/>
        </p:spPr>
      </p:sp>
      <p:sp>
        <p:nvSpPr>
          <p:cNvPr id="8" name="Text 6"/>
          <p:cNvSpPr/>
          <p:nvPr/>
        </p:nvSpPr>
        <p:spPr>
          <a:xfrm>
            <a:off x="640080" y="2807208"/>
            <a:ext cx="420624" cy="420624"/>
          </a:xfrm>
          <a:prstGeom prst="rect">
            <a:avLst/>
          </a:prstGeom>
          <a:noFill/>
          <a:ln/>
        </p:spPr>
        <p:txBody>
          <a:bodyPr wrap="square" lIns="0" tIns="0" rIns="0" bIns="0" rtlCol="0" anchor="ctr"/>
          <a:lstStyle/>
          <a:p>
            <a:pPr algn="ctr" indent="0" marL="0">
              <a:buNone/>
            </a:pPr>
            <a:r>
              <a:rPr lang="en-US" sz="1500" b="1" dirty="0">
                <a:solidFill>
                  <a:srgbClr val="071310"/>
                </a:solidFill>
                <a:latin typeface="Calibri" pitchFamily="34" charset="0"/>
                <a:ea typeface="Calibri" pitchFamily="34" charset="-122"/>
                <a:cs typeface="Calibri" pitchFamily="34" charset="-120"/>
              </a:rPr>
              <a:t>2</a:t>
            </a:r>
            <a:endParaRPr lang="en-US" sz="1500" dirty="0"/>
          </a:p>
        </p:txBody>
      </p:sp>
      <p:sp>
        <p:nvSpPr>
          <p:cNvPr id="9" name="Text 7"/>
          <p:cNvSpPr/>
          <p:nvPr/>
        </p:nvSpPr>
        <p:spPr>
          <a:xfrm>
            <a:off x="1234440" y="2788920"/>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Open a restaurant, pick a sitting — the 3D floor plan repaints and names the table you will get</a:t>
            </a:r>
            <a:endParaRPr lang="en-US" sz="1500" dirty="0"/>
          </a:p>
        </p:txBody>
      </p:sp>
      <p:sp>
        <p:nvSpPr>
          <p:cNvPr id="10" name="Shape 8"/>
          <p:cNvSpPr/>
          <p:nvPr/>
        </p:nvSpPr>
        <p:spPr>
          <a:xfrm>
            <a:off x="640080" y="3465576"/>
            <a:ext cx="420624" cy="420624"/>
          </a:xfrm>
          <a:prstGeom prst="ellipse">
            <a:avLst/>
          </a:prstGeom>
          <a:solidFill>
            <a:srgbClr val="D4A937"/>
          </a:solidFill>
          <a:ln/>
        </p:spPr>
      </p:sp>
      <p:sp>
        <p:nvSpPr>
          <p:cNvPr id="11" name="Text 9"/>
          <p:cNvSpPr/>
          <p:nvPr/>
        </p:nvSpPr>
        <p:spPr>
          <a:xfrm>
            <a:off x="640080" y="3465576"/>
            <a:ext cx="420624" cy="420624"/>
          </a:xfrm>
          <a:prstGeom prst="rect">
            <a:avLst/>
          </a:prstGeom>
          <a:noFill/>
          <a:ln/>
        </p:spPr>
        <p:txBody>
          <a:bodyPr wrap="square" lIns="0" tIns="0" rIns="0" bIns="0" rtlCol="0" anchor="ctr"/>
          <a:lstStyle/>
          <a:p>
            <a:pPr algn="ctr" indent="0" marL="0">
              <a:buNone/>
            </a:pPr>
            <a:r>
              <a:rPr lang="en-US" sz="1500" b="1" dirty="0">
                <a:solidFill>
                  <a:srgbClr val="071310"/>
                </a:solidFill>
                <a:latin typeface="Calibri" pitchFamily="34" charset="0"/>
                <a:ea typeface="Calibri" pitchFamily="34" charset="-122"/>
                <a:cs typeface="Calibri" pitchFamily="34" charset="-120"/>
              </a:rPr>
              <a:t>3</a:t>
            </a:r>
            <a:endParaRPr lang="en-US" sz="1500" dirty="0"/>
          </a:p>
        </p:txBody>
      </p:sp>
      <p:sp>
        <p:nvSpPr>
          <p:cNvPr id="12" name="Text 10"/>
          <p:cNvSpPr/>
          <p:nvPr/>
        </p:nvSpPr>
        <p:spPr>
          <a:xfrm>
            <a:off x="1234440" y="3447288"/>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Book it — confirmed at exactly that table</a:t>
            </a:r>
            <a:endParaRPr lang="en-US" sz="1500" dirty="0"/>
          </a:p>
        </p:txBody>
      </p:sp>
      <p:sp>
        <p:nvSpPr>
          <p:cNvPr id="13" name="Shape 11"/>
          <p:cNvSpPr/>
          <p:nvPr/>
        </p:nvSpPr>
        <p:spPr>
          <a:xfrm>
            <a:off x="640080" y="4123944"/>
            <a:ext cx="420624" cy="420624"/>
          </a:xfrm>
          <a:prstGeom prst="ellipse">
            <a:avLst/>
          </a:prstGeom>
          <a:solidFill>
            <a:srgbClr val="D4A937"/>
          </a:solidFill>
          <a:ln/>
        </p:spPr>
      </p:sp>
      <p:sp>
        <p:nvSpPr>
          <p:cNvPr id="14" name="Text 12"/>
          <p:cNvSpPr/>
          <p:nvPr/>
        </p:nvSpPr>
        <p:spPr>
          <a:xfrm>
            <a:off x="640080" y="4123944"/>
            <a:ext cx="420624" cy="420624"/>
          </a:xfrm>
          <a:prstGeom prst="rect">
            <a:avLst/>
          </a:prstGeom>
          <a:noFill/>
          <a:ln/>
        </p:spPr>
        <p:txBody>
          <a:bodyPr wrap="square" lIns="0" tIns="0" rIns="0" bIns="0" rtlCol="0" anchor="ctr"/>
          <a:lstStyle/>
          <a:p>
            <a:pPr algn="ctr" indent="0" marL="0">
              <a:buNone/>
            </a:pPr>
            <a:r>
              <a:rPr lang="en-US" sz="1500" b="1" dirty="0">
                <a:solidFill>
                  <a:srgbClr val="071310"/>
                </a:solidFill>
                <a:latin typeface="Calibri" pitchFamily="34" charset="0"/>
                <a:ea typeface="Calibri" pitchFamily="34" charset="-122"/>
                <a:cs typeface="Calibri" pitchFamily="34" charset="-120"/>
              </a:rPr>
              <a:t>4</a:t>
            </a:r>
            <a:endParaRPr lang="en-US" sz="1500" dirty="0"/>
          </a:p>
        </p:txBody>
      </p:sp>
      <p:sp>
        <p:nvSpPr>
          <p:cNvPr id="15" name="Text 13"/>
          <p:cNvSpPr/>
          <p:nvPr/>
        </p:nvSpPr>
        <p:spPr>
          <a:xfrm>
            <a:off x="1234440" y="4105656"/>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Try the same slot again — 409, with the nearest free times offered</a:t>
            </a:r>
            <a:endParaRPr lang="en-US" sz="1500" dirty="0"/>
          </a:p>
        </p:txBody>
      </p:sp>
      <p:sp>
        <p:nvSpPr>
          <p:cNvPr id="16" name="Shape 14"/>
          <p:cNvSpPr/>
          <p:nvPr/>
        </p:nvSpPr>
        <p:spPr>
          <a:xfrm>
            <a:off x="640080" y="4782312"/>
            <a:ext cx="420624" cy="420624"/>
          </a:xfrm>
          <a:prstGeom prst="ellipse">
            <a:avLst/>
          </a:prstGeom>
          <a:solidFill>
            <a:srgbClr val="D4A937"/>
          </a:solidFill>
          <a:ln/>
        </p:spPr>
      </p:sp>
      <p:sp>
        <p:nvSpPr>
          <p:cNvPr id="17" name="Text 15"/>
          <p:cNvSpPr/>
          <p:nvPr/>
        </p:nvSpPr>
        <p:spPr>
          <a:xfrm>
            <a:off x="640080" y="4782312"/>
            <a:ext cx="420624" cy="420624"/>
          </a:xfrm>
          <a:prstGeom prst="rect">
            <a:avLst/>
          </a:prstGeom>
          <a:noFill/>
          <a:ln/>
        </p:spPr>
        <p:txBody>
          <a:bodyPr wrap="square" lIns="0" tIns="0" rIns="0" bIns="0" rtlCol="0" anchor="ctr"/>
          <a:lstStyle/>
          <a:p>
            <a:pPr algn="ctr" indent="0" marL="0">
              <a:buNone/>
            </a:pPr>
            <a:r>
              <a:rPr lang="en-US" sz="1500" b="1" dirty="0">
                <a:solidFill>
                  <a:srgbClr val="071310"/>
                </a:solidFill>
                <a:latin typeface="Calibri" pitchFamily="34" charset="0"/>
                <a:ea typeface="Calibri" pitchFamily="34" charset="-122"/>
                <a:cs typeface="Calibri" pitchFamily="34" charset="-120"/>
              </a:rPr>
              <a:t>5</a:t>
            </a:r>
            <a:endParaRPr lang="en-US" sz="1500" dirty="0"/>
          </a:p>
        </p:txBody>
      </p:sp>
      <p:sp>
        <p:nvSpPr>
          <p:cNvPr id="18" name="Text 16"/>
          <p:cNvSpPr/>
          <p:nvPr/>
        </p:nvSpPr>
        <p:spPr>
          <a:xfrm>
            <a:off x="1234440" y="4764024"/>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Sign in as a second manager — 404 on the other venue, not 403</a:t>
            </a:r>
            <a:endParaRPr lang="en-US" sz="1500" dirty="0"/>
          </a:p>
        </p:txBody>
      </p:sp>
      <p:sp>
        <p:nvSpPr>
          <p:cNvPr id="19" name="Shape 17"/>
          <p:cNvSpPr/>
          <p:nvPr/>
        </p:nvSpPr>
        <p:spPr>
          <a:xfrm>
            <a:off x="640080" y="5440680"/>
            <a:ext cx="420624" cy="420624"/>
          </a:xfrm>
          <a:prstGeom prst="ellipse">
            <a:avLst/>
          </a:prstGeom>
          <a:solidFill>
            <a:srgbClr val="D4A937"/>
          </a:solidFill>
          <a:ln/>
        </p:spPr>
      </p:sp>
      <p:sp>
        <p:nvSpPr>
          <p:cNvPr id="20" name="Text 18"/>
          <p:cNvSpPr/>
          <p:nvPr/>
        </p:nvSpPr>
        <p:spPr>
          <a:xfrm>
            <a:off x="640080" y="5440680"/>
            <a:ext cx="420624" cy="420624"/>
          </a:xfrm>
          <a:prstGeom prst="rect">
            <a:avLst/>
          </a:prstGeom>
          <a:noFill/>
          <a:ln/>
        </p:spPr>
        <p:txBody>
          <a:bodyPr wrap="square" lIns="0" tIns="0" rIns="0" bIns="0" rtlCol="0" anchor="ctr"/>
          <a:lstStyle/>
          <a:p>
            <a:pPr algn="ctr" indent="0" marL="0">
              <a:buNone/>
            </a:pPr>
            <a:r>
              <a:rPr lang="en-US" sz="1500" b="1" dirty="0">
                <a:solidFill>
                  <a:srgbClr val="071310"/>
                </a:solidFill>
                <a:latin typeface="Calibri" pitchFamily="34" charset="0"/>
                <a:ea typeface="Calibri" pitchFamily="34" charset="-122"/>
                <a:cs typeface="Calibri" pitchFamily="34" charset="-120"/>
              </a:rPr>
              <a:t>6</a:t>
            </a:r>
            <a:endParaRPr lang="en-US" sz="1500" dirty="0"/>
          </a:p>
        </p:txBody>
      </p:sp>
      <p:sp>
        <p:nvSpPr>
          <p:cNvPr id="21" name="Text 19"/>
          <p:cNvSpPr/>
          <p:nvPr/>
        </p:nvSpPr>
        <p:spPr>
          <a:xfrm>
            <a:off x="1234440" y="5422392"/>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npm test — 65 tests, including two concurrent bookings for the last table</a:t>
            </a:r>
            <a:endParaRPr lang="en-US" sz="1500" dirty="0"/>
          </a:p>
        </p:txBody>
      </p:sp>
      <p:sp>
        <p:nvSpPr>
          <p:cNvPr id="22" name="Text 20"/>
          <p:cNvSpPr/>
          <p:nvPr/>
        </p:nvSpPr>
        <p:spPr>
          <a:xfrm>
            <a:off x="640080" y="6217920"/>
            <a:ext cx="10881360" cy="365760"/>
          </a:xfrm>
          <a:prstGeom prst="rect">
            <a:avLst/>
          </a:prstGeom>
          <a:noFill/>
          <a:ln/>
        </p:spPr>
        <p:txBody>
          <a:bodyPr wrap="square" lIns="0" tIns="0" rIns="0" bIns="0" rtlCol="0" anchor="ctr"/>
          <a:lstStyle/>
          <a:p>
            <a:pPr indent="0" marL="0">
              <a:buNone/>
            </a:pPr>
            <a:r>
              <a:rPr lang="en-US" sz="1300" i="1" dirty="0">
                <a:solidFill>
                  <a:srgbClr val="62796E"/>
                </a:solidFill>
                <a:latin typeface="Calibri" pitchFamily="34" charset="0"/>
                <a:ea typeface="Calibri" pitchFamily="34" charset="-122"/>
                <a:cs typeface="Calibri" pitchFamily="34" charset="-120"/>
              </a:rPr>
              <a:t>Roughly 12 minutes — the largest single block of the session.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800" b="1" dirty="0">
                <a:solidFill>
                  <a:srgbClr val="F5F0E6"/>
                </a:solidFill>
                <a:latin typeface="Cambria" pitchFamily="34" charset="0"/>
                <a:ea typeface="Cambria" pitchFamily="34" charset="-122"/>
                <a:cs typeface="Cambria" pitchFamily="34" charset="-120"/>
              </a:rPr>
              <a:t>Testing</a:t>
            </a:r>
            <a:endParaRPr lang="en-US" sz="3800" dirty="0"/>
          </a:p>
        </p:txBody>
      </p:sp>
      <p:sp>
        <p:nvSpPr>
          <p:cNvPr id="3" name="Text 1"/>
          <p:cNvSpPr/>
          <p:nvPr/>
        </p:nvSpPr>
        <p:spPr>
          <a:xfrm>
            <a:off x="640080" y="1207008"/>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65 tests — the ones that would be invisible in a demo but wrong in production</a:t>
            </a:r>
            <a:endParaRPr lang="en-US" sz="1400" dirty="0"/>
          </a:p>
        </p:txBody>
      </p:sp>
      <p:graphicFrame>
        <p:nvGraphicFramePr>
          <p:cNvPr id="4" name="Chart 0" descr=""/>
          <p:cNvGraphicFramePr/>
          <p:nvPr/>
        </p:nvGraphicFramePr>
        <p:xfrm>
          <a:off x="640080" y="1920240"/>
          <a:ext cx="420624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212080" y="1920240"/>
            <a:ext cx="6309360" cy="566928"/>
          </a:xfrm>
          <a:prstGeom prst="roundRect">
            <a:avLst>
              <a:gd name="adj" fmla="val 14516"/>
            </a:avLst>
          </a:prstGeom>
          <a:solidFill>
            <a:srgbClr val="102B23"/>
          </a:solidFill>
          <a:ln w="12700">
            <a:solidFill>
              <a:srgbClr val="17392E"/>
            </a:solidFill>
            <a:prstDash val="solid"/>
          </a:ln>
        </p:spPr>
      </p:sp>
      <p:sp>
        <p:nvSpPr>
          <p:cNvPr id="6" name="Text 3"/>
          <p:cNvSpPr/>
          <p:nvPr/>
        </p:nvSpPr>
        <p:spPr>
          <a:xfrm>
            <a:off x="5440680" y="1965960"/>
            <a:ext cx="1828800" cy="475488"/>
          </a:xfrm>
          <a:prstGeom prst="rect">
            <a:avLst/>
          </a:prstGeom>
          <a:noFill/>
          <a:ln/>
        </p:spPr>
        <p:txBody>
          <a:bodyPr wrap="square" lIns="0" tIns="0" rIns="0" bIns="0" rtlCol="0" anchor="ctr"/>
          <a:lstStyle/>
          <a:p>
            <a:pPr indent="0" marL="0">
              <a:buNone/>
            </a:pPr>
            <a:r>
              <a:rPr lang="en-US" sz="1300" b="1" dirty="0">
                <a:solidFill>
                  <a:srgbClr val="D4A937"/>
                </a:solidFill>
                <a:latin typeface="Calibri" pitchFamily="34" charset="0"/>
                <a:ea typeface="Calibri" pitchFamily="34" charset="-122"/>
                <a:cs typeface="Calibri" pitchFamily="34" charset="-120"/>
              </a:rPr>
              <a:t>Boundary times</a:t>
            </a:r>
            <a:endParaRPr lang="en-US" sz="1300" dirty="0"/>
          </a:p>
        </p:txBody>
      </p:sp>
      <p:sp>
        <p:nvSpPr>
          <p:cNvPr id="7" name="Text 4"/>
          <p:cNvSpPr/>
          <p:nvPr/>
        </p:nvSpPr>
        <p:spPr>
          <a:xfrm>
            <a:off x="7315200" y="1965960"/>
            <a:ext cx="4023360" cy="475488"/>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Back-to-back bookings at the exact same instant</a:t>
            </a:r>
            <a:endParaRPr lang="en-US" sz="1200" dirty="0"/>
          </a:p>
        </p:txBody>
      </p:sp>
      <p:sp>
        <p:nvSpPr>
          <p:cNvPr id="8" name="Shape 5"/>
          <p:cNvSpPr/>
          <p:nvPr/>
        </p:nvSpPr>
        <p:spPr>
          <a:xfrm>
            <a:off x="5212080" y="2578608"/>
            <a:ext cx="6309360" cy="566928"/>
          </a:xfrm>
          <a:prstGeom prst="roundRect">
            <a:avLst>
              <a:gd name="adj" fmla="val 14516"/>
            </a:avLst>
          </a:prstGeom>
          <a:solidFill>
            <a:srgbClr val="102B23"/>
          </a:solidFill>
          <a:ln w="12700">
            <a:solidFill>
              <a:srgbClr val="17392E"/>
            </a:solidFill>
            <a:prstDash val="solid"/>
          </a:ln>
        </p:spPr>
      </p:sp>
      <p:sp>
        <p:nvSpPr>
          <p:cNvPr id="9" name="Text 6"/>
          <p:cNvSpPr/>
          <p:nvPr/>
        </p:nvSpPr>
        <p:spPr>
          <a:xfrm>
            <a:off x="5440680" y="2624328"/>
            <a:ext cx="1828800" cy="475488"/>
          </a:xfrm>
          <a:prstGeom prst="rect">
            <a:avLst/>
          </a:prstGeom>
          <a:noFill/>
          <a:ln/>
        </p:spPr>
        <p:txBody>
          <a:bodyPr wrap="square" lIns="0" tIns="0" rIns="0" bIns="0" rtlCol="0" anchor="ctr"/>
          <a:lstStyle/>
          <a:p>
            <a:pPr indent="0" marL="0">
              <a:buNone/>
            </a:pPr>
            <a:r>
              <a:rPr lang="en-US" sz="1300" b="1" dirty="0">
                <a:solidFill>
                  <a:srgbClr val="D4A937"/>
                </a:solidFill>
                <a:latin typeface="Calibri" pitchFamily="34" charset="0"/>
                <a:ea typeface="Calibri" pitchFamily="34" charset="-122"/>
                <a:cs typeface="Calibri" pitchFamily="34" charset="-120"/>
              </a:rPr>
              <a:t>Released tables</a:t>
            </a:r>
            <a:endParaRPr lang="en-US" sz="1300" dirty="0"/>
          </a:p>
        </p:txBody>
      </p:sp>
      <p:sp>
        <p:nvSpPr>
          <p:cNvPr id="10" name="Text 7"/>
          <p:cNvSpPr/>
          <p:nvPr/>
        </p:nvSpPr>
        <p:spPr>
          <a:xfrm>
            <a:off x="7315200" y="2624328"/>
            <a:ext cx="4023360" cy="475488"/>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A cancelled booking frees its table for the next caller</a:t>
            </a:r>
            <a:endParaRPr lang="en-US" sz="1200" dirty="0"/>
          </a:p>
        </p:txBody>
      </p:sp>
      <p:sp>
        <p:nvSpPr>
          <p:cNvPr id="11" name="Shape 8"/>
          <p:cNvSpPr/>
          <p:nvPr/>
        </p:nvSpPr>
        <p:spPr>
          <a:xfrm>
            <a:off x="5212080" y="3236976"/>
            <a:ext cx="6309360" cy="566928"/>
          </a:xfrm>
          <a:prstGeom prst="roundRect">
            <a:avLst>
              <a:gd name="adj" fmla="val 14516"/>
            </a:avLst>
          </a:prstGeom>
          <a:solidFill>
            <a:srgbClr val="102B23"/>
          </a:solidFill>
          <a:ln w="12700">
            <a:solidFill>
              <a:srgbClr val="17392E"/>
            </a:solidFill>
            <a:prstDash val="solid"/>
          </a:ln>
        </p:spPr>
      </p:sp>
      <p:sp>
        <p:nvSpPr>
          <p:cNvPr id="12" name="Text 9"/>
          <p:cNvSpPr/>
          <p:nvPr/>
        </p:nvSpPr>
        <p:spPr>
          <a:xfrm>
            <a:off x="5440680" y="3282696"/>
            <a:ext cx="1828800" cy="475488"/>
          </a:xfrm>
          <a:prstGeom prst="rect">
            <a:avLst/>
          </a:prstGeom>
          <a:noFill/>
          <a:ln/>
        </p:spPr>
        <p:txBody>
          <a:bodyPr wrap="square" lIns="0" tIns="0" rIns="0" bIns="0" rtlCol="0" anchor="ctr"/>
          <a:lstStyle/>
          <a:p>
            <a:pPr indent="0" marL="0">
              <a:buNone/>
            </a:pPr>
            <a:r>
              <a:rPr lang="en-US" sz="1300" b="1" dirty="0">
                <a:solidFill>
                  <a:srgbClr val="D4A937"/>
                </a:solidFill>
                <a:latin typeface="Calibri" pitchFamily="34" charset="0"/>
                <a:ea typeface="Calibri" pitchFamily="34" charset="-122"/>
                <a:cs typeface="Calibri" pitchFamily="34" charset="-120"/>
              </a:rPr>
              <a:t>Past midnight</a:t>
            </a:r>
            <a:endParaRPr lang="en-US" sz="1300" dirty="0"/>
          </a:p>
        </p:txBody>
      </p:sp>
      <p:sp>
        <p:nvSpPr>
          <p:cNvPr id="13" name="Text 10"/>
          <p:cNvSpPr/>
          <p:nvPr/>
        </p:nvSpPr>
        <p:spPr>
          <a:xfrm>
            <a:off x="7315200" y="3282696"/>
            <a:ext cx="4023360" cy="475488"/>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Service running 18:00–01:00 defeats naive comparison</a:t>
            </a:r>
            <a:endParaRPr lang="en-US" sz="1200" dirty="0"/>
          </a:p>
        </p:txBody>
      </p:sp>
      <p:sp>
        <p:nvSpPr>
          <p:cNvPr id="14" name="Shape 11"/>
          <p:cNvSpPr/>
          <p:nvPr/>
        </p:nvSpPr>
        <p:spPr>
          <a:xfrm>
            <a:off x="5212080" y="3895344"/>
            <a:ext cx="6309360" cy="566928"/>
          </a:xfrm>
          <a:prstGeom prst="roundRect">
            <a:avLst>
              <a:gd name="adj" fmla="val 14516"/>
            </a:avLst>
          </a:prstGeom>
          <a:solidFill>
            <a:srgbClr val="102B23"/>
          </a:solidFill>
          <a:ln w="12700">
            <a:solidFill>
              <a:srgbClr val="17392E"/>
            </a:solidFill>
            <a:prstDash val="solid"/>
          </a:ln>
        </p:spPr>
      </p:sp>
      <p:sp>
        <p:nvSpPr>
          <p:cNvPr id="15" name="Text 12"/>
          <p:cNvSpPr/>
          <p:nvPr/>
        </p:nvSpPr>
        <p:spPr>
          <a:xfrm>
            <a:off x="5440680" y="3941064"/>
            <a:ext cx="1828800" cy="475488"/>
          </a:xfrm>
          <a:prstGeom prst="rect">
            <a:avLst/>
          </a:prstGeom>
          <a:noFill/>
          <a:ln/>
        </p:spPr>
        <p:txBody>
          <a:bodyPr wrap="square" lIns="0" tIns="0" rIns="0" bIns="0" rtlCol="0" anchor="ctr"/>
          <a:lstStyle/>
          <a:p>
            <a:pPr indent="0" marL="0">
              <a:buNone/>
            </a:pPr>
            <a:r>
              <a:rPr lang="en-US" sz="1300" b="1" dirty="0">
                <a:solidFill>
                  <a:srgbClr val="D4A937"/>
                </a:solidFill>
                <a:latin typeface="Calibri" pitchFamily="34" charset="0"/>
                <a:ea typeface="Calibri" pitchFamily="34" charset="-122"/>
                <a:cs typeface="Calibri" pitchFamily="34" charset="-120"/>
              </a:rPr>
              <a:t>Concurrency</a:t>
            </a:r>
            <a:endParaRPr lang="en-US" sz="1300" dirty="0"/>
          </a:p>
        </p:txBody>
      </p:sp>
      <p:sp>
        <p:nvSpPr>
          <p:cNvPr id="16" name="Text 13"/>
          <p:cNvSpPr/>
          <p:nvPr/>
        </p:nvSpPr>
        <p:spPr>
          <a:xfrm>
            <a:off x="7315200" y="3941064"/>
            <a:ext cx="4023360" cy="475488"/>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Two simultaneous requests for the last table — one wins</a:t>
            </a:r>
            <a:endParaRPr lang="en-US" sz="1200" dirty="0"/>
          </a:p>
        </p:txBody>
      </p:sp>
      <p:sp>
        <p:nvSpPr>
          <p:cNvPr id="17" name="Shape 14"/>
          <p:cNvSpPr/>
          <p:nvPr/>
        </p:nvSpPr>
        <p:spPr>
          <a:xfrm>
            <a:off x="5212080" y="4553712"/>
            <a:ext cx="6309360" cy="566928"/>
          </a:xfrm>
          <a:prstGeom prst="roundRect">
            <a:avLst>
              <a:gd name="adj" fmla="val 14516"/>
            </a:avLst>
          </a:prstGeom>
          <a:solidFill>
            <a:srgbClr val="102B23"/>
          </a:solidFill>
          <a:ln w="12700">
            <a:solidFill>
              <a:srgbClr val="17392E"/>
            </a:solidFill>
            <a:prstDash val="solid"/>
          </a:ln>
        </p:spPr>
      </p:sp>
      <p:sp>
        <p:nvSpPr>
          <p:cNvPr id="18" name="Text 15"/>
          <p:cNvSpPr/>
          <p:nvPr/>
        </p:nvSpPr>
        <p:spPr>
          <a:xfrm>
            <a:off x="5440680" y="4599432"/>
            <a:ext cx="1828800" cy="475488"/>
          </a:xfrm>
          <a:prstGeom prst="rect">
            <a:avLst/>
          </a:prstGeom>
          <a:noFill/>
          <a:ln/>
        </p:spPr>
        <p:txBody>
          <a:bodyPr wrap="square" lIns="0" tIns="0" rIns="0" bIns="0" rtlCol="0" anchor="ctr"/>
          <a:lstStyle/>
          <a:p>
            <a:pPr indent="0" marL="0">
              <a:buNone/>
            </a:pPr>
            <a:r>
              <a:rPr lang="en-US" sz="1300" b="1" dirty="0">
                <a:solidFill>
                  <a:srgbClr val="D4A937"/>
                </a:solidFill>
                <a:latin typeface="Calibri" pitchFamily="34" charset="0"/>
                <a:ea typeface="Calibri" pitchFamily="34" charset="-122"/>
                <a:cs typeface="Calibri" pitchFamily="34" charset="-120"/>
              </a:rPr>
              <a:t>Authorisation</a:t>
            </a:r>
            <a:endParaRPr lang="en-US" sz="1300" dirty="0"/>
          </a:p>
        </p:txBody>
      </p:sp>
      <p:sp>
        <p:nvSpPr>
          <p:cNvPr id="19" name="Text 16"/>
          <p:cNvSpPr/>
          <p:nvPr/>
        </p:nvSpPr>
        <p:spPr>
          <a:xfrm>
            <a:off x="7315200" y="4599432"/>
            <a:ext cx="4023360" cy="475488"/>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A second manager gets 404, and the record is unchanged</a:t>
            </a:r>
            <a:endParaRPr lang="en-US" sz="1200" dirty="0"/>
          </a:p>
        </p:txBody>
      </p:sp>
      <p:sp>
        <p:nvSpPr>
          <p:cNvPr id="20" name="Shape 17"/>
          <p:cNvSpPr/>
          <p:nvPr/>
        </p:nvSpPr>
        <p:spPr>
          <a:xfrm>
            <a:off x="5212080" y="5212080"/>
            <a:ext cx="6309360" cy="566928"/>
          </a:xfrm>
          <a:prstGeom prst="roundRect">
            <a:avLst>
              <a:gd name="adj" fmla="val 14516"/>
            </a:avLst>
          </a:prstGeom>
          <a:solidFill>
            <a:srgbClr val="102B23"/>
          </a:solidFill>
          <a:ln w="12700">
            <a:solidFill>
              <a:srgbClr val="17392E"/>
            </a:solidFill>
            <a:prstDash val="solid"/>
          </a:ln>
        </p:spPr>
      </p:sp>
      <p:sp>
        <p:nvSpPr>
          <p:cNvPr id="21" name="Text 18"/>
          <p:cNvSpPr/>
          <p:nvPr/>
        </p:nvSpPr>
        <p:spPr>
          <a:xfrm>
            <a:off x="5440680" y="5257800"/>
            <a:ext cx="1828800" cy="475488"/>
          </a:xfrm>
          <a:prstGeom prst="rect">
            <a:avLst/>
          </a:prstGeom>
          <a:noFill/>
          <a:ln/>
        </p:spPr>
        <p:txBody>
          <a:bodyPr wrap="square" lIns="0" tIns="0" rIns="0" bIns="0" rtlCol="0" anchor="ctr"/>
          <a:lstStyle/>
          <a:p>
            <a:pPr indent="0" marL="0">
              <a:buNone/>
            </a:pPr>
            <a:r>
              <a:rPr lang="en-US" sz="1300" b="1" dirty="0">
                <a:solidFill>
                  <a:srgbClr val="D4A937"/>
                </a:solidFill>
                <a:latin typeface="Calibri" pitchFamily="34" charset="0"/>
                <a:ea typeface="Calibri" pitchFamily="34" charset="-122"/>
                <a:cs typeface="Calibri" pitchFamily="34" charset="-120"/>
              </a:rPr>
              <a:t>Enumeration</a:t>
            </a:r>
            <a:endParaRPr lang="en-US" sz="1300" dirty="0"/>
          </a:p>
        </p:txBody>
      </p:sp>
      <p:sp>
        <p:nvSpPr>
          <p:cNvPr id="22" name="Text 19"/>
          <p:cNvSpPr/>
          <p:nvPr/>
        </p:nvSpPr>
        <p:spPr>
          <a:xfrm>
            <a:off x="7315200" y="5257800"/>
            <a:ext cx="4023360" cy="475488"/>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Wrong password and unknown email are identical</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800" b="1" dirty="0">
                <a:solidFill>
                  <a:srgbClr val="F5F0E6"/>
                </a:solidFill>
                <a:latin typeface="Cambria" pitchFamily="34" charset="0"/>
                <a:ea typeface="Cambria" pitchFamily="34" charset="-122"/>
                <a:cs typeface="Cambria" pitchFamily="34" charset="-120"/>
              </a:rPr>
              <a:t>What was actually hard</a:t>
            </a:r>
            <a:endParaRPr lang="en-US" sz="3800" dirty="0"/>
          </a:p>
        </p:txBody>
      </p:sp>
      <p:sp>
        <p:nvSpPr>
          <p:cNvPr id="3" name="Text 1"/>
          <p:cNvSpPr/>
          <p:nvPr/>
        </p:nvSpPr>
        <p:spPr>
          <a:xfrm>
            <a:off x="640080" y="1207008"/>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Correctness, not features</a:t>
            </a:r>
            <a:endParaRPr lang="en-US" sz="1400" dirty="0"/>
          </a:p>
        </p:txBody>
      </p:sp>
      <p:sp>
        <p:nvSpPr>
          <p:cNvPr id="4" name="Shape 2"/>
          <p:cNvSpPr/>
          <p:nvPr/>
        </p:nvSpPr>
        <p:spPr>
          <a:xfrm>
            <a:off x="640080" y="1828800"/>
            <a:ext cx="10881360" cy="960120"/>
          </a:xfrm>
          <a:prstGeom prst="roundRect">
            <a:avLst>
              <a:gd name="adj" fmla="val 8571"/>
            </a:avLst>
          </a:prstGeom>
          <a:solidFill>
            <a:srgbClr val="102B23"/>
          </a:solidFill>
          <a:ln w="12700">
            <a:solidFill>
              <a:srgbClr val="17392E"/>
            </a:solidFill>
            <a:prstDash val="solid"/>
          </a:ln>
        </p:spPr>
      </p:sp>
      <p:sp>
        <p:nvSpPr>
          <p:cNvPr id="5" name="Text 3"/>
          <p:cNvSpPr/>
          <p:nvPr/>
        </p:nvSpPr>
        <p:spPr>
          <a:xfrm>
            <a:off x="960120" y="1920240"/>
            <a:ext cx="10241280" cy="292608"/>
          </a:xfrm>
          <a:prstGeom prst="rect">
            <a:avLst/>
          </a:prstGeom>
          <a:noFill/>
          <a:ln/>
        </p:spPr>
        <p:txBody>
          <a:bodyPr wrap="square" lIns="0" tIns="0" rIns="0" bIns="0" rtlCol="0" anchor="ctr"/>
          <a:lstStyle/>
          <a:p>
            <a:pPr indent="0" marL="0">
              <a:buNone/>
            </a:pPr>
            <a:r>
              <a:rPr lang="en-US" sz="1500" b="1" dirty="0">
                <a:solidFill>
                  <a:srgbClr val="D4A937"/>
                </a:solidFill>
                <a:latin typeface="Calibri" pitchFamily="34" charset="0"/>
                <a:ea typeface="Calibri" pitchFamily="34" charset="-122"/>
                <a:cs typeface="Calibri" pitchFamily="34" charset="-120"/>
              </a:rPr>
              <a:t>The dashboard was a day out</a:t>
            </a:r>
            <a:endParaRPr lang="en-US" sz="1500" dirty="0"/>
          </a:p>
        </p:txBody>
      </p:sp>
      <p:sp>
        <p:nvSpPr>
          <p:cNvPr id="6" name="Text 4"/>
          <p:cNvSpPr/>
          <p:nvPr/>
        </p:nvSpPr>
        <p:spPr>
          <a:xfrm>
            <a:off x="960120" y="2231136"/>
            <a:ext cx="10241280" cy="50292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Deriving dates with toISOString converts local midnight to the previous day under British Summer Time. Every chart label was shifted. Found by noticing "today" and the last data point disagreed.</a:t>
            </a:r>
            <a:endParaRPr lang="en-US" sz="1250" dirty="0"/>
          </a:p>
        </p:txBody>
      </p:sp>
      <p:sp>
        <p:nvSpPr>
          <p:cNvPr id="7" name="Shape 5"/>
          <p:cNvSpPr/>
          <p:nvPr/>
        </p:nvSpPr>
        <p:spPr>
          <a:xfrm>
            <a:off x="640080" y="2907792"/>
            <a:ext cx="10881360" cy="960120"/>
          </a:xfrm>
          <a:prstGeom prst="roundRect">
            <a:avLst>
              <a:gd name="adj" fmla="val 8571"/>
            </a:avLst>
          </a:prstGeom>
          <a:solidFill>
            <a:srgbClr val="102B23"/>
          </a:solidFill>
          <a:ln w="12700">
            <a:solidFill>
              <a:srgbClr val="17392E"/>
            </a:solidFill>
            <a:prstDash val="solid"/>
          </a:ln>
        </p:spPr>
      </p:sp>
      <p:sp>
        <p:nvSpPr>
          <p:cNvPr id="8" name="Text 6"/>
          <p:cNvSpPr/>
          <p:nvPr/>
        </p:nvSpPr>
        <p:spPr>
          <a:xfrm>
            <a:off x="960120" y="2999232"/>
            <a:ext cx="10241280" cy="292608"/>
          </a:xfrm>
          <a:prstGeom prst="rect">
            <a:avLst/>
          </a:prstGeom>
          <a:noFill/>
          <a:ln/>
        </p:spPr>
        <p:txBody>
          <a:bodyPr wrap="square" lIns="0" tIns="0" rIns="0" bIns="0" rtlCol="0" anchor="ctr"/>
          <a:lstStyle/>
          <a:p>
            <a:pPr indent="0" marL="0">
              <a:buNone/>
            </a:pPr>
            <a:r>
              <a:rPr lang="en-US" sz="1500" b="1" dirty="0">
                <a:solidFill>
                  <a:srgbClr val="D4A937"/>
                </a:solidFill>
                <a:latin typeface="Calibri" pitchFamily="34" charset="0"/>
                <a:ea typeface="Calibri" pitchFamily="34" charset="-122"/>
                <a:cs typeface="Calibri" pitchFamily="34" charset="-120"/>
              </a:rPr>
              <a:t>The floor plan told a lie</a:t>
            </a:r>
            <a:endParaRPr lang="en-US" sz="1500" dirty="0"/>
          </a:p>
        </p:txBody>
      </p:sp>
      <p:sp>
        <p:nvSpPr>
          <p:cNvPr id="9" name="Text 7"/>
          <p:cNvSpPr/>
          <p:nvPr/>
        </p:nvSpPr>
        <p:spPr>
          <a:xfrm>
            <a:off x="960120" y="3310128"/>
            <a:ext cx="10241280" cy="50292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The client guessed which table you would get. The server allocated a different one. Fixed by having availability return the real allocation rather than inferring it.</a:t>
            </a:r>
            <a:endParaRPr lang="en-US" sz="1250" dirty="0"/>
          </a:p>
        </p:txBody>
      </p:sp>
      <p:sp>
        <p:nvSpPr>
          <p:cNvPr id="10" name="Shape 8"/>
          <p:cNvSpPr/>
          <p:nvPr/>
        </p:nvSpPr>
        <p:spPr>
          <a:xfrm>
            <a:off x="640080" y="3986784"/>
            <a:ext cx="10881360" cy="960120"/>
          </a:xfrm>
          <a:prstGeom prst="roundRect">
            <a:avLst>
              <a:gd name="adj" fmla="val 8571"/>
            </a:avLst>
          </a:prstGeom>
          <a:solidFill>
            <a:srgbClr val="102B23"/>
          </a:solidFill>
          <a:ln w="12700">
            <a:solidFill>
              <a:srgbClr val="17392E"/>
            </a:solidFill>
            <a:prstDash val="solid"/>
          </a:ln>
        </p:spPr>
      </p:sp>
      <p:sp>
        <p:nvSpPr>
          <p:cNvPr id="11" name="Text 9"/>
          <p:cNvSpPr/>
          <p:nvPr/>
        </p:nvSpPr>
        <p:spPr>
          <a:xfrm>
            <a:off x="960120" y="4078224"/>
            <a:ext cx="10241280" cy="292608"/>
          </a:xfrm>
          <a:prstGeom prst="rect">
            <a:avLst/>
          </a:prstGeom>
          <a:noFill/>
          <a:ln/>
        </p:spPr>
        <p:txBody>
          <a:bodyPr wrap="square" lIns="0" tIns="0" rIns="0" bIns="0" rtlCol="0" anchor="ctr"/>
          <a:lstStyle/>
          <a:p>
            <a:pPr indent="0" marL="0">
              <a:buNone/>
            </a:pPr>
            <a:r>
              <a:rPr lang="en-US" sz="1500" b="1" dirty="0">
                <a:solidFill>
                  <a:srgbClr val="D4A937"/>
                </a:solidFill>
                <a:latin typeface="Calibri" pitchFamily="34" charset="0"/>
                <a:ea typeface="Calibri" pitchFamily="34" charset="-122"/>
                <a:cs typeface="Calibri" pitchFamily="34" charset="-120"/>
              </a:rPr>
              <a:t>A blank 3D scene</a:t>
            </a:r>
            <a:endParaRPr lang="en-US" sz="1500" dirty="0"/>
          </a:p>
        </p:txBody>
      </p:sp>
      <p:sp>
        <p:nvSpPr>
          <p:cNvPr id="12" name="Text 10"/>
          <p:cNvSpPr/>
          <p:nvPr/>
        </p:nvSpPr>
        <p:spPr>
          <a:xfrm>
            <a:off x="960120" y="4389120"/>
            <a:ext cx="10241280" cy="50292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A full-screen film-grain overlay composited the WebGL canvas to black. Found by bisecting in the browser, not by reading the code.</a:t>
            </a:r>
            <a:endParaRPr lang="en-US" sz="1250" dirty="0"/>
          </a:p>
        </p:txBody>
      </p:sp>
      <p:sp>
        <p:nvSpPr>
          <p:cNvPr id="13" name="Shape 11"/>
          <p:cNvSpPr/>
          <p:nvPr/>
        </p:nvSpPr>
        <p:spPr>
          <a:xfrm>
            <a:off x="640080" y="5065776"/>
            <a:ext cx="10881360" cy="960120"/>
          </a:xfrm>
          <a:prstGeom prst="roundRect">
            <a:avLst>
              <a:gd name="adj" fmla="val 8571"/>
            </a:avLst>
          </a:prstGeom>
          <a:solidFill>
            <a:srgbClr val="102B23"/>
          </a:solidFill>
          <a:ln w="12700">
            <a:solidFill>
              <a:srgbClr val="17392E"/>
            </a:solidFill>
            <a:prstDash val="solid"/>
          </a:ln>
        </p:spPr>
      </p:sp>
      <p:sp>
        <p:nvSpPr>
          <p:cNvPr id="14" name="Text 12"/>
          <p:cNvSpPr/>
          <p:nvPr/>
        </p:nvSpPr>
        <p:spPr>
          <a:xfrm>
            <a:off x="960120" y="5157216"/>
            <a:ext cx="10241280" cy="292608"/>
          </a:xfrm>
          <a:prstGeom prst="rect">
            <a:avLst/>
          </a:prstGeom>
          <a:noFill/>
          <a:ln/>
        </p:spPr>
        <p:txBody>
          <a:bodyPr wrap="square" lIns="0" tIns="0" rIns="0" bIns="0" rtlCol="0" anchor="ctr"/>
          <a:lstStyle/>
          <a:p>
            <a:pPr indent="0" marL="0">
              <a:buNone/>
            </a:pPr>
            <a:r>
              <a:rPr lang="en-US" sz="1500" b="1" dirty="0">
                <a:solidFill>
                  <a:srgbClr val="D4A937"/>
                </a:solidFill>
                <a:latin typeface="Calibri" pitchFamily="34" charset="0"/>
                <a:ea typeface="Calibri" pitchFamily="34" charset="-122"/>
                <a:cs typeface="Calibri" pitchFamily="34" charset="-120"/>
              </a:rPr>
              <a:t>Content that depended on animation</a:t>
            </a:r>
            <a:endParaRPr lang="en-US" sz="1500" dirty="0"/>
          </a:p>
        </p:txBody>
      </p:sp>
      <p:sp>
        <p:nvSpPr>
          <p:cNvPr id="15" name="Text 13"/>
          <p:cNvSpPr/>
          <p:nvPr/>
        </p:nvSpPr>
        <p:spPr>
          <a:xfrm>
            <a:off x="960120" y="5468112"/>
            <a:ext cx="10241280" cy="50292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JS-driven fades left the page permanently invisible where the animation loop did not run. Moved to CSS — content is visible by default, motion is enhancement.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30907"/>
        </a:solidFill>
      </p:bgPr>
    </p:bg>
    <p:spTree>
      <p:nvGrpSpPr>
        <p:cNvPr id="1" name=""/>
        <p:cNvGrpSpPr/>
        <p:nvPr/>
      </p:nvGrpSpPr>
      <p:grpSpPr>
        <a:xfrm>
          <a:off x="0" y="0"/>
          <a:ext cx="0" cy="0"/>
          <a:chOff x="0" y="0"/>
          <a:chExt cx="0" cy="0"/>
        </a:xfrm>
      </p:grpSpPr>
      <p:sp>
        <p:nvSpPr>
          <p:cNvPr id="2" name="Text 0"/>
          <p:cNvSpPr/>
          <p:nvPr/>
        </p:nvSpPr>
        <p:spPr>
          <a:xfrm>
            <a:off x="640080" y="640080"/>
            <a:ext cx="10881360" cy="822960"/>
          </a:xfrm>
          <a:prstGeom prst="rect">
            <a:avLst/>
          </a:prstGeom>
          <a:noFill/>
          <a:ln/>
        </p:spPr>
        <p:txBody>
          <a:bodyPr wrap="square" lIns="0" tIns="0" rIns="0" bIns="0" rtlCol="0" anchor="ctr"/>
          <a:lstStyle/>
          <a:p>
            <a:pPr indent="0" marL="0">
              <a:buNone/>
            </a:pPr>
            <a:r>
              <a:rPr lang="en-US" sz="3800" b="1" dirty="0">
                <a:solidFill>
                  <a:srgbClr val="F5F0E6"/>
                </a:solidFill>
                <a:latin typeface="Cambria" pitchFamily="34" charset="0"/>
                <a:ea typeface="Cambria" pitchFamily="34" charset="-122"/>
                <a:cs typeface="Cambria" pitchFamily="34" charset="-120"/>
              </a:rPr>
              <a:t>What I would do next</a:t>
            </a:r>
            <a:endParaRPr lang="en-US" sz="3800" dirty="0"/>
          </a:p>
        </p:txBody>
      </p:sp>
      <p:sp>
        <p:nvSpPr>
          <p:cNvPr id="3" name="Shape 1"/>
          <p:cNvSpPr/>
          <p:nvPr/>
        </p:nvSpPr>
        <p:spPr>
          <a:xfrm>
            <a:off x="640080" y="1828800"/>
            <a:ext cx="5303520" cy="1371600"/>
          </a:xfrm>
          <a:prstGeom prst="roundRect">
            <a:avLst>
              <a:gd name="adj" fmla="val 6000"/>
            </a:avLst>
          </a:prstGeom>
          <a:solidFill>
            <a:srgbClr val="102B23"/>
          </a:solidFill>
          <a:ln w="12700">
            <a:solidFill>
              <a:srgbClr val="17392E"/>
            </a:solidFill>
            <a:prstDash val="solid"/>
          </a:ln>
        </p:spPr>
      </p:sp>
      <p:sp>
        <p:nvSpPr>
          <p:cNvPr id="4" name="Text 2"/>
          <p:cNvSpPr/>
          <p:nvPr/>
        </p:nvSpPr>
        <p:spPr>
          <a:xfrm>
            <a:off x="914400" y="1993392"/>
            <a:ext cx="4754880" cy="320040"/>
          </a:xfrm>
          <a:prstGeom prst="rect">
            <a:avLst/>
          </a:prstGeom>
          <a:noFill/>
          <a:ln/>
        </p:spPr>
        <p:txBody>
          <a:bodyPr wrap="square" lIns="0" tIns="0" rIns="0" bIns="0" rtlCol="0" anchor="ctr"/>
          <a:lstStyle/>
          <a:p>
            <a:pPr indent="0" marL="0">
              <a:buNone/>
            </a:pPr>
            <a:r>
              <a:rPr lang="en-US" sz="1800" b="1" dirty="0">
                <a:solidFill>
                  <a:srgbClr val="D4A937"/>
                </a:solidFill>
                <a:latin typeface="Cambria" pitchFamily="34" charset="0"/>
                <a:ea typeface="Cambria" pitchFamily="34" charset="-122"/>
                <a:cs typeface="Cambria" pitchFamily="34" charset="-120"/>
              </a:rPr>
              <a:t>Deployment</a:t>
            </a:r>
            <a:endParaRPr lang="en-US" sz="1800" dirty="0"/>
          </a:p>
        </p:txBody>
      </p:sp>
      <p:sp>
        <p:nvSpPr>
          <p:cNvPr id="5" name="Text 3"/>
          <p:cNvSpPr/>
          <p:nvPr/>
        </p:nvSpPr>
        <p:spPr>
          <a:xfrm>
            <a:off x="914400" y="2377440"/>
            <a:ext cx="4754880" cy="68580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PostgreSQL and a container. The schema moves unchanged; configuration is already environment-driven.</a:t>
            </a:r>
            <a:endParaRPr lang="en-US" sz="1250" dirty="0"/>
          </a:p>
        </p:txBody>
      </p:sp>
      <p:sp>
        <p:nvSpPr>
          <p:cNvPr id="6" name="Shape 4"/>
          <p:cNvSpPr/>
          <p:nvPr/>
        </p:nvSpPr>
        <p:spPr>
          <a:xfrm>
            <a:off x="6217920" y="1828800"/>
            <a:ext cx="5303520" cy="1371600"/>
          </a:xfrm>
          <a:prstGeom prst="roundRect">
            <a:avLst>
              <a:gd name="adj" fmla="val 6000"/>
            </a:avLst>
          </a:prstGeom>
          <a:solidFill>
            <a:srgbClr val="102B23"/>
          </a:solidFill>
          <a:ln w="12700">
            <a:solidFill>
              <a:srgbClr val="17392E"/>
            </a:solidFill>
            <a:prstDash val="solid"/>
          </a:ln>
        </p:spPr>
      </p:sp>
      <p:sp>
        <p:nvSpPr>
          <p:cNvPr id="7" name="Text 5"/>
          <p:cNvSpPr/>
          <p:nvPr/>
        </p:nvSpPr>
        <p:spPr>
          <a:xfrm>
            <a:off x="6492240" y="1993392"/>
            <a:ext cx="4754880" cy="320040"/>
          </a:xfrm>
          <a:prstGeom prst="rect">
            <a:avLst/>
          </a:prstGeom>
          <a:noFill/>
          <a:ln/>
        </p:spPr>
        <p:txBody>
          <a:bodyPr wrap="square" lIns="0" tIns="0" rIns="0" bIns="0" rtlCol="0" anchor="ctr"/>
          <a:lstStyle/>
          <a:p>
            <a:pPr indent="0" marL="0">
              <a:buNone/>
            </a:pPr>
            <a:r>
              <a:rPr lang="en-US" sz="1800" b="1" dirty="0">
                <a:solidFill>
                  <a:srgbClr val="D4A937"/>
                </a:solidFill>
                <a:latin typeface="Cambria" pitchFamily="34" charset="0"/>
                <a:ea typeface="Cambria" pitchFamily="34" charset="-122"/>
                <a:cs typeface="Cambria" pitchFamily="34" charset="-120"/>
              </a:rPr>
              <a:t>Payments and deposits</a:t>
            </a:r>
            <a:endParaRPr lang="en-US" sz="1800" dirty="0"/>
          </a:p>
        </p:txBody>
      </p:sp>
      <p:sp>
        <p:nvSpPr>
          <p:cNvPr id="8" name="Text 6"/>
          <p:cNvSpPr/>
          <p:nvPr/>
        </p:nvSpPr>
        <p:spPr>
          <a:xfrm>
            <a:off x="6492240" y="2377440"/>
            <a:ext cx="4754880" cy="68580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The single biggest lever on no-shows, which the dashboard already measures.</a:t>
            </a:r>
            <a:endParaRPr lang="en-US" sz="1250" dirty="0"/>
          </a:p>
        </p:txBody>
      </p:sp>
      <p:sp>
        <p:nvSpPr>
          <p:cNvPr id="9" name="Shape 7"/>
          <p:cNvSpPr/>
          <p:nvPr/>
        </p:nvSpPr>
        <p:spPr>
          <a:xfrm>
            <a:off x="640080" y="3383280"/>
            <a:ext cx="5303520" cy="1371600"/>
          </a:xfrm>
          <a:prstGeom prst="roundRect">
            <a:avLst>
              <a:gd name="adj" fmla="val 6000"/>
            </a:avLst>
          </a:prstGeom>
          <a:solidFill>
            <a:srgbClr val="102B23"/>
          </a:solidFill>
          <a:ln w="12700">
            <a:solidFill>
              <a:srgbClr val="17392E"/>
            </a:solidFill>
            <a:prstDash val="solid"/>
          </a:ln>
        </p:spPr>
      </p:sp>
      <p:sp>
        <p:nvSpPr>
          <p:cNvPr id="10" name="Text 8"/>
          <p:cNvSpPr/>
          <p:nvPr/>
        </p:nvSpPr>
        <p:spPr>
          <a:xfrm>
            <a:off x="914400" y="3547872"/>
            <a:ext cx="4754880" cy="320040"/>
          </a:xfrm>
          <a:prstGeom prst="rect">
            <a:avLst/>
          </a:prstGeom>
          <a:noFill/>
          <a:ln/>
        </p:spPr>
        <p:txBody>
          <a:bodyPr wrap="square" lIns="0" tIns="0" rIns="0" bIns="0" rtlCol="0" anchor="ctr"/>
          <a:lstStyle/>
          <a:p>
            <a:pPr indent="0" marL="0">
              <a:buNone/>
            </a:pPr>
            <a:r>
              <a:rPr lang="en-US" sz="1800" b="1" dirty="0">
                <a:solidFill>
                  <a:srgbClr val="D4A937"/>
                </a:solidFill>
                <a:latin typeface="Cambria" pitchFamily="34" charset="0"/>
                <a:ea typeface="Cambria" pitchFamily="34" charset="-122"/>
                <a:cs typeface="Cambria" pitchFamily="34" charset="-120"/>
              </a:rPr>
              <a:t>Notifications</a:t>
            </a:r>
            <a:endParaRPr lang="en-US" sz="1800" dirty="0"/>
          </a:p>
        </p:txBody>
      </p:sp>
      <p:sp>
        <p:nvSpPr>
          <p:cNvPr id="11" name="Text 9"/>
          <p:cNvSpPr/>
          <p:nvPr/>
        </p:nvSpPr>
        <p:spPr>
          <a:xfrm>
            <a:off x="914400" y="3931920"/>
            <a:ext cx="4754880" cy="68580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Confirmation and reminder email — the other half of the no-show problem.</a:t>
            </a:r>
            <a:endParaRPr lang="en-US" sz="1250" dirty="0"/>
          </a:p>
        </p:txBody>
      </p:sp>
      <p:sp>
        <p:nvSpPr>
          <p:cNvPr id="12" name="Shape 10"/>
          <p:cNvSpPr/>
          <p:nvPr/>
        </p:nvSpPr>
        <p:spPr>
          <a:xfrm>
            <a:off x="6217920" y="3383280"/>
            <a:ext cx="5303520" cy="1371600"/>
          </a:xfrm>
          <a:prstGeom prst="roundRect">
            <a:avLst>
              <a:gd name="adj" fmla="val 6000"/>
            </a:avLst>
          </a:prstGeom>
          <a:solidFill>
            <a:srgbClr val="102B23"/>
          </a:solidFill>
          <a:ln w="12700">
            <a:solidFill>
              <a:srgbClr val="17392E"/>
            </a:solidFill>
            <a:prstDash val="solid"/>
          </a:ln>
        </p:spPr>
      </p:sp>
      <p:sp>
        <p:nvSpPr>
          <p:cNvPr id="13" name="Text 11"/>
          <p:cNvSpPr/>
          <p:nvPr/>
        </p:nvSpPr>
        <p:spPr>
          <a:xfrm>
            <a:off x="6492240" y="3547872"/>
            <a:ext cx="4754880" cy="320040"/>
          </a:xfrm>
          <a:prstGeom prst="rect">
            <a:avLst/>
          </a:prstGeom>
          <a:noFill/>
          <a:ln/>
        </p:spPr>
        <p:txBody>
          <a:bodyPr wrap="square" lIns="0" tIns="0" rIns="0" bIns="0" rtlCol="0" anchor="ctr"/>
          <a:lstStyle/>
          <a:p>
            <a:pPr indent="0" marL="0">
              <a:buNone/>
            </a:pPr>
            <a:r>
              <a:rPr lang="en-US" sz="1800" b="1" dirty="0">
                <a:solidFill>
                  <a:srgbClr val="D4A937"/>
                </a:solidFill>
                <a:latin typeface="Cambria" pitchFamily="34" charset="0"/>
                <a:ea typeface="Cambria" pitchFamily="34" charset="-122"/>
                <a:cs typeface="Cambria" pitchFamily="34" charset="-120"/>
              </a:rPr>
              <a:t>Waitlists</a:t>
            </a:r>
            <a:endParaRPr lang="en-US" sz="1800" dirty="0"/>
          </a:p>
        </p:txBody>
      </p:sp>
      <p:sp>
        <p:nvSpPr>
          <p:cNvPr id="14" name="Text 12"/>
          <p:cNvSpPr/>
          <p:nvPr/>
        </p:nvSpPr>
        <p:spPr>
          <a:xfrm>
            <a:off x="6492240" y="3931920"/>
            <a:ext cx="4754880" cy="68580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When a slot is full, hold the diner rather than losing them to the 409.</a:t>
            </a:r>
            <a:endParaRPr lang="en-US" sz="1250" dirty="0"/>
          </a:p>
        </p:txBody>
      </p:sp>
      <p:sp>
        <p:nvSpPr>
          <p:cNvPr id="15" name="Shape 13"/>
          <p:cNvSpPr/>
          <p:nvPr/>
        </p:nvSpPr>
        <p:spPr>
          <a:xfrm>
            <a:off x="640080" y="5257800"/>
            <a:ext cx="2926080" cy="0"/>
          </a:xfrm>
          <a:prstGeom prst="line">
            <a:avLst/>
          </a:prstGeom>
          <a:noFill/>
          <a:ln w="25400">
            <a:solidFill>
              <a:srgbClr val="D4A937"/>
            </a:solidFill>
            <a:prstDash val="solid"/>
          </a:ln>
        </p:spPr>
      </p:sp>
      <p:sp>
        <p:nvSpPr>
          <p:cNvPr id="16" name="Text 14"/>
          <p:cNvSpPr/>
          <p:nvPr/>
        </p:nvSpPr>
        <p:spPr>
          <a:xfrm>
            <a:off x="640080" y="5486400"/>
            <a:ext cx="10881360" cy="548640"/>
          </a:xfrm>
          <a:prstGeom prst="rect">
            <a:avLst/>
          </a:prstGeom>
          <a:noFill/>
          <a:ln/>
        </p:spPr>
        <p:txBody>
          <a:bodyPr wrap="square" lIns="0" tIns="0" rIns="0" bIns="0" rtlCol="0" anchor="ctr"/>
          <a:lstStyle/>
          <a:p>
            <a:pPr indent="0" marL="0">
              <a:buNone/>
            </a:pPr>
            <a:r>
              <a:rPr lang="en-US" sz="2600" dirty="0">
                <a:solidFill>
                  <a:srgbClr val="D4A937"/>
                </a:solidFill>
                <a:latin typeface="Cambria" pitchFamily="34" charset="0"/>
                <a:ea typeface="Cambria" pitchFamily="34" charset="-122"/>
                <a:cs typeface="Cambria" pitchFamily="34" charset="-120"/>
              </a:rPr>
              <a:t>Thank you — questions welcome</a:t>
            </a:r>
            <a:endParaRPr lang="en-US" sz="2600" dirty="0"/>
          </a:p>
        </p:txBody>
      </p:sp>
      <p:sp>
        <p:nvSpPr>
          <p:cNvPr id="17" name="Text 15"/>
          <p:cNvSpPr/>
          <p:nvPr/>
        </p:nvSpPr>
        <p:spPr>
          <a:xfrm>
            <a:off x="640080" y="6080760"/>
            <a:ext cx="10881360" cy="365760"/>
          </a:xfrm>
          <a:prstGeom prst="rect">
            <a:avLst/>
          </a:prstGeom>
          <a:noFill/>
          <a:ln/>
        </p:spPr>
        <p:txBody>
          <a:bodyPr wrap="square" lIns="0" tIns="0" rIns="0" bIns="0" rtlCol="0" anchor="ctr"/>
          <a:lstStyle/>
          <a:p>
            <a:pPr indent="0" marL="0">
              <a:buNone/>
            </a:pPr>
            <a:r>
              <a:rPr lang="en-US" sz="1300" dirty="0">
                <a:solidFill>
                  <a:srgbClr val="97B0A2"/>
                </a:solidFill>
                <a:latin typeface="Courier New" pitchFamily="34" charset="0"/>
                <a:ea typeface="Courier New" pitchFamily="34" charset="-122"/>
                <a:cs typeface="Courier New" pitchFamily="34" charset="-120"/>
              </a:rPr>
              <a:t>github.com/&lt;your-username&gt;/mesa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Mesa — Full Stack Application Development</dc:title>
  <dc:subject>PptxGenJS Presentation</dc:subject>
  <dc:creator>Asan Limbu</dc:creator>
  <cp:lastModifiedBy>Asan Limbu</cp:lastModifiedBy>
  <cp:revision>1</cp:revision>
  <dcterms:created xsi:type="dcterms:W3CDTF">2026-08-06T19:38:00Z</dcterms:created>
  <dcterms:modified xsi:type="dcterms:W3CDTF">2026-08-06T19:38:00Z</dcterms:modified>
</cp:coreProperties>
</file>